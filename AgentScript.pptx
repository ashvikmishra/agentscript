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5" r:id="rId5"/>
    <p:sldId id="276"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76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a:solidFill>
                  <a:srgbClr val="1F233B"/>
                </a:solidFill>
              </a:rPr>
              <a:t>Tests per file (pytest --co)</a:t>
            </a:r>
          </a:p>
        </c:rich>
      </c:tx>
      <c:overlay val="0"/>
    </c:title>
    <c:autoTitleDeleted val="0"/>
    <c:plotArea>
      <c:layout/>
      <c:barChart>
        <c:barDir val="bar"/>
        <c:grouping val="clustered"/>
        <c:varyColors val="1"/>
        <c:ser>
          <c:idx val="0"/>
          <c:order val="0"/>
          <c:tx>
            <c:strRef>
              <c:f>Sheet1!$B$1</c:f>
              <c:strCache>
                <c:ptCount val="1"/>
                <c:pt idx="0">
                  <c:v>tests</c:v>
                </c:pt>
              </c:strCache>
            </c:strRef>
          </c:tx>
          <c:spPr>
            <a:solidFill>
              <a:srgbClr val="23284A"/>
            </a:solidFill>
          </c:spPr>
          <c:invertIfNegative val="1"/>
          <c:dLbls>
            <c:spPr>
              <a:noFill/>
              <a:ln>
                <a:noFill/>
              </a:ln>
              <a:effectLst/>
            </c:spPr>
            <c:txPr>
              <a:bodyPr/>
              <a:lstStyle/>
              <a:p>
                <a:pPr>
                  <a:defRPr sz="1000">
                    <a:solidFill>
                      <a:srgbClr val="5E648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parser</c:v>
                </c:pt>
                <c:pt idx="1">
                  <c:v>semantic</c:v>
                </c:pt>
                <c:pt idx="2">
                  <c:v>pipeline</c:v>
                </c:pt>
                <c:pt idx="3">
                  <c:v>vm</c:v>
                </c:pt>
                <c:pt idx="4">
                  <c:v>lexer</c:v>
                </c:pt>
                <c:pt idx="5">
                  <c:v>optimizer</c:v>
                </c:pt>
                <c:pt idx="6">
                  <c:v>codegen</c:v>
                </c:pt>
                <c:pt idx="7">
                  <c:v>irgen</c:v>
                </c:pt>
                <c:pt idx="8">
                  <c:v>approval</c:v>
                </c:pt>
                <c:pt idx="9">
                  <c:v>taint</c:v>
                </c:pt>
                <c:pt idx="10">
                  <c:v>cfg</c:v>
                </c:pt>
                <c:pt idx="11">
                  <c:v>scheduler</c:v>
                </c:pt>
                <c:pt idx="12">
                  <c:v>api</c:v>
                </c:pt>
                <c:pt idx="13">
                  <c:v>golden</c:v>
                </c:pt>
                <c:pt idx="14">
                  <c:v>cli</c:v>
                </c:pt>
                <c:pt idx="15">
                  <c:v>registry</c:v>
                </c:pt>
              </c:strCache>
            </c:strRef>
          </c:cat>
          <c:val>
            <c:numRef>
              <c:f>Sheet1!$B$2:$B$17</c:f>
              <c:numCache>
                <c:formatCode>General</c:formatCode>
                <c:ptCount val="16"/>
                <c:pt idx="0">
                  <c:v>107</c:v>
                </c:pt>
                <c:pt idx="1">
                  <c:v>105</c:v>
                </c:pt>
                <c:pt idx="2">
                  <c:v>105</c:v>
                </c:pt>
                <c:pt idx="3">
                  <c:v>97</c:v>
                </c:pt>
                <c:pt idx="4">
                  <c:v>74</c:v>
                </c:pt>
                <c:pt idx="5">
                  <c:v>61</c:v>
                </c:pt>
                <c:pt idx="6">
                  <c:v>55</c:v>
                </c:pt>
                <c:pt idx="7">
                  <c:v>48</c:v>
                </c:pt>
                <c:pt idx="8">
                  <c:v>44</c:v>
                </c:pt>
                <c:pt idx="9">
                  <c:v>43</c:v>
                </c:pt>
                <c:pt idx="10">
                  <c:v>43</c:v>
                </c:pt>
                <c:pt idx="11">
                  <c:v>41</c:v>
                </c:pt>
                <c:pt idx="12">
                  <c:v>39</c:v>
                </c:pt>
                <c:pt idx="13">
                  <c:v>37</c:v>
                </c:pt>
                <c:pt idx="14">
                  <c:v>27</c:v>
                </c:pt>
                <c:pt idx="15">
                  <c:v>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7F1-410D-95CB-B075A62548D3}"/>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5D8E3"/>
            </a:solidFill>
          </a:ln>
        </c:spPr>
        <c:txPr>
          <a:bodyPr/>
          <a:lstStyle/>
          <a:p>
            <a:pPr>
              <a:defRPr sz="1000">
                <a:solidFill>
                  <a:srgbClr val="5E6480"/>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284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AgentScript: a tiny language whose compiler refuses unsafe AI-agent programs before they run.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 frameworks check safety at runtime, if at all. Three failure modes matter most.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headline guarantees, plus permissions and budgets.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Literature review. Five bodies of prior work. LLM programming tools (DSPy, LMQL, Guidance, BAML) shape prompts and outputs but do not check how data flows between tools. Prompt injection is the attack (Greshake et al.) and CaMeL defends at run time. Taint analysis and information-flow control, control-flow analysis and dominators, and capability and effect systems are the established techniques AgentScript combines. Bracketed numbers match the reference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Positioning. Prompting tools do not check tool data flow, the injection papers describe the threat, CaMeL enforces policy when tools are called, and information-flow control and static taint analysis are established for general programs. AgentScript applies them at compile time to agent programs. The novelty is the combination, not any one technique.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PRD's example, line by line: permit list, budget, a task, search, sanitize, summarize, confirm, send.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Annotations are a fixed built-in table, not syntax. Each flag drives one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stages. Each hands a printable artifact (text + JSON) to the next; the editor shows every one. Safety analyses run before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 end, middle end, back end as Python modules; the editor and CLI drive the same pipeline.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Hand-written scanner, recursive descent parser with one function per rule, scoped symbol table and type checker.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Three-address code, split into basic blocks. The block after the confirm branch's true edge is the guard block.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feature 1. Remove sanitize and the search result flows through llm into send_email: rejected with the full path.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feature 2. Dominance by the confirm call is not enough because confirm can return false; the call must be dominated by the TRUE successor.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Runs only after every safety check passes. optimize_demo.as: 14 -&gt; 10 instructions, 4 -&gt; 2 tool calls.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Stack bytecode, a VM loop with runtime permission and budget guards, and a deterministic mock tool registry.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Stretch goal M7, built. Independent calls in one basic block run concurrently; barrier tools are never reordered.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static page, CodeMirror and Mermaid from a CDN, FastAPI backend. A Compile click runs every phase and fills every tab.</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phase owns a class of errors; each has its own failing demo program in examples/.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941 tests: unit tests per phase, golden tests for every example, negative tests for every error row, API and CLI tests.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Documented limitations instead of a soundness proof; each has a viva answer in docs/presentation/viva-notes.md.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order follows docs/presentation/demo-script.md.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1 to 10, in IEEE format. The numbers match the citations in the paper and on the literature review slides.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11 to 20, in IEEE format. Reference 20 (FastAPI) is cited in the paper's implementation section.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2E"/>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7315200" cy="276999"/>
          </a:xfrm>
          <a:prstGeom prst="rect">
            <a:avLst/>
          </a:prstGeom>
          <a:noFill/>
        </p:spPr>
        <p:txBody>
          <a:bodyPr wrap="square" lIns="0" tIns="0" rIns="0" bIns="0" anchor="t">
            <a:spAutoFit/>
          </a:bodyPr>
          <a:lstStyle/>
          <a:p>
            <a:r>
              <a:rPr lang="en-IN" b="1" dirty="0">
                <a:solidFill>
                  <a:schemeClr val="accent6"/>
                </a:solidFill>
                <a:latin typeface="Arial" panose="020B0604020202020204" pitchFamily="34" charset="0"/>
                <a:cs typeface="Arial" panose="020B0604020202020204" pitchFamily="34" charset="0"/>
              </a:rPr>
              <a:t>BCSE307P - Compiler Design Lab Project</a:t>
            </a:r>
            <a:endParaRPr sz="1400" b="1" i="0" dirty="0">
              <a:solidFill>
                <a:schemeClr val="accent6"/>
              </a:solidFill>
              <a:latin typeface="Arial" panose="020B0604020202020204" pitchFamily="34" charset="0"/>
              <a:cs typeface="Arial" panose="020B0604020202020204" pitchFamily="34" charset="0"/>
            </a:endParaRPr>
          </a:p>
        </p:txBody>
      </p:sp>
      <p:sp>
        <p:nvSpPr>
          <p:cNvPr id="3" name="TextBox 2"/>
          <p:cNvSpPr txBox="1"/>
          <p:nvPr/>
        </p:nvSpPr>
        <p:spPr>
          <a:xfrm>
            <a:off x="731520" y="1828800"/>
            <a:ext cx="7315200" cy="1097280"/>
          </a:xfrm>
          <a:prstGeom prst="rect">
            <a:avLst/>
          </a:prstGeom>
          <a:noFill/>
        </p:spPr>
        <p:txBody>
          <a:bodyPr wrap="square" lIns="0" tIns="0" rIns="0" bIns="0" anchor="t">
            <a:spAutoFit/>
          </a:bodyPr>
          <a:lstStyle/>
          <a:p>
            <a:pPr algn="l"/>
            <a:r>
              <a:rPr sz="6000" b="1" i="0">
                <a:solidFill>
                  <a:srgbClr val="FFFFFF"/>
                </a:solidFill>
                <a:latin typeface="Arial"/>
              </a:rPr>
              <a:t>AgentScript</a:t>
            </a:r>
          </a:p>
        </p:txBody>
      </p:sp>
      <p:sp>
        <p:nvSpPr>
          <p:cNvPr id="4" name="TextBox 3"/>
          <p:cNvSpPr txBox="1"/>
          <p:nvPr/>
        </p:nvSpPr>
        <p:spPr>
          <a:xfrm>
            <a:off x="731520" y="2971800"/>
            <a:ext cx="6035040" cy="914400"/>
          </a:xfrm>
          <a:prstGeom prst="rect">
            <a:avLst/>
          </a:prstGeom>
          <a:noFill/>
        </p:spPr>
        <p:txBody>
          <a:bodyPr wrap="square" lIns="0" tIns="0" rIns="0" bIns="0" anchor="t">
            <a:spAutoFit/>
          </a:bodyPr>
          <a:lstStyle/>
          <a:p>
            <a:pPr algn="l"/>
            <a:r>
              <a:rPr sz="2200" b="0" i="0">
                <a:solidFill>
                  <a:srgbClr val="C9CDE0"/>
                </a:solidFill>
                <a:latin typeface="Arial"/>
              </a:rPr>
              <a:t>A tiny language and compiler that rejects unsafe AI-agent programs before they run</a:t>
            </a:r>
          </a:p>
        </p:txBody>
      </p:sp>
      <p:sp>
        <p:nvSpPr>
          <p:cNvPr id="5" name="TextBox 4"/>
          <p:cNvSpPr txBox="1"/>
          <p:nvPr/>
        </p:nvSpPr>
        <p:spPr>
          <a:xfrm>
            <a:off x="731520" y="4251960"/>
            <a:ext cx="6400800" cy="548640"/>
          </a:xfrm>
          <a:prstGeom prst="rect">
            <a:avLst/>
          </a:prstGeom>
          <a:noFill/>
        </p:spPr>
        <p:txBody>
          <a:bodyPr wrap="square" lIns="0" tIns="0" rIns="0" bIns="0" anchor="t">
            <a:spAutoFit/>
          </a:bodyPr>
          <a:lstStyle/>
          <a:p>
            <a:pPr algn="l"/>
            <a:r>
              <a:rPr sz="1400" b="0" i="0" dirty="0">
                <a:solidFill>
                  <a:srgbClr val="9AA0C0"/>
                </a:solidFill>
                <a:latin typeface="Arial"/>
              </a:rPr>
              <a:t>Taint tracking  ·  Approval-path checking  ·  Call budgets  ·  10-stage pipeline  ·  Web editor</a:t>
            </a:r>
          </a:p>
        </p:txBody>
      </p:sp>
      <p:sp>
        <p:nvSpPr>
          <p:cNvPr id="6" name="Rounded Rectangle 5"/>
          <p:cNvSpPr/>
          <p:nvPr/>
        </p:nvSpPr>
        <p:spPr>
          <a:xfrm>
            <a:off x="8778240" y="914400"/>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Lexer</a:t>
            </a:r>
          </a:p>
        </p:txBody>
      </p:sp>
      <p:cxnSp>
        <p:nvCxnSpPr>
          <p:cNvPr id="7" name="Connector 6"/>
          <p:cNvCxnSpPr/>
          <p:nvPr/>
        </p:nvCxnSpPr>
        <p:spPr>
          <a:xfrm>
            <a:off x="10104120" y="1298448"/>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778240" y="1399032"/>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Parser</a:t>
            </a:r>
          </a:p>
        </p:txBody>
      </p:sp>
      <p:cxnSp>
        <p:nvCxnSpPr>
          <p:cNvPr id="9" name="Connector 8"/>
          <p:cNvCxnSpPr/>
          <p:nvPr/>
        </p:nvCxnSpPr>
        <p:spPr>
          <a:xfrm>
            <a:off x="10104120" y="1783080"/>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778240" y="1883664"/>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Semantic</a:t>
            </a:r>
          </a:p>
        </p:txBody>
      </p:sp>
      <p:cxnSp>
        <p:nvCxnSpPr>
          <p:cNvPr id="11" name="Connector 10"/>
          <p:cNvCxnSpPr/>
          <p:nvPr/>
        </p:nvCxnSpPr>
        <p:spPr>
          <a:xfrm>
            <a:off x="10104120" y="2267712"/>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78240" y="2368296"/>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IR + CFG</a:t>
            </a:r>
          </a:p>
        </p:txBody>
      </p:sp>
      <p:cxnSp>
        <p:nvCxnSpPr>
          <p:cNvPr id="13" name="Connector 12"/>
          <p:cNvCxnSpPr/>
          <p:nvPr/>
        </p:nvCxnSpPr>
        <p:spPr>
          <a:xfrm>
            <a:off x="10104120" y="2752344"/>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778240" y="2852928"/>
            <a:ext cx="2651760" cy="384048"/>
          </a:xfrm>
          <a:prstGeom prst="roundRect">
            <a:avLst>
              <a:gd name="adj" fmla="val 18000"/>
            </a:avLst>
          </a:prstGeom>
          <a:solidFill>
            <a:srgbClr val="F2A01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4172E"/>
                </a:solidFill>
                <a:latin typeface="Arial"/>
              </a:rPr>
              <a:t>Taint</a:t>
            </a:r>
          </a:p>
        </p:txBody>
      </p:sp>
      <p:cxnSp>
        <p:nvCxnSpPr>
          <p:cNvPr id="15" name="Connector 14"/>
          <p:cNvCxnSpPr/>
          <p:nvPr/>
        </p:nvCxnSpPr>
        <p:spPr>
          <a:xfrm>
            <a:off x="10104120" y="3236976"/>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778240" y="3337560"/>
            <a:ext cx="2651760" cy="384048"/>
          </a:xfrm>
          <a:prstGeom prst="roundRect">
            <a:avLst>
              <a:gd name="adj" fmla="val 18000"/>
            </a:avLst>
          </a:prstGeom>
          <a:solidFill>
            <a:srgbClr val="F2A01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4172E"/>
                </a:solidFill>
                <a:latin typeface="Arial"/>
              </a:rPr>
              <a:t>Approval</a:t>
            </a:r>
          </a:p>
        </p:txBody>
      </p:sp>
      <p:cxnSp>
        <p:nvCxnSpPr>
          <p:cNvPr id="17" name="Connector 16"/>
          <p:cNvCxnSpPr/>
          <p:nvPr/>
        </p:nvCxnSpPr>
        <p:spPr>
          <a:xfrm>
            <a:off x="10104120" y="3721608"/>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778240" y="3822191"/>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Optimizer</a:t>
            </a:r>
          </a:p>
        </p:txBody>
      </p:sp>
      <p:cxnSp>
        <p:nvCxnSpPr>
          <p:cNvPr id="19" name="Connector 18"/>
          <p:cNvCxnSpPr/>
          <p:nvPr/>
        </p:nvCxnSpPr>
        <p:spPr>
          <a:xfrm>
            <a:off x="10104120" y="4206240"/>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78240" y="4306824"/>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Scheduler</a:t>
            </a:r>
          </a:p>
        </p:txBody>
      </p:sp>
      <p:cxnSp>
        <p:nvCxnSpPr>
          <p:cNvPr id="21" name="Connector 20"/>
          <p:cNvCxnSpPr/>
          <p:nvPr/>
        </p:nvCxnSpPr>
        <p:spPr>
          <a:xfrm>
            <a:off x="10104120" y="4690872"/>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78240" y="4791456"/>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Codegen</a:t>
            </a:r>
          </a:p>
        </p:txBody>
      </p:sp>
      <p:cxnSp>
        <p:nvCxnSpPr>
          <p:cNvPr id="23" name="Connector 22"/>
          <p:cNvCxnSpPr/>
          <p:nvPr/>
        </p:nvCxnSpPr>
        <p:spPr>
          <a:xfrm>
            <a:off x="10104120" y="5175504"/>
            <a:ext cx="0" cy="100584"/>
          </a:xfrm>
          <a:prstGeom prst="line">
            <a:avLst/>
          </a:prstGeom>
          <a:ln w="15875">
            <a:solidFill>
              <a:srgbClr val="6B72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778240" y="5276088"/>
            <a:ext cx="2651760" cy="384048"/>
          </a:xfrm>
          <a:prstGeom prst="roundRect">
            <a:avLst>
              <a:gd name="adj" fmla="val 18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Arial"/>
              </a:rPr>
              <a:t>VM</a:t>
            </a:r>
          </a:p>
        </p:txBody>
      </p:sp>
      <p:sp>
        <p:nvSpPr>
          <p:cNvPr id="26" name="TextBox 25">
            <a:extLst>
              <a:ext uri="{FF2B5EF4-FFF2-40B4-BE49-F238E27FC236}">
                <a16:creationId xmlns:a16="http://schemas.microsoft.com/office/drawing/2014/main" id="{C842299F-21A9-55BA-7EC9-C21F22ECA62B}"/>
              </a:ext>
            </a:extLst>
          </p:cNvPr>
          <p:cNvSpPr txBox="1"/>
          <p:nvPr/>
        </p:nvSpPr>
        <p:spPr>
          <a:xfrm>
            <a:off x="621234" y="5398526"/>
            <a:ext cx="2236510" cy="523220"/>
          </a:xfrm>
          <a:prstGeom prst="rect">
            <a:avLst/>
          </a:prstGeom>
          <a:noFill/>
        </p:spPr>
        <p:txBody>
          <a:bodyPr wrap="none" rtlCol="0">
            <a:spAutoFit/>
          </a:bodyPr>
          <a:lstStyle/>
          <a:p>
            <a:r>
              <a:rPr lang="en-IN" sz="1400" dirty="0">
                <a:solidFill>
                  <a:schemeClr val="accent1">
                    <a:lumMod val="40000"/>
                    <a:lumOff val="60000"/>
                  </a:schemeClr>
                </a:solidFill>
                <a:latin typeface="Arial" panose="020B0604020202020204" pitchFamily="34" charset="0"/>
                <a:cs typeface="Arial" panose="020B0604020202020204" pitchFamily="34" charset="0"/>
              </a:rPr>
              <a:t>Ashwin Raj 23BKT0103</a:t>
            </a:r>
          </a:p>
          <a:p>
            <a:r>
              <a:rPr lang="en-IN" sz="1400" dirty="0">
                <a:solidFill>
                  <a:schemeClr val="accent1">
                    <a:lumMod val="40000"/>
                    <a:lumOff val="60000"/>
                  </a:schemeClr>
                </a:solidFill>
                <a:latin typeface="Arial" panose="020B0604020202020204" pitchFamily="34" charset="0"/>
                <a:cs typeface="Arial" panose="020B0604020202020204" pitchFamily="34" charset="0"/>
              </a:rPr>
              <a:t>Ashvik Mishra 24BAI0342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2</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THE PROBLEM</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Agents fail after the tool has already fired</a:t>
            </a:r>
          </a:p>
        </p:txBody>
      </p:sp>
      <p:sp>
        <p:nvSpPr>
          <p:cNvPr id="5" name="Rounded Rectangle 4"/>
          <p:cNvSpPr/>
          <p:nvPr/>
        </p:nvSpPr>
        <p:spPr>
          <a:xfrm>
            <a:off x="548640" y="1737360"/>
            <a:ext cx="3474720" cy="3291840"/>
          </a:xfrm>
          <a:prstGeom prst="roundRect">
            <a:avLst>
              <a:gd name="adj" fmla="val 3333"/>
            </a:avLst>
          </a:prstGeom>
          <a:solidFill>
            <a:srgbClr val="FB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68680" y="2011680"/>
            <a:ext cx="566928" cy="566928"/>
          </a:xfrm>
          <a:prstGeom prst="ellipse">
            <a:avLst/>
          </a:prstGeom>
          <a:solidFill>
            <a:srgbClr val="D63E4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Arial"/>
              </a:rPr>
              <a:t>!</a:t>
            </a:r>
          </a:p>
        </p:txBody>
      </p:sp>
      <p:sp>
        <p:nvSpPr>
          <p:cNvPr id="7" name="TextBox 6"/>
          <p:cNvSpPr txBox="1"/>
          <p:nvPr/>
        </p:nvSpPr>
        <p:spPr>
          <a:xfrm>
            <a:off x="868680" y="2788920"/>
            <a:ext cx="2926080" cy="457200"/>
          </a:xfrm>
          <a:prstGeom prst="rect">
            <a:avLst/>
          </a:prstGeom>
          <a:noFill/>
        </p:spPr>
        <p:txBody>
          <a:bodyPr wrap="square" lIns="0" tIns="0" rIns="0" bIns="0" anchor="t">
            <a:spAutoFit/>
          </a:bodyPr>
          <a:lstStyle/>
          <a:p>
            <a:pPr algn="l"/>
            <a:r>
              <a:rPr sz="2000" b="1" i="0">
                <a:solidFill>
                  <a:srgbClr val="1F233B"/>
                </a:solidFill>
                <a:latin typeface="Arial"/>
              </a:rPr>
              <a:t>Prompt injection</a:t>
            </a:r>
          </a:p>
        </p:txBody>
      </p:sp>
      <p:sp>
        <p:nvSpPr>
          <p:cNvPr id="8" name="TextBox 7"/>
          <p:cNvSpPr txBox="1"/>
          <p:nvPr/>
        </p:nvSpPr>
        <p:spPr>
          <a:xfrm>
            <a:off x="868680" y="3291840"/>
            <a:ext cx="2880360" cy="1554480"/>
          </a:xfrm>
          <a:prstGeom prst="rect">
            <a:avLst/>
          </a:prstGeom>
          <a:noFill/>
        </p:spPr>
        <p:txBody>
          <a:bodyPr wrap="square" lIns="0" tIns="0" rIns="0" bIns="0" anchor="t">
            <a:spAutoFit/>
          </a:bodyPr>
          <a:lstStyle/>
          <a:p>
            <a:pPr algn="l"/>
            <a:r>
              <a:rPr sz="1500" b="0" i="0">
                <a:solidFill>
                  <a:srgbClr val="5E6480"/>
                </a:solidFill>
                <a:latin typeface="Arial"/>
              </a:rPr>
              <a:t>Text fetched from the web or a file carries instructions, and the agent pipes it into send_email or run_shell.</a:t>
            </a:r>
          </a:p>
        </p:txBody>
      </p:sp>
      <p:sp>
        <p:nvSpPr>
          <p:cNvPr id="9" name="Rounded Rectangle 8"/>
          <p:cNvSpPr/>
          <p:nvPr/>
        </p:nvSpPr>
        <p:spPr>
          <a:xfrm>
            <a:off x="4297679" y="1737360"/>
            <a:ext cx="3474720" cy="3291840"/>
          </a:xfrm>
          <a:prstGeom prst="roundRect">
            <a:avLst>
              <a:gd name="adj" fmla="val 3333"/>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617719" y="2011680"/>
            <a:ext cx="566928" cy="566928"/>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Arial"/>
              </a:rPr>
              <a:t>X</a:t>
            </a:r>
          </a:p>
        </p:txBody>
      </p:sp>
      <p:sp>
        <p:nvSpPr>
          <p:cNvPr id="11" name="TextBox 10"/>
          <p:cNvSpPr txBox="1"/>
          <p:nvPr/>
        </p:nvSpPr>
        <p:spPr>
          <a:xfrm>
            <a:off x="4617719" y="2788920"/>
            <a:ext cx="2926080" cy="457200"/>
          </a:xfrm>
          <a:prstGeom prst="rect">
            <a:avLst/>
          </a:prstGeom>
          <a:noFill/>
        </p:spPr>
        <p:txBody>
          <a:bodyPr wrap="square" lIns="0" tIns="0" rIns="0" bIns="0" anchor="t">
            <a:spAutoFit/>
          </a:bodyPr>
          <a:lstStyle/>
          <a:p>
            <a:pPr algn="l"/>
            <a:r>
              <a:rPr sz="2000" b="1" i="0">
                <a:solidFill>
                  <a:srgbClr val="1F233B"/>
                </a:solidFill>
                <a:latin typeface="Arial"/>
              </a:rPr>
              <a:t>Irreversible actions</a:t>
            </a:r>
          </a:p>
        </p:txBody>
      </p:sp>
      <p:sp>
        <p:nvSpPr>
          <p:cNvPr id="12" name="TextBox 11"/>
          <p:cNvSpPr txBox="1"/>
          <p:nvPr/>
        </p:nvSpPr>
        <p:spPr>
          <a:xfrm>
            <a:off x="4617719" y="3291840"/>
            <a:ext cx="2880360" cy="1554480"/>
          </a:xfrm>
          <a:prstGeom prst="rect">
            <a:avLst/>
          </a:prstGeom>
          <a:noFill/>
        </p:spPr>
        <p:txBody>
          <a:bodyPr wrap="square" lIns="0" tIns="0" rIns="0" bIns="0" anchor="t">
            <a:spAutoFit/>
          </a:bodyPr>
          <a:lstStyle/>
          <a:p>
            <a:pPr algn="l"/>
            <a:r>
              <a:rPr sz="1500" b="0" i="0">
                <a:solidFill>
                  <a:srgbClr val="5E6480"/>
                </a:solidFill>
                <a:latin typeface="Arial"/>
              </a:rPr>
              <a:t>The agent deletes a file without asking a human first. There is no undo.</a:t>
            </a:r>
          </a:p>
        </p:txBody>
      </p:sp>
      <p:sp>
        <p:nvSpPr>
          <p:cNvPr id="13" name="Rounded Rectangle 12"/>
          <p:cNvSpPr/>
          <p:nvPr/>
        </p:nvSpPr>
        <p:spPr>
          <a:xfrm>
            <a:off x="8046719" y="1737360"/>
            <a:ext cx="3474720" cy="3291840"/>
          </a:xfrm>
          <a:prstGeom prst="roundRect">
            <a:avLst>
              <a:gd name="adj" fmla="val 3333"/>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366759" y="2011680"/>
            <a:ext cx="566928" cy="566928"/>
          </a:xfrm>
          <a:prstGeom prst="ellipse">
            <a:avLst/>
          </a:prstGeom>
          <a:solidFill>
            <a:srgbClr val="23284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Arial"/>
              </a:rPr>
              <a:t>∞</a:t>
            </a:r>
          </a:p>
        </p:txBody>
      </p:sp>
      <p:sp>
        <p:nvSpPr>
          <p:cNvPr id="15" name="TextBox 14"/>
          <p:cNvSpPr txBox="1"/>
          <p:nvPr/>
        </p:nvSpPr>
        <p:spPr>
          <a:xfrm>
            <a:off x="8366759" y="2788920"/>
            <a:ext cx="2926080" cy="457200"/>
          </a:xfrm>
          <a:prstGeom prst="rect">
            <a:avLst/>
          </a:prstGeom>
          <a:noFill/>
        </p:spPr>
        <p:txBody>
          <a:bodyPr wrap="square" lIns="0" tIns="0" rIns="0" bIns="0" anchor="t">
            <a:spAutoFit/>
          </a:bodyPr>
          <a:lstStyle/>
          <a:p>
            <a:pPr algn="l"/>
            <a:r>
              <a:rPr sz="2000" b="1" i="0">
                <a:solidFill>
                  <a:srgbClr val="1F233B"/>
                </a:solidFill>
                <a:latin typeface="Arial"/>
              </a:rPr>
              <a:t>Unbounded tool use</a:t>
            </a:r>
          </a:p>
        </p:txBody>
      </p:sp>
      <p:sp>
        <p:nvSpPr>
          <p:cNvPr id="16" name="TextBox 15"/>
          <p:cNvSpPr txBox="1"/>
          <p:nvPr/>
        </p:nvSpPr>
        <p:spPr>
          <a:xfrm>
            <a:off x="8366759" y="3291840"/>
            <a:ext cx="2880360" cy="1554480"/>
          </a:xfrm>
          <a:prstGeom prst="rect">
            <a:avLst/>
          </a:prstGeom>
          <a:noFill/>
        </p:spPr>
        <p:txBody>
          <a:bodyPr wrap="square" lIns="0" tIns="0" rIns="0" bIns="0" anchor="t">
            <a:spAutoFit/>
          </a:bodyPr>
          <a:lstStyle/>
          <a:p>
            <a:pPr algn="l"/>
            <a:r>
              <a:rPr sz="1500" b="0" i="0">
                <a:solidFill>
                  <a:srgbClr val="5E6480"/>
                </a:solidFill>
                <a:latin typeface="Arial"/>
              </a:rPr>
              <a:t>The agent loops or repeats identical calls, wasting money and hitting rate limits.</a:t>
            </a:r>
          </a:p>
        </p:txBody>
      </p:sp>
      <p:sp>
        <p:nvSpPr>
          <p:cNvPr id="17" name="TextBox 16"/>
          <p:cNvSpPr txBox="1"/>
          <p:nvPr/>
        </p:nvSpPr>
        <p:spPr>
          <a:xfrm>
            <a:off x="548640" y="5349240"/>
            <a:ext cx="11064240" cy="731520"/>
          </a:xfrm>
          <a:prstGeom prst="rect">
            <a:avLst/>
          </a:prstGeom>
          <a:noFill/>
        </p:spPr>
        <p:txBody>
          <a:bodyPr wrap="square" lIns="0" tIns="0" rIns="0" bIns="0" anchor="t">
            <a:spAutoFit/>
          </a:bodyPr>
          <a:lstStyle/>
          <a:p>
            <a:pPr algn="l"/>
            <a:r>
              <a:rPr sz="1600" b="1" i="0">
                <a:solidFill>
                  <a:srgbClr val="1F233B"/>
                </a:solidFill>
                <a:latin typeface="Arial"/>
              </a:rPr>
              <a:t>Idea: </a:t>
            </a:r>
            <a:r>
              <a:rPr sz="1600" b="0" i="0">
                <a:solidFill>
                  <a:srgbClr val="1F233B"/>
                </a:solidFill>
                <a:latin typeface="Arial"/>
              </a:rPr>
              <a:t>a compiler can catch the first two with data-flow and control-flow analysis, and limit the third with permits, budgets and duplicate-call elimination, before anything runs.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3</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WHAT THE COMPILER PROVES</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Two guarantees, proven at compile time</a:t>
            </a:r>
          </a:p>
        </p:txBody>
      </p:sp>
      <p:sp>
        <p:nvSpPr>
          <p:cNvPr id="5" name="Rounded Rectangle 4"/>
          <p:cNvSpPr/>
          <p:nvPr/>
        </p:nvSpPr>
        <p:spPr>
          <a:xfrm>
            <a:off x="548640" y="1691640"/>
            <a:ext cx="5394960" cy="2651760"/>
          </a:xfrm>
          <a:prstGeom prst="roundRect">
            <a:avLst>
              <a:gd name="adj" fmla="val 4137"/>
            </a:avLst>
          </a:prstGeom>
          <a:solidFill>
            <a:srgbClr val="DF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68680" y="1965960"/>
            <a:ext cx="566928" cy="566928"/>
          </a:xfrm>
          <a:prstGeom prst="ellipse">
            <a:avLst/>
          </a:prstGeom>
          <a:solidFill>
            <a:srgbClr val="1F9D6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7" name="TextBox 6"/>
          <p:cNvSpPr txBox="1"/>
          <p:nvPr/>
        </p:nvSpPr>
        <p:spPr>
          <a:xfrm>
            <a:off x="1600200" y="2029968"/>
            <a:ext cx="4114800" cy="457200"/>
          </a:xfrm>
          <a:prstGeom prst="rect">
            <a:avLst/>
          </a:prstGeom>
          <a:noFill/>
        </p:spPr>
        <p:txBody>
          <a:bodyPr wrap="square" lIns="0" tIns="0" rIns="0" bIns="0" anchor="t">
            <a:spAutoFit/>
          </a:bodyPr>
          <a:lstStyle/>
          <a:p>
            <a:pPr algn="l"/>
            <a:r>
              <a:rPr sz="2000" b="1" i="0">
                <a:solidFill>
                  <a:srgbClr val="1F233B"/>
                </a:solidFill>
                <a:latin typeface="Arial"/>
              </a:rPr>
              <a:t>No unsanitized injection</a:t>
            </a:r>
          </a:p>
        </p:txBody>
      </p:sp>
      <p:sp>
        <p:nvSpPr>
          <p:cNvPr id="8" name="TextBox 7"/>
          <p:cNvSpPr txBox="1"/>
          <p:nvPr/>
        </p:nvSpPr>
        <p:spPr>
          <a:xfrm>
            <a:off x="868680" y="2697480"/>
            <a:ext cx="4754880" cy="1005840"/>
          </a:xfrm>
          <a:prstGeom prst="rect">
            <a:avLst/>
          </a:prstGeom>
          <a:noFill/>
        </p:spPr>
        <p:txBody>
          <a:bodyPr wrap="square" lIns="0" tIns="0" rIns="0" bIns="0" anchor="t">
            <a:spAutoFit/>
          </a:bodyPr>
          <a:lstStyle/>
          <a:p>
            <a:pPr algn="l"/>
            <a:r>
              <a:rPr sz="1500" b="0" i="0">
                <a:solidFill>
                  <a:srgbClr val="1F233B"/>
                </a:solidFill>
                <a:latin typeface="Arial"/>
              </a:rPr>
              <a:t>Untrusted data (web_search, read_file) never reaches a privileged tool (send_email, delete_file) unless it passes through sanitize.</a:t>
            </a:r>
          </a:p>
        </p:txBody>
      </p:sp>
      <p:sp>
        <p:nvSpPr>
          <p:cNvPr id="9" name="TextBox 8"/>
          <p:cNvSpPr txBox="1"/>
          <p:nvPr/>
        </p:nvSpPr>
        <p:spPr>
          <a:xfrm>
            <a:off x="868680" y="3794760"/>
            <a:ext cx="4846320" cy="365760"/>
          </a:xfrm>
          <a:prstGeom prst="rect">
            <a:avLst/>
          </a:prstGeom>
          <a:noFill/>
        </p:spPr>
        <p:txBody>
          <a:bodyPr wrap="square" lIns="0" tIns="0" rIns="0" bIns="0" anchor="t">
            <a:spAutoFit/>
          </a:bodyPr>
          <a:lstStyle/>
          <a:p>
            <a:pPr algn="l"/>
            <a:r>
              <a:rPr sz="1300" b="1" i="0">
                <a:solidFill>
                  <a:srgbClr val="1F9D6B"/>
                </a:solidFill>
                <a:latin typeface="Arial"/>
              </a:rPr>
              <a:t>E401 · forward data-flow taint analysis on the CFG</a:t>
            </a:r>
          </a:p>
        </p:txBody>
      </p:sp>
      <p:sp>
        <p:nvSpPr>
          <p:cNvPr id="10" name="Rounded Rectangle 9"/>
          <p:cNvSpPr/>
          <p:nvPr/>
        </p:nvSpPr>
        <p:spPr>
          <a:xfrm>
            <a:off x="6172200" y="1691640"/>
            <a:ext cx="5394960" cy="2651760"/>
          </a:xfrm>
          <a:prstGeom prst="roundRect">
            <a:avLst>
              <a:gd name="adj" fmla="val 4137"/>
            </a:avLst>
          </a:prstGeom>
          <a:solidFill>
            <a:srgbClr val="DF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492240" y="1965960"/>
            <a:ext cx="566928" cy="566928"/>
          </a:xfrm>
          <a:prstGeom prst="ellipse">
            <a:avLst/>
          </a:prstGeom>
          <a:solidFill>
            <a:srgbClr val="1F9D6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2" name="TextBox 11"/>
          <p:cNvSpPr txBox="1"/>
          <p:nvPr/>
        </p:nvSpPr>
        <p:spPr>
          <a:xfrm>
            <a:off x="7223760" y="2029968"/>
            <a:ext cx="4114800" cy="457200"/>
          </a:xfrm>
          <a:prstGeom prst="rect">
            <a:avLst/>
          </a:prstGeom>
          <a:noFill/>
        </p:spPr>
        <p:txBody>
          <a:bodyPr wrap="square" lIns="0" tIns="0" rIns="0" bIns="0" anchor="t">
            <a:spAutoFit/>
          </a:bodyPr>
          <a:lstStyle/>
          <a:p>
            <a:pPr algn="l"/>
            <a:r>
              <a:rPr sz="2000" b="1" i="0">
                <a:solidFill>
                  <a:srgbClr val="1F233B"/>
                </a:solidFill>
                <a:latin typeface="Arial"/>
              </a:rPr>
              <a:t>No unapproved irreversible action</a:t>
            </a:r>
          </a:p>
        </p:txBody>
      </p:sp>
      <p:sp>
        <p:nvSpPr>
          <p:cNvPr id="13" name="TextBox 12"/>
          <p:cNvSpPr txBox="1"/>
          <p:nvPr/>
        </p:nvSpPr>
        <p:spPr>
          <a:xfrm>
            <a:off x="6492240" y="2697480"/>
            <a:ext cx="4754880" cy="1005840"/>
          </a:xfrm>
          <a:prstGeom prst="rect">
            <a:avLst/>
          </a:prstGeom>
          <a:noFill/>
        </p:spPr>
        <p:txBody>
          <a:bodyPr wrap="square" lIns="0" tIns="0" rIns="0" bIns="0" anchor="t">
            <a:spAutoFit/>
          </a:bodyPr>
          <a:lstStyle/>
          <a:p>
            <a:pPr algn="l"/>
            <a:r>
              <a:rPr sz="1500" b="0" i="0">
                <a:solidFill>
                  <a:srgbClr val="1F233B"/>
                </a:solidFill>
                <a:latin typeface="Arial"/>
              </a:rPr>
              <a:t>Every delete_file call is dominated by the true branch of a confirm(...) result.</a:t>
            </a:r>
          </a:p>
        </p:txBody>
      </p:sp>
      <p:sp>
        <p:nvSpPr>
          <p:cNvPr id="14" name="TextBox 13"/>
          <p:cNvSpPr txBox="1"/>
          <p:nvPr/>
        </p:nvSpPr>
        <p:spPr>
          <a:xfrm>
            <a:off x="6492240" y="3794760"/>
            <a:ext cx="4846320" cy="365760"/>
          </a:xfrm>
          <a:prstGeom prst="rect">
            <a:avLst/>
          </a:prstGeom>
          <a:noFill/>
        </p:spPr>
        <p:txBody>
          <a:bodyPr wrap="square" lIns="0" tIns="0" rIns="0" bIns="0" anchor="t">
            <a:spAutoFit/>
          </a:bodyPr>
          <a:lstStyle/>
          <a:p>
            <a:pPr algn="l"/>
            <a:r>
              <a:rPr sz="1300" b="1" i="0">
                <a:solidFill>
                  <a:srgbClr val="1F9D6B"/>
                </a:solidFill>
                <a:latin typeface="Arial"/>
              </a:rPr>
              <a:t>E501 / E502 · dominator analysis on the CFG</a:t>
            </a:r>
          </a:p>
        </p:txBody>
      </p:sp>
      <p:sp>
        <p:nvSpPr>
          <p:cNvPr id="15" name="Rounded Rectangle 14"/>
          <p:cNvSpPr/>
          <p:nvPr/>
        </p:nvSpPr>
        <p:spPr>
          <a:xfrm>
            <a:off x="548640"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59"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permit</a:t>
            </a:r>
          </a:p>
        </p:txBody>
      </p:sp>
      <p:sp>
        <p:nvSpPr>
          <p:cNvPr id="17" name="TextBox 16"/>
          <p:cNvSpPr txBox="1"/>
          <p:nvPr/>
        </p:nvSpPr>
        <p:spPr>
          <a:xfrm>
            <a:off x="822959"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Calling a tool outside the permit list is E305</a:t>
            </a:r>
          </a:p>
        </p:txBody>
      </p:sp>
      <p:sp>
        <p:nvSpPr>
          <p:cNvPr id="18" name="Rounded Rectangle 17"/>
          <p:cNvSpPr/>
          <p:nvPr/>
        </p:nvSpPr>
        <p:spPr>
          <a:xfrm>
            <a:off x="4297679"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571999"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budget</a:t>
            </a:r>
          </a:p>
        </p:txBody>
      </p:sp>
      <p:sp>
        <p:nvSpPr>
          <p:cNvPr id="20" name="TextBox 19"/>
          <p:cNvSpPr txBox="1"/>
          <p:nvPr/>
        </p:nvSpPr>
        <p:spPr>
          <a:xfrm>
            <a:off x="4571999"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Worst-path call count above the budget is E306; the VM re-checks at runtime (E601)</a:t>
            </a:r>
          </a:p>
        </p:txBody>
      </p:sp>
      <p:sp>
        <p:nvSpPr>
          <p:cNvPr id="21" name="Rounded Rectangle 20"/>
          <p:cNvSpPr/>
          <p:nvPr/>
        </p:nvSpPr>
        <p:spPr>
          <a:xfrm>
            <a:off x="8046719"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321040"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types</a:t>
            </a:r>
          </a:p>
        </p:txBody>
      </p:sp>
      <p:sp>
        <p:nvSpPr>
          <p:cNvPr id="23" name="TextBox 22"/>
          <p:cNvSpPr txBox="1"/>
          <p:nvPr/>
        </p:nvSpPr>
        <p:spPr>
          <a:xfrm>
            <a:off x="8321040"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Scoped symbol table and type checker (E301 to E304)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4</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LITERATURE REVIEW</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What AgentScript builds on</a:t>
            </a:r>
          </a:p>
        </p:txBody>
      </p:sp>
      <p:sp>
        <p:nvSpPr>
          <p:cNvPr id="5" name="Rounded Rectangle 4"/>
          <p:cNvSpPr/>
          <p:nvPr/>
        </p:nvSpPr>
        <p:spPr>
          <a:xfrm>
            <a:off x="548640" y="1691640"/>
            <a:ext cx="5394960" cy="2651760"/>
          </a:xfrm>
          <a:prstGeom prst="roundRect">
            <a:avLst>
              <a:gd name="adj" fmla="val 4137"/>
            </a:avLst>
          </a:prstGeom>
          <a:solidFill>
            <a:srgbClr val="DF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68680" y="1965960"/>
            <a:ext cx="566928" cy="566928"/>
          </a:xfrm>
          <a:prstGeom prst="ellipse">
            <a:avLst/>
          </a:prstGeom>
          <a:solidFill>
            <a:srgbClr val="1F9D6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7" name="TextBox 6"/>
          <p:cNvSpPr txBox="1"/>
          <p:nvPr/>
        </p:nvSpPr>
        <p:spPr>
          <a:xfrm>
            <a:off x="1600200" y="2029968"/>
            <a:ext cx="4114800" cy="457200"/>
          </a:xfrm>
          <a:prstGeom prst="rect">
            <a:avLst/>
          </a:prstGeom>
          <a:noFill/>
        </p:spPr>
        <p:txBody>
          <a:bodyPr wrap="square" lIns="0" tIns="0" rIns="0" bIns="0" anchor="t">
            <a:spAutoFit/>
          </a:bodyPr>
          <a:lstStyle/>
          <a:p>
            <a:pPr algn="l"/>
            <a:r>
              <a:rPr sz="2000" b="1" i="0">
                <a:solidFill>
                  <a:srgbClr val="1F233B"/>
                </a:solidFill>
                <a:latin typeface="Arial"/>
              </a:rPr>
              <a:t>LLM programming tools</a:t>
            </a:r>
          </a:p>
        </p:txBody>
      </p:sp>
      <p:sp>
        <p:nvSpPr>
          <p:cNvPr id="8" name="TextBox 7"/>
          <p:cNvSpPr txBox="1"/>
          <p:nvPr/>
        </p:nvSpPr>
        <p:spPr>
          <a:xfrm>
            <a:off x="868680" y="2697480"/>
            <a:ext cx="4754880" cy="1005840"/>
          </a:xfrm>
          <a:prstGeom prst="rect">
            <a:avLst/>
          </a:prstGeom>
          <a:noFill/>
        </p:spPr>
        <p:txBody>
          <a:bodyPr wrap="square" lIns="0" tIns="0" rIns="0" bIns="0" anchor="t">
            <a:spAutoFit/>
          </a:bodyPr>
          <a:lstStyle/>
          <a:p>
            <a:pPr algn="l"/>
            <a:r>
              <a:rPr sz="1500" b="0" i="0">
                <a:solidFill>
                  <a:srgbClr val="1F233B"/>
                </a:solidFill>
                <a:latin typeface="Arial"/>
              </a:rPr>
              <a:t>DSPy, LMQL, Guidance and BAML [4]–[7] shape prompts and outputs. None checks data flow between tools.</a:t>
            </a:r>
          </a:p>
        </p:txBody>
      </p:sp>
      <p:sp>
        <p:nvSpPr>
          <p:cNvPr id="9" name="TextBox 8"/>
          <p:cNvSpPr txBox="1"/>
          <p:nvPr/>
        </p:nvSpPr>
        <p:spPr>
          <a:xfrm>
            <a:off x="868680" y="3794760"/>
            <a:ext cx="4846320" cy="365760"/>
          </a:xfrm>
          <a:prstGeom prst="rect">
            <a:avLst/>
          </a:prstGeom>
          <a:noFill/>
        </p:spPr>
        <p:txBody>
          <a:bodyPr wrap="square" lIns="0" tIns="0" rIns="0" bIns="0" anchor="t">
            <a:spAutoFit/>
          </a:bodyPr>
          <a:lstStyle/>
          <a:p>
            <a:pPr algn="l"/>
            <a:r>
              <a:rPr sz="1300" b="1" i="0">
                <a:solidFill>
                  <a:srgbClr val="1F9D6B"/>
                </a:solidFill>
                <a:latin typeface="Arial"/>
              </a:rPr>
              <a:t>Focus: prompting and output structure, not safety</a:t>
            </a:r>
          </a:p>
        </p:txBody>
      </p:sp>
      <p:sp>
        <p:nvSpPr>
          <p:cNvPr id="10" name="Rounded Rectangle 9"/>
          <p:cNvSpPr/>
          <p:nvPr/>
        </p:nvSpPr>
        <p:spPr>
          <a:xfrm>
            <a:off x="6172200" y="1691640"/>
            <a:ext cx="5394960" cy="2651760"/>
          </a:xfrm>
          <a:prstGeom prst="roundRect">
            <a:avLst>
              <a:gd name="adj" fmla="val 4137"/>
            </a:avLst>
          </a:prstGeom>
          <a:solidFill>
            <a:srgbClr val="DF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492240" y="1965960"/>
            <a:ext cx="566928" cy="566928"/>
          </a:xfrm>
          <a:prstGeom prst="ellipse">
            <a:avLst/>
          </a:prstGeom>
          <a:solidFill>
            <a:srgbClr val="1F9D6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2" name="TextBox 11"/>
          <p:cNvSpPr txBox="1"/>
          <p:nvPr/>
        </p:nvSpPr>
        <p:spPr>
          <a:xfrm>
            <a:off x="7223760" y="2029968"/>
            <a:ext cx="4114800" cy="457200"/>
          </a:xfrm>
          <a:prstGeom prst="rect">
            <a:avLst/>
          </a:prstGeom>
          <a:noFill/>
        </p:spPr>
        <p:txBody>
          <a:bodyPr wrap="square" lIns="0" tIns="0" rIns="0" bIns="0" anchor="t">
            <a:spAutoFit/>
          </a:bodyPr>
          <a:lstStyle/>
          <a:p>
            <a:pPr algn="l"/>
            <a:r>
              <a:rPr sz="2000" b="1" i="0">
                <a:solidFill>
                  <a:srgbClr val="1F233B"/>
                </a:solidFill>
                <a:latin typeface="Arial"/>
              </a:rPr>
              <a:t>Injection and defenses</a:t>
            </a:r>
          </a:p>
        </p:txBody>
      </p:sp>
      <p:sp>
        <p:nvSpPr>
          <p:cNvPr id="13" name="TextBox 12"/>
          <p:cNvSpPr txBox="1"/>
          <p:nvPr/>
        </p:nvSpPr>
        <p:spPr>
          <a:xfrm>
            <a:off x="6492240" y="2697480"/>
            <a:ext cx="4754880" cy="1005840"/>
          </a:xfrm>
          <a:prstGeom prst="rect">
            <a:avLst/>
          </a:prstGeom>
          <a:noFill/>
        </p:spPr>
        <p:txBody>
          <a:bodyPr wrap="square" lIns="0" tIns="0" rIns="0" bIns="0" anchor="t">
            <a:spAutoFit/>
          </a:bodyPr>
          <a:lstStyle/>
          <a:p>
            <a:pPr algn="l"/>
            <a:r>
              <a:rPr sz="1500" b="0" i="0">
                <a:solidFill>
                  <a:srgbClr val="1F233B"/>
                </a:solidFill>
                <a:latin typeface="Arial"/>
              </a:rPr>
              <a:t>Indirect injection hijacks LLM apps [1] and tops the OWASP risks [2]. CaMeL [8] splits control from data.</a:t>
            </a:r>
          </a:p>
        </p:txBody>
      </p:sp>
      <p:sp>
        <p:nvSpPr>
          <p:cNvPr id="14" name="TextBox 13"/>
          <p:cNvSpPr txBox="1"/>
          <p:nvPr/>
        </p:nvSpPr>
        <p:spPr>
          <a:xfrm>
            <a:off x="6492240" y="3794760"/>
            <a:ext cx="4846320" cy="365760"/>
          </a:xfrm>
          <a:prstGeom prst="rect">
            <a:avLst/>
          </a:prstGeom>
          <a:noFill/>
        </p:spPr>
        <p:txBody>
          <a:bodyPr wrap="square" lIns="0" tIns="0" rIns="0" bIns="0" anchor="t">
            <a:spAutoFit/>
          </a:bodyPr>
          <a:lstStyle/>
          <a:p>
            <a:pPr algn="l"/>
            <a:r>
              <a:rPr sz="1300" b="1" i="0">
                <a:solidFill>
                  <a:srgbClr val="1F9D6B"/>
                </a:solidFill>
                <a:latin typeface="Arial"/>
              </a:rPr>
              <a:t>CaMeL acts at run time; AgentScript, at compile time</a:t>
            </a:r>
          </a:p>
        </p:txBody>
      </p:sp>
      <p:sp>
        <p:nvSpPr>
          <p:cNvPr id="15" name="Rounded Rectangle 14"/>
          <p:cNvSpPr/>
          <p:nvPr/>
        </p:nvSpPr>
        <p:spPr>
          <a:xfrm>
            <a:off x="548640"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59"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taint / IFC</a:t>
            </a:r>
          </a:p>
        </p:txBody>
      </p:sp>
      <p:sp>
        <p:nvSpPr>
          <p:cNvPr id="17" name="TextBox 16"/>
          <p:cNvSpPr txBox="1"/>
          <p:nvPr/>
        </p:nvSpPr>
        <p:spPr>
          <a:xfrm>
            <a:off x="822959"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Denning’s lattice [9], language-based IFC [10], [11], static taint [12].</a:t>
            </a:r>
          </a:p>
        </p:txBody>
      </p:sp>
      <p:sp>
        <p:nvSpPr>
          <p:cNvPr id="18" name="Rounded Rectangle 17"/>
          <p:cNvSpPr/>
          <p:nvPr/>
        </p:nvSpPr>
        <p:spPr>
          <a:xfrm>
            <a:off x="4297679"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571999"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CFG analysis</a:t>
            </a:r>
          </a:p>
        </p:txBody>
      </p:sp>
      <p:sp>
        <p:nvSpPr>
          <p:cNvPr id="20" name="TextBox 19"/>
          <p:cNvSpPr txBox="1"/>
          <p:nvPr/>
        </p:nvSpPr>
        <p:spPr>
          <a:xfrm>
            <a:off x="4571999"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Allen [13], Kildall [14], dominators [15], [16]; Dragon Book [3].</a:t>
            </a:r>
          </a:p>
        </p:txBody>
      </p:sp>
      <p:sp>
        <p:nvSpPr>
          <p:cNvPr id="21" name="Rounded Rectangle 20"/>
          <p:cNvSpPr/>
          <p:nvPr/>
        </p:nvSpPr>
        <p:spPr>
          <a:xfrm>
            <a:off x="8046719" y="4617720"/>
            <a:ext cx="347472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321040" y="4773168"/>
            <a:ext cx="2926080" cy="365760"/>
          </a:xfrm>
          <a:prstGeom prst="rect">
            <a:avLst/>
          </a:prstGeom>
          <a:noFill/>
        </p:spPr>
        <p:txBody>
          <a:bodyPr wrap="square" lIns="0" tIns="0" rIns="0" bIns="0" anchor="t">
            <a:spAutoFit/>
          </a:bodyPr>
          <a:lstStyle/>
          <a:p>
            <a:pPr algn="l"/>
            <a:r>
              <a:rPr sz="1600" b="1" i="0">
                <a:solidFill>
                  <a:srgbClr val="F2A01B"/>
                </a:solidFill>
                <a:latin typeface="Courier New"/>
              </a:rPr>
              <a:t>capabilities</a:t>
            </a:r>
          </a:p>
        </p:txBody>
      </p:sp>
      <p:sp>
        <p:nvSpPr>
          <p:cNvPr id="23" name="TextBox 22"/>
          <p:cNvSpPr txBox="1"/>
          <p:nvPr/>
        </p:nvSpPr>
        <p:spPr>
          <a:xfrm>
            <a:off x="8321040" y="5138928"/>
            <a:ext cx="2971800" cy="822960"/>
          </a:xfrm>
          <a:prstGeom prst="rect">
            <a:avLst/>
          </a:prstGeom>
          <a:noFill/>
        </p:spPr>
        <p:txBody>
          <a:bodyPr wrap="square" lIns="0" tIns="0" rIns="0" bIns="0" anchor="t">
            <a:spAutoFit/>
          </a:bodyPr>
          <a:lstStyle/>
          <a:p>
            <a:pPr algn="l"/>
            <a:r>
              <a:rPr sz="1300" b="0" i="0">
                <a:solidFill>
                  <a:srgbClr val="5E6480"/>
                </a:solidFill>
                <a:latin typeface="Arial"/>
              </a:rPr>
              <a:t>permit is a capability list [17], [18]; tool flags are effect annotations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5</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LITERATURE REVIEW · POSITIONING</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Where AgentScript fits</a:t>
            </a:r>
          </a:p>
        </p:txBody>
      </p:sp>
      <p:graphicFrame>
        <p:nvGraphicFramePr>
          <p:cNvPr id="5" name="Table 4"/>
          <p:cNvGraphicFramePr>
            <a:graphicFrameLocks noGrp="1"/>
          </p:cNvGraphicFramePr>
          <p:nvPr/>
        </p:nvGraphicFramePr>
        <p:xfrm>
          <a:off x="548640" y="1600200"/>
          <a:ext cx="11064239" cy="360273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931919">
                  <a:extLst>
                    <a:ext uri="{9D8B030D-6E8A-4147-A177-3AD203B41FA5}">
                      <a16:colId xmlns:a16="http://schemas.microsoft.com/office/drawing/2014/main" val="20002"/>
                    </a:ext>
                  </a:extLst>
                </a:gridCol>
              </a:tblGrid>
              <a:tr h="402336">
                <a:tc>
                  <a:txBody>
                    <a:bodyPr/>
                    <a:lstStyle/>
                    <a:p>
                      <a:r>
                        <a:rPr sz="1200" b="1">
                          <a:solidFill>
                            <a:srgbClr val="FFFFFF"/>
                          </a:solidFill>
                          <a:latin typeface="Arial"/>
                        </a:rPr>
                        <a:t>Work</a:t>
                      </a:r>
                    </a:p>
                  </a:txBody>
                  <a:tcPr marL="73152" marR="73152" marT="27432" marB="27432" anchor="ctr">
                    <a:solidFill>
                      <a:srgbClr val="14172E"/>
                    </a:solidFill>
                  </a:tcPr>
                </a:tc>
                <a:tc>
                  <a:txBody>
                    <a:bodyPr/>
                    <a:lstStyle/>
                    <a:p>
                      <a:r>
                        <a:rPr sz="1200" b="1">
                          <a:solidFill>
                            <a:srgbClr val="FFFFFF"/>
                          </a:solidFill>
                          <a:latin typeface="Arial"/>
                        </a:rPr>
                        <a:t>What it does</a:t>
                      </a:r>
                    </a:p>
                  </a:txBody>
                  <a:tcPr marL="73152" marR="73152" marT="27432" marB="27432" anchor="ctr">
                    <a:solidFill>
                      <a:srgbClr val="14172E"/>
                    </a:solidFill>
                  </a:tcPr>
                </a:tc>
                <a:tc>
                  <a:txBody>
                    <a:bodyPr/>
                    <a:lstStyle/>
                    <a:p>
                      <a:r>
                        <a:rPr sz="1200" b="1">
                          <a:solidFill>
                            <a:srgbClr val="FFFFFF"/>
                          </a:solidFill>
                          <a:latin typeface="Arial"/>
                        </a:rPr>
                        <a:t>Checks tool data flow before execution?</a:t>
                      </a:r>
                    </a:p>
                  </a:txBody>
                  <a:tcPr marL="73152" marR="73152" marT="27432" marB="27432" anchor="ctr">
                    <a:solidFill>
                      <a:srgbClr val="14172E"/>
                    </a:solidFill>
                  </a:tcPr>
                </a:tc>
                <a:extLst>
                  <a:ext uri="{0D108BD9-81ED-4DB2-BD59-A6C34878D82A}">
                    <a16:rowId xmlns:a16="http://schemas.microsoft.com/office/drawing/2014/main" val="10000"/>
                  </a:ext>
                </a:extLst>
              </a:tr>
              <a:tr h="640080">
                <a:tc>
                  <a:txBody>
                    <a:bodyPr/>
                    <a:lstStyle/>
                    <a:p>
                      <a:r>
                        <a:rPr sz="1200" b="0">
                          <a:solidFill>
                            <a:srgbClr val="1F233B"/>
                          </a:solidFill>
                          <a:latin typeface="Arial"/>
                        </a:rPr>
                        <a:t>DSPy, LMQL, Guidance, BAML [4]–[7]</a:t>
                      </a:r>
                    </a:p>
                  </a:txBody>
                  <a:tcPr marL="73152" marR="73152" marT="27432" marB="27432" anchor="ctr">
                    <a:solidFill>
                      <a:srgbClr val="FFFFFF"/>
                    </a:solidFill>
                  </a:tcPr>
                </a:tc>
                <a:tc>
                  <a:txBody>
                    <a:bodyPr/>
                    <a:lstStyle/>
                    <a:p>
                      <a:r>
                        <a:rPr sz="1200" b="0">
                          <a:solidFill>
                            <a:srgbClr val="1F233B"/>
                          </a:solidFill>
                          <a:latin typeface="Arial"/>
                        </a:rPr>
                        <a:t>Prompting, constrained generation, typed LLM outputs</a:t>
                      </a:r>
                    </a:p>
                  </a:txBody>
                  <a:tcPr marL="73152" marR="73152" marT="27432" marB="27432" anchor="ctr">
                    <a:solidFill>
                      <a:srgbClr val="FFFFFF"/>
                    </a:solidFill>
                  </a:tcPr>
                </a:tc>
                <a:tc>
                  <a:txBody>
                    <a:bodyPr/>
                    <a:lstStyle/>
                    <a:p>
                      <a:r>
                        <a:rPr sz="1200" b="0">
                          <a:solidFill>
                            <a:srgbClr val="1F233B"/>
                          </a:solidFill>
                          <a:latin typeface="Arial"/>
                        </a:rPr>
                        <a:t>No checks on data flow between tools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200" b="0">
                          <a:solidFill>
                            <a:srgbClr val="1F233B"/>
                          </a:solidFill>
                          <a:latin typeface="Arial"/>
                        </a:rPr>
                        <a:t>Indirect injection, OWASP [1], [2]</a:t>
                      </a:r>
                    </a:p>
                  </a:txBody>
                  <a:tcPr marL="73152" marR="73152" marT="27432" marB="27432" anchor="ctr">
                    <a:solidFill>
                      <a:srgbClr val="F4F5F9"/>
                    </a:solidFill>
                  </a:tcPr>
                </a:tc>
                <a:tc>
                  <a:txBody>
                    <a:bodyPr/>
                    <a:lstStyle/>
                    <a:p>
                      <a:r>
                        <a:rPr sz="1200" b="0">
                          <a:solidFill>
                            <a:srgbClr val="1F233B"/>
                          </a:solidFill>
                          <a:latin typeface="Arial"/>
                        </a:rPr>
                        <a:t>The attack, and its rank among LLM application risks</a:t>
                      </a:r>
                    </a:p>
                  </a:txBody>
                  <a:tcPr marL="73152" marR="73152" marT="27432" marB="27432" anchor="ctr">
                    <a:solidFill>
                      <a:srgbClr val="F4F5F9"/>
                    </a:solidFill>
                  </a:tcPr>
                </a:tc>
                <a:tc>
                  <a:txBody>
                    <a:bodyPr/>
                    <a:lstStyle/>
                    <a:p>
                      <a:r>
                        <a:rPr sz="1200" b="0">
                          <a:solidFill>
                            <a:srgbClr val="1F233B"/>
                          </a:solidFill>
                          <a:latin typeface="Arial"/>
                        </a:rPr>
                        <a:t>Threat model, not a defense</a:t>
                      </a:r>
                    </a:p>
                  </a:txBody>
                  <a:tcPr marL="73152" marR="73152" marT="27432" marB="27432" anchor="ctr">
                    <a:solidFill>
                      <a:srgbClr val="F4F5F9"/>
                    </a:solidFill>
                  </a:tcPr>
                </a:tc>
                <a:extLst>
                  <a:ext uri="{0D108BD9-81ED-4DB2-BD59-A6C34878D82A}">
                    <a16:rowId xmlns:a16="http://schemas.microsoft.com/office/drawing/2014/main" val="10002"/>
                  </a:ext>
                </a:extLst>
              </a:tr>
              <a:tr h="640080">
                <a:tc>
                  <a:txBody>
                    <a:bodyPr/>
                    <a:lstStyle/>
                    <a:p>
                      <a:r>
                        <a:rPr sz="1200" b="0">
                          <a:solidFill>
                            <a:srgbClr val="1F233B"/>
                          </a:solidFill>
                          <a:latin typeface="Arial"/>
                        </a:rPr>
                        <a:t>CaMeL [8]</a:t>
                      </a:r>
                    </a:p>
                  </a:txBody>
                  <a:tcPr marL="73152" marR="73152" marT="27432" marB="27432" anchor="ctr">
                    <a:solidFill>
                      <a:srgbClr val="FFFFFF"/>
                    </a:solidFill>
                  </a:tcPr>
                </a:tc>
                <a:tc>
                  <a:txBody>
                    <a:bodyPr/>
                    <a:lstStyle/>
                    <a:p>
                      <a:r>
                        <a:rPr sz="1200" b="0">
                          <a:solidFill>
                            <a:srgbClr val="1F233B"/>
                          </a:solidFill>
                          <a:latin typeface="Arial"/>
                        </a:rPr>
                        <a:t>Separates trusted control flow from untrusted data</a:t>
                      </a:r>
                    </a:p>
                  </a:txBody>
                  <a:tcPr marL="73152" marR="73152" marT="27432" marB="27432" anchor="ctr">
                    <a:solidFill>
                      <a:srgbClr val="FFFFFF"/>
                    </a:solidFill>
                  </a:tcPr>
                </a:tc>
                <a:tc>
                  <a:txBody>
                    <a:bodyPr/>
                    <a:lstStyle/>
                    <a:p>
                      <a:r>
                        <a:rPr sz="1200" b="0">
                          <a:solidFill>
                            <a:srgbClr val="1F233B"/>
                          </a:solidFill>
                          <a:latin typeface="Arial"/>
                        </a:rPr>
                        <a:t>At run time, when tools are called</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1200" b="0">
                          <a:solidFill>
                            <a:srgbClr val="1F233B"/>
                          </a:solidFill>
                          <a:latin typeface="Arial"/>
                        </a:rPr>
                        <a:t>Taint analysis, IFC [9]–[12]</a:t>
                      </a:r>
                    </a:p>
                  </a:txBody>
                  <a:tcPr marL="73152" marR="73152" marT="27432" marB="27432" anchor="ctr">
                    <a:solidFill>
                      <a:srgbClr val="F4F5F9"/>
                    </a:solidFill>
                  </a:tcPr>
                </a:tc>
                <a:tc>
                  <a:txBody>
                    <a:bodyPr/>
                    <a:lstStyle/>
                    <a:p>
                      <a:r>
                        <a:rPr sz="1200" b="0">
                          <a:solidFill>
                            <a:srgbClr val="1F233B"/>
                          </a:solidFill>
                          <a:latin typeface="Arial"/>
                        </a:rPr>
                        <a:t>Labels and flows in general languages and web apps</a:t>
                      </a:r>
                    </a:p>
                  </a:txBody>
                  <a:tcPr marL="73152" marR="73152" marT="27432" marB="27432" anchor="ctr">
                    <a:solidFill>
                      <a:srgbClr val="F4F5F9"/>
                    </a:solidFill>
                  </a:tcPr>
                </a:tc>
                <a:tc>
                  <a:txBody>
                    <a:bodyPr/>
                    <a:lstStyle/>
                    <a:p>
                      <a:r>
                        <a:rPr sz="1200" b="0">
                          <a:solidFill>
                            <a:srgbClr val="1F233B"/>
                          </a:solidFill>
                          <a:latin typeface="Arial"/>
                        </a:rPr>
                        <a:t>Statically, for general programs</a:t>
                      </a:r>
                    </a:p>
                  </a:txBody>
                  <a:tcPr marL="73152" marR="73152" marT="27432" marB="27432" anchor="ctr">
                    <a:solidFill>
                      <a:srgbClr val="F4F5F9"/>
                    </a:solidFill>
                  </a:tcPr>
                </a:tc>
                <a:extLst>
                  <a:ext uri="{0D108BD9-81ED-4DB2-BD59-A6C34878D82A}">
                    <a16:rowId xmlns:a16="http://schemas.microsoft.com/office/drawing/2014/main" val="10004"/>
                  </a:ext>
                </a:extLst>
              </a:tr>
              <a:tr h="640080">
                <a:tc>
                  <a:txBody>
                    <a:bodyPr/>
                    <a:lstStyle/>
                    <a:p>
                      <a:r>
                        <a:rPr sz="1200" b="1">
                          <a:solidFill>
                            <a:srgbClr val="1F233B"/>
                          </a:solidFill>
                          <a:latin typeface="Arial"/>
                        </a:rPr>
                        <a:t>AgentScript</a:t>
                      </a:r>
                    </a:p>
                  </a:txBody>
                  <a:tcPr marL="73152" marR="73152" marT="27432" marB="27432" anchor="ctr">
                    <a:solidFill>
                      <a:srgbClr val="DFF4EA"/>
                    </a:solidFill>
                  </a:tcPr>
                </a:tc>
                <a:tc>
                  <a:txBody>
                    <a:bodyPr/>
                    <a:lstStyle/>
                    <a:p>
                      <a:r>
                        <a:rPr sz="1200" b="1">
                          <a:solidFill>
                            <a:srgbClr val="1F233B"/>
                          </a:solidFill>
                          <a:latin typeface="Arial"/>
                        </a:rPr>
                        <a:t>Fixed tool table, taint analysis, dominator-based approval</a:t>
                      </a:r>
                    </a:p>
                  </a:txBody>
                  <a:tcPr marL="73152" marR="73152" marT="27432" marB="27432" anchor="ctr">
                    <a:solidFill>
                      <a:srgbClr val="DFF4EA"/>
                    </a:solidFill>
                  </a:tcPr>
                </a:tc>
                <a:tc>
                  <a:txBody>
                    <a:bodyPr/>
                    <a:lstStyle/>
                    <a:p>
                      <a:r>
                        <a:rPr sz="1200" b="1">
                          <a:solidFill>
                            <a:srgbClr val="1F233B"/>
                          </a:solidFill>
                          <a:latin typeface="Arial"/>
                        </a:rPr>
                        <a:t>Yes, at compile time (E401, E501, E502)</a:t>
                      </a:r>
                    </a:p>
                  </a:txBody>
                  <a:tcPr marL="73152" marR="73152" marT="27432" marB="27432" anchor="ctr">
                    <a:solidFill>
                      <a:srgbClr val="DFF4EA"/>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5522976"/>
            <a:ext cx="11064240" cy="731520"/>
          </a:xfrm>
          <a:prstGeom prst="rect">
            <a:avLst/>
          </a:prstGeom>
          <a:noFill/>
        </p:spPr>
        <p:txBody>
          <a:bodyPr wrap="square" lIns="0" tIns="0" rIns="0" bIns="0" anchor="t">
            <a:spAutoFit/>
          </a:bodyPr>
          <a:lstStyle/>
          <a:p>
            <a:pPr algn="l"/>
            <a:r>
              <a:rPr sz="1400" b="1" i="0">
                <a:solidFill>
                  <a:srgbClr val="5E6480"/>
                </a:solidFill>
                <a:latin typeface="Arial"/>
              </a:rPr>
              <a:t>Novelty: not any one technique but their combination, in a small, working compiler for agent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6</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AGENTSCRIPT IN ONE PROGRAM</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The language: agents, permits, budgets, tasks</a:t>
            </a:r>
          </a:p>
        </p:txBody>
      </p:sp>
      <p:sp>
        <p:nvSpPr>
          <p:cNvPr id="5" name="Rounded Rectangle 4"/>
          <p:cNvSpPr/>
          <p:nvPr/>
        </p:nvSpPr>
        <p:spPr>
          <a:xfrm>
            <a:off x="548640" y="1600200"/>
            <a:ext cx="6492240" cy="4526280"/>
          </a:xfrm>
          <a:prstGeom prst="roundRect">
            <a:avLst>
              <a:gd name="adj" fmla="val 2424"/>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37360"/>
            <a:ext cx="6035040" cy="274320"/>
          </a:xfrm>
          <a:prstGeom prst="rect">
            <a:avLst/>
          </a:prstGeom>
          <a:noFill/>
        </p:spPr>
        <p:txBody>
          <a:bodyPr wrap="square" lIns="0" tIns="0" rIns="0" bIns="0" anchor="t">
            <a:spAutoFit/>
          </a:bodyPr>
          <a:lstStyle/>
          <a:p>
            <a:pPr algn="l"/>
            <a:r>
              <a:rPr sz="1100" b="1" i="0">
                <a:solidFill>
                  <a:srgbClr val="F2A01B"/>
                </a:solidFill>
                <a:latin typeface="Arial"/>
              </a:rPr>
              <a:t>examples/valid_report.as</a:t>
            </a:r>
          </a:p>
        </p:txBody>
      </p:sp>
      <p:sp>
        <p:nvSpPr>
          <p:cNvPr id="7" name="TextBox 6"/>
          <p:cNvSpPr txBox="1"/>
          <p:nvPr/>
        </p:nvSpPr>
        <p:spPr>
          <a:xfrm>
            <a:off x="777240" y="2057400"/>
            <a:ext cx="6035040" cy="3931920"/>
          </a:xfrm>
          <a:prstGeom prst="rect">
            <a:avLst/>
          </a:prstGeom>
          <a:noFill/>
        </p:spPr>
        <p:txBody>
          <a:bodyPr wrap="square" lIns="0" tIns="0" rIns="0" bIns="0" anchor="t">
            <a:spAutoFit/>
          </a:bodyPr>
          <a:lstStyle/>
          <a:p>
            <a:pPr algn="l"/>
            <a:r>
              <a:rPr sz="1400" b="0" i="0">
                <a:solidFill>
                  <a:srgbClr val="E6E8F2"/>
                </a:solidFill>
                <a:latin typeface="Courier New"/>
              </a:rPr>
              <a:t>agent Assistant {</a:t>
            </a:r>
          </a:p>
          <a:p>
            <a:pPr algn="l"/>
            <a:r>
              <a:rPr sz="1400" b="0" i="0">
                <a:solidFill>
                  <a:srgbClr val="F2A01B"/>
                </a:solidFill>
                <a:latin typeface="Courier New"/>
              </a:rPr>
              <a:t>  permit web_search, llm, sanitize,</a:t>
            </a:r>
          </a:p>
          <a:p>
            <a:pPr algn="l"/>
            <a:r>
              <a:rPr sz="1400" b="0" i="0">
                <a:solidFill>
                  <a:srgbClr val="F2A01B"/>
                </a:solidFill>
                <a:latin typeface="Courier New"/>
              </a:rPr>
              <a:t>         send_email, confirm;</a:t>
            </a:r>
          </a:p>
          <a:p>
            <a:pPr algn="l"/>
            <a:r>
              <a:rPr sz="1400" b="0" i="0">
                <a:solidFill>
                  <a:srgbClr val="F2A01B"/>
                </a:solidFill>
                <a:latin typeface="Courier New"/>
              </a:rPr>
              <a:t>  budget calls = 5;</a:t>
            </a:r>
          </a:p>
          <a:p>
            <a:pPr algn="l"/>
            <a:endParaRPr sz="1400" b="0" i="0">
              <a:solidFill>
                <a:srgbClr val="F2A01B"/>
              </a:solidFill>
              <a:latin typeface="Courier New"/>
            </a:endParaRPr>
          </a:p>
          <a:p>
            <a:pPr algn="l"/>
            <a:r>
              <a:rPr sz="1400" b="0" i="0">
                <a:solidFill>
                  <a:srgbClr val="E6E8F2"/>
                </a:solidFill>
                <a:latin typeface="Courier New"/>
              </a:rPr>
              <a:t>  task report(topic: string) -&gt; bool {</a:t>
            </a:r>
          </a:p>
          <a:p>
            <a:pPr algn="l"/>
            <a:r>
              <a:rPr sz="1400" b="0" i="0">
                <a:solidFill>
                  <a:srgbClr val="FF9A9F"/>
                </a:solidFill>
                <a:latin typeface="Courier New"/>
              </a:rPr>
              <a:t>    let raw = web_search(topic);</a:t>
            </a:r>
          </a:p>
          <a:p>
            <a:pPr algn="l"/>
            <a:r>
              <a:rPr sz="1400" b="0" i="0">
                <a:solidFill>
                  <a:srgbClr val="8FE3BC"/>
                </a:solidFill>
                <a:latin typeface="Courier New"/>
              </a:rPr>
              <a:t>    let clean = sanitize(raw[0]);</a:t>
            </a:r>
          </a:p>
          <a:p>
            <a:pPr algn="l"/>
            <a:r>
              <a:rPr sz="1400" b="0" i="0">
                <a:solidFill>
                  <a:srgbClr val="E6E8F2"/>
                </a:solidFill>
                <a:latin typeface="Courier New"/>
              </a:rPr>
              <a:t>    let summary = llm("Summarize: " + clean);</a:t>
            </a:r>
          </a:p>
          <a:p>
            <a:pPr algn="l"/>
            <a:r>
              <a:rPr sz="1400" b="0" i="0">
                <a:solidFill>
                  <a:srgbClr val="8FE3BC"/>
                </a:solidFill>
                <a:latin typeface="Courier New"/>
              </a:rPr>
              <a:t>    if (confirm("Send report?")) {</a:t>
            </a:r>
          </a:p>
          <a:p>
            <a:pPr algn="l"/>
            <a:r>
              <a:rPr sz="1400" b="0" i="0">
                <a:solidFill>
                  <a:srgbClr val="E6E8F2"/>
                </a:solidFill>
                <a:latin typeface="Courier New"/>
              </a:rPr>
              <a:t>      return send_email("me@example.com", summary);</a:t>
            </a:r>
          </a:p>
          <a:p>
            <a:pPr algn="l"/>
            <a:r>
              <a:rPr sz="1400" b="0" i="0">
                <a:solidFill>
                  <a:srgbClr val="E6E8F2"/>
                </a:solidFill>
                <a:latin typeface="Courier New"/>
              </a:rPr>
              <a:t>    }</a:t>
            </a:r>
          </a:p>
          <a:p>
            <a:pPr algn="l"/>
            <a:r>
              <a:rPr sz="1400" b="0" i="0">
                <a:solidFill>
                  <a:srgbClr val="E6E8F2"/>
                </a:solidFill>
                <a:latin typeface="Courier New"/>
              </a:rPr>
              <a:t>    return false;</a:t>
            </a:r>
          </a:p>
          <a:p>
            <a:pPr algn="l"/>
            <a:r>
              <a:rPr sz="1400" b="0" i="0">
                <a:solidFill>
                  <a:srgbClr val="E6E8F2"/>
                </a:solidFill>
                <a:latin typeface="Courier New"/>
              </a:rPr>
              <a:t>  }</a:t>
            </a:r>
          </a:p>
          <a:p>
            <a:pPr algn="l"/>
            <a:r>
              <a:rPr sz="1400" b="0" i="0">
                <a:solidFill>
                  <a:srgbClr val="E6E8F2"/>
                </a:solidFill>
                <a:latin typeface="Courier New"/>
              </a:rPr>
              <a:t>}</a:t>
            </a:r>
          </a:p>
        </p:txBody>
      </p:sp>
      <p:sp>
        <p:nvSpPr>
          <p:cNvPr id="8" name="TextBox 7"/>
          <p:cNvSpPr txBox="1"/>
          <p:nvPr/>
        </p:nvSpPr>
        <p:spPr>
          <a:xfrm>
            <a:off x="7406640" y="1645920"/>
            <a:ext cx="4206240" cy="320040"/>
          </a:xfrm>
          <a:prstGeom prst="rect">
            <a:avLst/>
          </a:prstGeom>
          <a:noFill/>
        </p:spPr>
        <p:txBody>
          <a:bodyPr wrap="square" lIns="0" tIns="0" rIns="0" bIns="0" anchor="t">
            <a:spAutoFit/>
          </a:bodyPr>
          <a:lstStyle/>
          <a:p>
            <a:pPr algn="l"/>
            <a:r>
              <a:rPr sz="1500" b="1" i="0">
                <a:solidFill>
                  <a:srgbClr val="1F233B"/>
                </a:solidFill>
                <a:latin typeface="Arial"/>
              </a:rPr>
              <a:t>permit / budget</a:t>
            </a:r>
          </a:p>
        </p:txBody>
      </p:sp>
      <p:sp>
        <p:nvSpPr>
          <p:cNvPr id="9" name="TextBox 8"/>
          <p:cNvSpPr txBox="1"/>
          <p:nvPr/>
        </p:nvSpPr>
        <p:spPr>
          <a:xfrm>
            <a:off x="7406640" y="1975104"/>
            <a:ext cx="4206240" cy="548640"/>
          </a:xfrm>
          <a:prstGeom prst="rect">
            <a:avLst/>
          </a:prstGeom>
          <a:noFill/>
        </p:spPr>
        <p:txBody>
          <a:bodyPr wrap="square" lIns="0" tIns="0" rIns="0" bIns="0" anchor="t">
            <a:spAutoFit/>
          </a:bodyPr>
          <a:lstStyle/>
          <a:p>
            <a:pPr algn="l"/>
            <a:r>
              <a:rPr sz="1300" b="0" i="0">
                <a:solidFill>
                  <a:srgbClr val="5E6480"/>
                </a:solidFill>
                <a:latin typeface="Arial"/>
              </a:rPr>
              <a:t>which tools the agent may call, and how many calls one task run may make</a:t>
            </a:r>
          </a:p>
        </p:txBody>
      </p:sp>
      <p:sp>
        <p:nvSpPr>
          <p:cNvPr id="10" name="TextBox 9"/>
          <p:cNvSpPr txBox="1"/>
          <p:nvPr/>
        </p:nvSpPr>
        <p:spPr>
          <a:xfrm>
            <a:off x="7406640" y="2542032"/>
            <a:ext cx="4206240" cy="320040"/>
          </a:xfrm>
          <a:prstGeom prst="rect">
            <a:avLst/>
          </a:prstGeom>
          <a:noFill/>
        </p:spPr>
        <p:txBody>
          <a:bodyPr wrap="square" lIns="0" tIns="0" rIns="0" bIns="0" anchor="t">
            <a:spAutoFit/>
          </a:bodyPr>
          <a:lstStyle/>
          <a:p>
            <a:pPr algn="l"/>
            <a:r>
              <a:rPr sz="1500" b="1" i="0">
                <a:solidFill>
                  <a:srgbClr val="1F233B"/>
                </a:solidFill>
                <a:latin typeface="Arial"/>
              </a:rPr>
              <a:t>web_search</a:t>
            </a:r>
          </a:p>
        </p:txBody>
      </p:sp>
      <p:sp>
        <p:nvSpPr>
          <p:cNvPr id="11" name="TextBox 10"/>
          <p:cNvSpPr txBox="1"/>
          <p:nvPr/>
        </p:nvSpPr>
        <p:spPr>
          <a:xfrm>
            <a:off x="7406640" y="2871216"/>
            <a:ext cx="4206240" cy="548640"/>
          </a:xfrm>
          <a:prstGeom prst="rect">
            <a:avLst/>
          </a:prstGeom>
          <a:noFill/>
        </p:spPr>
        <p:txBody>
          <a:bodyPr wrap="square" lIns="0" tIns="0" rIns="0" bIns="0" anchor="t">
            <a:spAutoFit/>
          </a:bodyPr>
          <a:lstStyle/>
          <a:p>
            <a:pPr algn="l"/>
            <a:r>
              <a:rPr sz="1300" b="0" i="0">
                <a:solidFill>
                  <a:srgbClr val="5E6480"/>
                </a:solidFill>
                <a:latin typeface="Arial"/>
              </a:rPr>
              <a:t>returns untrusted data: a taint source</a:t>
            </a:r>
          </a:p>
        </p:txBody>
      </p:sp>
      <p:sp>
        <p:nvSpPr>
          <p:cNvPr id="12" name="TextBox 11"/>
          <p:cNvSpPr txBox="1"/>
          <p:nvPr/>
        </p:nvSpPr>
        <p:spPr>
          <a:xfrm>
            <a:off x="7406640" y="3438144"/>
            <a:ext cx="4206240" cy="320040"/>
          </a:xfrm>
          <a:prstGeom prst="rect">
            <a:avLst/>
          </a:prstGeom>
          <a:noFill/>
        </p:spPr>
        <p:txBody>
          <a:bodyPr wrap="square" lIns="0" tIns="0" rIns="0" bIns="0" anchor="t">
            <a:spAutoFit/>
          </a:bodyPr>
          <a:lstStyle/>
          <a:p>
            <a:pPr algn="l"/>
            <a:r>
              <a:rPr sz="1500" b="1" i="0">
                <a:solidFill>
                  <a:srgbClr val="1F233B"/>
                </a:solidFill>
                <a:latin typeface="Arial"/>
              </a:rPr>
              <a:t>sanitize</a:t>
            </a:r>
          </a:p>
        </p:txBody>
      </p:sp>
      <p:sp>
        <p:nvSpPr>
          <p:cNvPr id="13" name="TextBox 12"/>
          <p:cNvSpPr txBox="1"/>
          <p:nvPr/>
        </p:nvSpPr>
        <p:spPr>
          <a:xfrm>
            <a:off x="7406640" y="3767328"/>
            <a:ext cx="4206240" cy="548640"/>
          </a:xfrm>
          <a:prstGeom prst="rect">
            <a:avLst/>
          </a:prstGeom>
          <a:noFill/>
        </p:spPr>
        <p:txBody>
          <a:bodyPr wrap="square" lIns="0" tIns="0" rIns="0" bIns="0" anchor="t">
            <a:spAutoFit/>
          </a:bodyPr>
          <a:lstStyle/>
          <a:p>
            <a:pPr algn="l"/>
            <a:r>
              <a:rPr sz="1300" b="0" i="0">
                <a:solidFill>
                  <a:srgbClr val="5E6480"/>
                </a:solidFill>
                <a:latin typeface="Arial"/>
              </a:rPr>
              <a:t>clears taint; its output is trusted</a:t>
            </a:r>
          </a:p>
        </p:txBody>
      </p:sp>
      <p:sp>
        <p:nvSpPr>
          <p:cNvPr id="14" name="TextBox 13"/>
          <p:cNvSpPr txBox="1"/>
          <p:nvPr/>
        </p:nvSpPr>
        <p:spPr>
          <a:xfrm>
            <a:off x="7406640" y="4334256"/>
            <a:ext cx="4206240" cy="320040"/>
          </a:xfrm>
          <a:prstGeom prst="rect">
            <a:avLst/>
          </a:prstGeom>
          <a:noFill/>
        </p:spPr>
        <p:txBody>
          <a:bodyPr wrap="square" lIns="0" tIns="0" rIns="0" bIns="0" anchor="t">
            <a:spAutoFit/>
          </a:bodyPr>
          <a:lstStyle/>
          <a:p>
            <a:pPr algn="l"/>
            <a:r>
              <a:rPr sz="1500" b="1" i="0">
                <a:solidFill>
                  <a:srgbClr val="1F233B"/>
                </a:solidFill>
                <a:latin typeface="Arial"/>
              </a:rPr>
              <a:t>confirm</a:t>
            </a:r>
          </a:p>
        </p:txBody>
      </p:sp>
      <p:sp>
        <p:nvSpPr>
          <p:cNvPr id="15" name="TextBox 14"/>
          <p:cNvSpPr txBox="1"/>
          <p:nvPr/>
        </p:nvSpPr>
        <p:spPr>
          <a:xfrm>
            <a:off x="7406640" y="4663440"/>
            <a:ext cx="4206240" cy="548640"/>
          </a:xfrm>
          <a:prstGeom prst="rect">
            <a:avLst/>
          </a:prstGeom>
          <a:noFill/>
        </p:spPr>
        <p:txBody>
          <a:bodyPr wrap="square" lIns="0" tIns="0" rIns="0" bIns="0" anchor="t">
            <a:spAutoFit/>
          </a:bodyPr>
          <a:lstStyle/>
          <a:p>
            <a:pPr algn="l"/>
            <a:r>
              <a:rPr sz="1300" b="0" i="0">
                <a:solidFill>
                  <a:srgbClr val="5E6480"/>
                </a:solidFill>
                <a:latin typeface="Arial"/>
              </a:rPr>
              <a:t>human approval; branching on it creates a guard block</a:t>
            </a:r>
          </a:p>
        </p:txBody>
      </p:sp>
      <p:sp>
        <p:nvSpPr>
          <p:cNvPr id="16" name="TextBox 15"/>
          <p:cNvSpPr txBox="1"/>
          <p:nvPr/>
        </p:nvSpPr>
        <p:spPr>
          <a:xfrm>
            <a:off x="7406640" y="5230368"/>
            <a:ext cx="4206240" cy="320040"/>
          </a:xfrm>
          <a:prstGeom prst="rect">
            <a:avLst/>
          </a:prstGeom>
          <a:noFill/>
        </p:spPr>
        <p:txBody>
          <a:bodyPr wrap="square" lIns="0" tIns="0" rIns="0" bIns="0" anchor="t">
            <a:spAutoFit/>
          </a:bodyPr>
          <a:lstStyle/>
          <a:p>
            <a:pPr algn="l"/>
            <a:r>
              <a:rPr sz="1500" b="1" i="0">
                <a:solidFill>
                  <a:srgbClr val="1F233B"/>
                </a:solidFill>
                <a:latin typeface="Arial"/>
              </a:rPr>
              <a:t>Types</a:t>
            </a:r>
          </a:p>
        </p:txBody>
      </p:sp>
      <p:sp>
        <p:nvSpPr>
          <p:cNvPr id="17" name="TextBox 16"/>
          <p:cNvSpPr txBox="1"/>
          <p:nvPr/>
        </p:nvSpPr>
        <p:spPr>
          <a:xfrm>
            <a:off x="7406640" y="5559552"/>
            <a:ext cx="4206240" cy="548640"/>
          </a:xfrm>
          <a:prstGeom prst="rect">
            <a:avLst/>
          </a:prstGeom>
          <a:noFill/>
        </p:spPr>
        <p:txBody>
          <a:bodyPr wrap="square" lIns="0" tIns="0" rIns="0" bIns="0" anchor="t">
            <a:spAutoFit/>
          </a:bodyPr>
          <a:lstStyle/>
          <a:p>
            <a:pPr algn="l"/>
            <a:r>
              <a:rPr sz="1300" b="0" i="0">
                <a:solidFill>
                  <a:srgbClr val="5E6480"/>
                </a:solidFill>
                <a:latin typeface="Arial"/>
              </a:rPr>
              <a:t>string, int, bool, list&lt;T&gt;; let is immutable, plus one bounded loop: repeat N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7</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A FIXED TABLE, NOT USER SYNTAX</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Built-in tools and their safety annotations</a:t>
            </a:r>
          </a:p>
        </p:txBody>
      </p:sp>
      <p:graphicFrame>
        <p:nvGraphicFramePr>
          <p:cNvPr id="5" name="Table 4"/>
          <p:cNvGraphicFramePr>
            <a:graphicFrameLocks noGrp="1"/>
          </p:cNvGraphicFramePr>
          <p:nvPr/>
        </p:nvGraphicFramePr>
        <p:xfrm>
          <a:off x="548640" y="1645920"/>
          <a:ext cx="11064240" cy="3410712"/>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1097280">
                  <a:extLst>
                    <a:ext uri="{9D8B030D-6E8A-4147-A177-3AD203B41FA5}">
                      <a16:colId xmlns:a16="http://schemas.microsoft.com/office/drawing/2014/main" val="20008"/>
                    </a:ext>
                  </a:extLst>
                </a:gridCol>
              </a:tblGrid>
              <a:tr h="411480">
                <a:tc>
                  <a:txBody>
                    <a:bodyPr/>
                    <a:lstStyle/>
                    <a:p>
                      <a:r>
                        <a:rPr sz="1300" b="1">
                          <a:solidFill>
                            <a:srgbClr val="FFFFFF"/>
                          </a:solidFill>
                          <a:latin typeface="Arial"/>
                        </a:rPr>
                        <a:t>Tool</a:t>
                      </a:r>
                    </a:p>
                  </a:txBody>
                  <a:tcPr marL="73152" marR="73152" marT="27432" marB="27432" anchor="ctr">
                    <a:solidFill>
                      <a:srgbClr val="14172E"/>
                    </a:solidFill>
                  </a:tcPr>
                </a:tc>
                <a:tc>
                  <a:txBody>
                    <a:bodyPr/>
                    <a:lstStyle/>
                    <a:p>
                      <a:r>
                        <a:rPr sz="1300" b="1">
                          <a:solidFill>
                            <a:srgbClr val="FFFFFF"/>
                          </a:solidFill>
                          <a:latin typeface="Arial"/>
                        </a:rPr>
                        <a:t>Signature</a:t>
                      </a:r>
                    </a:p>
                  </a:txBody>
                  <a:tcPr marL="73152" marR="73152" marT="27432" marB="27432" anchor="ctr">
                    <a:solidFill>
                      <a:srgbClr val="14172E"/>
                    </a:solidFill>
                  </a:tcPr>
                </a:tc>
                <a:tc>
                  <a:txBody>
                    <a:bodyPr/>
                    <a:lstStyle/>
                    <a:p>
                      <a:r>
                        <a:rPr sz="1300" b="1">
                          <a:solidFill>
                            <a:srgbClr val="FFFFFF"/>
                          </a:solidFill>
                          <a:latin typeface="Arial"/>
                        </a:rPr>
                        <a:t>Untrusted result</a:t>
                      </a:r>
                    </a:p>
                  </a:txBody>
                  <a:tcPr marL="73152" marR="73152" marT="27432" marB="27432" anchor="ctr">
                    <a:solidFill>
                      <a:srgbClr val="14172E"/>
                    </a:solidFill>
                  </a:tcPr>
                </a:tc>
                <a:tc>
                  <a:txBody>
                    <a:bodyPr/>
                    <a:lstStyle/>
                    <a:p>
                      <a:r>
                        <a:rPr sz="1300" b="1">
                          <a:solidFill>
                            <a:srgbClr val="FFFFFF"/>
                          </a:solidFill>
                          <a:latin typeface="Arial"/>
                        </a:rPr>
                        <a:t>Propagates</a:t>
                      </a:r>
                    </a:p>
                  </a:txBody>
                  <a:tcPr marL="73152" marR="73152" marT="27432" marB="27432" anchor="ctr">
                    <a:solidFill>
                      <a:srgbClr val="14172E"/>
                    </a:solidFill>
                  </a:tcPr>
                </a:tc>
                <a:tc>
                  <a:txBody>
                    <a:bodyPr/>
                    <a:lstStyle/>
                    <a:p>
                      <a:r>
                        <a:rPr sz="1300" b="1">
                          <a:solidFill>
                            <a:srgbClr val="FFFFFF"/>
                          </a:solidFill>
                          <a:latin typeface="Arial"/>
                        </a:rPr>
                        <a:t>Sanitizer</a:t>
                      </a:r>
                    </a:p>
                  </a:txBody>
                  <a:tcPr marL="73152" marR="73152" marT="27432" marB="27432" anchor="ctr">
                    <a:solidFill>
                      <a:srgbClr val="14172E"/>
                    </a:solidFill>
                  </a:tcPr>
                </a:tc>
                <a:tc>
                  <a:txBody>
                    <a:bodyPr/>
                    <a:lstStyle/>
                    <a:p>
                      <a:r>
                        <a:rPr sz="1300" b="1">
                          <a:solidFill>
                            <a:srgbClr val="FFFFFF"/>
                          </a:solidFill>
                          <a:latin typeface="Arial"/>
                        </a:rPr>
                        <a:t>Privileged sink</a:t>
                      </a:r>
                    </a:p>
                  </a:txBody>
                  <a:tcPr marL="73152" marR="73152" marT="27432" marB="27432" anchor="ctr">
                    <a:solidFill>
                      <a:srgbClr val="14172E"/>
                    </a:solidFill>
                  </a:tcPr>
                </a:tc>
                <a:tc>
                  <a:txBody>
                    <a:bodyPr/>
                    <a:lstStyle/>
                    <a:p>
                      <a:r>
                        <a:rPr sz="1300" b="1">
                          <a:solidFill>
                            <a:srgbClr val="FFFFFF"/>
                          </a:solidFill>
                          <a:latin typeface="Arial"/>
                        </a:rPr>
                        <a:t>Irreversible</a:t>
                      </a:r>
                    </a:p>
                  </a:txBody>
                  <a:tcPr marL="73152" marR="73152" marT="27432" marB="27432" anchor="ctr">
                    <a:solidFill>
                      <a:srgbClr val="14172E"/>
                    </a:solidFill>
                  </a:tcPr>
                </a:tc>
                <a:tc>
                  <a:txBody>
                    <a:bodyPr/>
                    <a:lstStyle/>
                    <a:p>
                      <a:r>
                        <a:rPr sz="1300" b="1">
                          <a:solidFill>
                            <a:srgbClr val="FFFFFF"/>
                          </a:solidFill>
                          <a:latin typeface="Arial"/>
                        </a:rPr>
                        <a:t>Approval</a:t>
                      </a:r>
                    </a:p>
                  </a:txBody>
                  <a:tcPr marL="73152" marR="73152" marT="27432" marB="27432" anchor="ctr">
                    <a:solidFill>
                      <a:srgbClr val="14172E"/>
                    </a:solidFill>
                  </a:tcPr>
                </a:tc>
                <a:tc>
                  <a:txBody>
                    <a:bodyPr/>
                    <a:lstStyle/>
                    <a:p>
                      <a:r>
                        <a:rPr sz="1300" b="1">
                          <a:solidFill>
                            <a:srgbClr val="FFFFFF"/>
                          </a:solidFill>
                          <a:latin typeface="Arial"/>
                        </a:rPr>
                        <a:t>Mergeable</a:t>
                      </a:r>
                    </a:p>
                  </a:txBody>
                  <a:tcPr marL="73152" marR="73152" marT="27432" marB="27432" anchor="ctr">
                    <a:solidFill>
                      <a:srgbClr val="14172E"/>
                    </a:solidFill>
                  </a:tcPr>
                </a:tc>
                <a:extLst>
                  <a:ext uri="{0D108BD9-81ED-4DB2-BD59-A6C34878D82A}">
                    <a16:rowId xmlns:a16="http://schemas.microsoft.com/office/drawing/2014/main" val="10000"/>
                  </a:ext>
                </a:extLst>
              </a:tr>
              <a:tr h="411480">
                <a:tc>
                  <a:txBody>
                    <a:bodyPr/>
                    <a:lstStyle/>
                    <a:p>
                      <a:r>
                        <a:rPr sz="1300" b="0">
                          <a:solidFill>
                            <a:srgbClr val="1F233B"/>
                          </a:solidFill>
                          <a:latin typeface="Courier New"/>
                        </a:rPr>
                        <a:t>web_search</a:t>
                      </a:r>
                    </a:p>
                  </a:txBody>
                  <a:tcPr marL="73152" marR="73152" marT="27432" marB="27432" anchor="ctr">
                    <a:solidFill>
                      <a:srgbClr val="FFFFFF"/>
                    </a:solidFill>
                  </a:tcPr>
                </a:tc>
                <a:tc>
                  <a:txBody>
                    <a:bodyPr/>
                    <a:lstStyle/>
                    <a:p>
                      <a:r>
                        <a:rPr sz="1300" b="0">
                          <a:solidFill>
                            <a:srgbClr val="1F233B"/>
                          </a:solidFill>
                          <a:latin typeface="Courier New"/>
                        </a:rPr>
                        <a:t>string -&gt; list&lt;string&gt;</a:t>
                      </a: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extLst>
                  <a:ext uri="{0D108BD9-81ED-4DB2-BD59-A6C34878D82A}">
                    <a16:rowId xmlns:a16="http://schemas.microsoft.com/office/drawing/2014/main" val="10001"/>
                  </a:ext>
                </a:extLst>
              </a:tr>
              <a:tr h="411480">
                <a:tc>
                  <a:txBody>
                    <a:bodyPr/>
                    <a:lstStyle/>
                    <a:p>
                      <a:r>
                        <a:rPr sz="1300" b="0">
                          <a:solidFill>
                            <a:srgbClr val="1F233B"/>
                          </a:solidFill>
                          <a:latin typeface="Courier New"/>
                        </a:rPr>
                        <a:t>read_file</a:t>
                      </a:r>
                    </a:p>
                  </a:txBody>
                  <a:tcPr marL="73152" marR="73152" marT="27432" marB="27432" anchor="ctr">
                    <a:solidFill>
                      <a:srgbClr val="F4F5F9"/>
                    </a:solidFill>
                  </a:tcPr>
                </a:tc>
                <a:tc>
                  <a:txBody>
                    <a:bodyPr/>
                    <a:lstStyle/>
                    <a:p>
                      <a:r>
                        <a:rPr sz="1300" b="0">
                          <a:solidFill>
                            <a:srgbClr val="1F233B"/>
                          </a:solidFill>
                          <a:latin typeface="Courier New"/>
                        </a:rPr>
                        <a:t>string -&gt; string</a:t>
                      </a:r>
                    </a:p>
                  </a:txBody>
                  <a:tcPr marL="73152" marR="73152" marT="27432" marB="27432" anchor="ctr">
                    <a:solidFill>
                      <a:srgbClr val="F4F5F9"/>
                    </a:solidFill>
                  </a:tcPr>
                </a:tc>
                <a:tc>
                  <a:txBody>
                    <a:bodyPr/>
                    <a:lstStyle/>
                    <a:p>
                      <a:r>
                        <a:rPr sz="1300" b="0">
                          <a:solidFill>
                            <a:srgbClr val="1F9D6B"/>
                          </a:solidFill>
                          <a:latin typeface="Arial"/>
                        </a:rPr>
                        <a:t>yes</a:t>
                      </a: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r>
                        <a:rPr sz="1300" b="0">
                          <a:solidFill>
                            <a:srgbClr val="1F9D6B"/>
                          </a:solidFill>
                          <a:latin typeface="Arial"/>
                        </a:rPr>
                        <a:t>yes</a:t>
                      </a:r>
                    </a:p>
                  </a:txBody>
                  <a:tcPr marL="73152" marR="73152" marT="27432" marB="27432" anchor="ctr">
                    <a:solidFill>
                      <a:srgbClr val="F4F5F9"/>
                    </a:solidFill>
                  </a:tcPr>
                </a:tc>
                <a:extLst>
                  <a:ext uri="{0D108BD9-81ED-4DB2-BD59-A6C34878D82A}">
                    <a16:rowId xmlns:a16="http://schemas.microsoft.com/office/drawing/2014/main" val="10002"/>
                  </a:ext>
                </a:extLst>
              </a:tr>
              <a:tr h="411480">
                <a:tc>
                  <a:txBody>
                    <a:bodyPr/>
                    <a:lstStyle/>
                    <a:p>
                      <a:r>
                        <a:rPr sz="1300" b="0">
                          <a:solidFill>
                            <a:srgbClr val="1F233B"/>
                          </a:solidFill>
                          <a:latin typeface="Courier New"/>
                        </a:rPr>
                        <a:t>llm</a:t>
                      </a:r>
                    </a:p>
                  </a:txBody>
                  <a:tcPr marL="73152" marR="73152" marT="27432" marB="27432" anchor="ctr">
                    <a:solidFill>
                      <a:srgbClr val="FFFFFF"/>
                    </a:solidFill>
                  </a:tcPr>
                </a:tc>
                <a:tc>
                  <a:txBody>
                    <a:bodyPr/>
                    <a:lstStyle/>
                    <a:p>
                      <a:r>
                        <a:rPr sz="1300" b="0">
                          <a:solidFill>
                            <a:srgbClr val="1F233B"/>
                          </a:solidFill>
                          <a:latin typeface="Courier New"/>
                        </a:rPr>
                        <a:t>string -&gt; string</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extLst>
                  <a:ext uri="{0D108BD9-81ED-4DB2-BD59-A6C34878D82A}">
                    <a16:rowId xmlns:a16="http://schemas.microsoft.com/office/drawing/2014/main" val="10003"/>
                  </a:ext>
                </a:extLst>
              </a:tr>
              <a:tr h="411480">
                <a:tc>
                  <a:txBody>
                    <a:bodyPr/>
                    <a:lstStyle/>
                    <a:p>
                      <a:r>
                        <a:rPr sz="1300" b="0">
                          <a:solidFill>
                            <a:srgbClr val="1F233B"/>
                          </a:solidFill>
                          <a:latin typeface="Courier New"/>
                        </a:rPr>
                        <a:t>send_email</a:t>
                      </a:r>
                    </a:p>
                  </a:txBody>
                  <a:tcPr marL="73152" marR="73152" marT="27432" marB="27432" anchor="ctr">
                    <a:solidFill>
                      <a:srgbClr val="F4F5F9"/>
                    </a:solidFill>
                  </a:tcPr>
                </a:tc>
                <a:tc>
                  <a:txBody>
                    <a:bodyPr/>
                    <a:lstStyle/>
                    <a:p>
                      <a:r>
                        <a:rPr sz="1300" b="0">
                          <a:solidFill>
                            <a:srgbClr val="1F233B"/>
                          </a:solidFill>
                          <a:latin typeface="Courier New"/>
                        </a:rPr>
                        <a:t>(string, string) -&gt; bool</a:t>
                      </a: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r>
                        <a:rPr sz="1300" b="0">
                          <a:solidFill>
                            <a:srgbClr val="1F9D6B"/>
                          </a:solidFill>
                          <a:latin typeface="Arial"/>
                        </a:rPr>
                        <a:t>yes</a:t>
                      </a: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extLst>
                  <a:ext uri="{0D108BD9-81ED-4DB2-BD59-A6C34878D82A}">
                    <a16:rowId xmlns:a16="http://schemas.microsoft.com/office/drawing/2014/main" val="10004"/>
                  </a:ext>
                </a:extLst>
              </a:tr>
              <a:tr h="411480">
                <a:tc>
                  <a:txBody>
                    <a:bodyPr/>
                    <a:lstStyle/>
                    <a:p>
                      <a:r>
                        <a:rPr sz="1300" b="0">
                          <a:solidFill>
                            <a:srgbClr val="1F233B"/>
                          </a:solidFill>
                          <a:latin typeface="Courier New"/>
                        </a:rPr>
                        <a:t>delete_file</a:t>
                      </a:r>
                    </a:p>
                  </a:txBody>
                  <a:tcPr marL="73152" marR="73152" marT="27432" marB="27432" anchor="ctr">
                    <a:solidFill>
                      <a:srgbClr val="FFFFFF"/>
                    </a:solidFill>
                  </a:tcPr>
                </a:tc>
                <a:tc>
                  <a:txBody>
                    <a:bodyPr/>
                    <a:lstStyle/>
                    <a:p>
                      <a:r>
                        <a:rPr sz="1300" b="0">
                          <a:solidFill>
                            <a:srgbClr val="1F233B"/>
                          </a:solidFill>
                          <a:latin typeface="Courier New"/>
                        </a:rPr>
                        <a:t>string -&gt; bool</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5"/>
                  </a:ext>
                </a:extLst>
              </a:tr>
              <a:tr h="411480">
                <a:tc>
                  <a:txBody>
                    <a:bodyPr/>
                    <a:lstStyle/>
                    <a:p>
                      <a:r>
                        <a:rPr sz="1300" b="0">
                          <a:solidFill>
                            <a:srgbClr val="1F233B"/>
                          </a:solidFill>
                          <a:latin typeface="Courier New"/>
                        </a:rPr>
                        <a:t>sanitize</a:t>
                      </a:r>
                    </a:p>
                  </a:txBody>
                  <a:tcPr marL="73152" marR="73152" marT="27432" marB="27432" anchor="ctr">
                    <a:solidFill>
                      <a:srgbClr val="F4F5F9"/>
                    </a:solidFill>
                  </a:tcPr>
                </a:tc>
                <a:tc>
                  <a:txBody>
                    <a:bodyPr/>
                    <a:lstStyle/>
                    <a:p>
                      <a:r>
                        <a:rPr sz="1300" b="0">
                          <a:solidFill>
                            <a:srgbClr val="1F233B"/>
                          </a:solidFill>
                          <a:latin typeface="Courier New"/>
                        </a:rPr>
                        <a:t>string -&gt; string</a:t>
                      </a: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r>
                        <a:rPr sz="1300" b="0">
                          <a:solidFill>
                            <a:srgbClr val="1F9D6B"/>
                          </a:solidFill>
                          <a:latin typeface="Arial"/>
                        </a:rPr>
                        <a:t>yes</a:t>
                      </a: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endParaRPr/>
                    </a:p>
                  </a:txBody>
                  <a:tcPr marL="73152" marR="73152" marT="27432" marB="27432" anchor="ctr">
                    <a:solidFill>
                      <a:srgbClr val="F4F5F9"/>
                    </a:solidFill>
                  </a:tcPr>
                </a:tc>
                <a:tc>
                  <a:txBody>
                    <a:bodyPr/>
                    <a:lstStyle/>
                    <a:p>
                      <a:r>
                        <a:rPr sz="1300" b="0">
                          <a:solidFill>
                            <a:srgbClr val="1F9D6B"/>
                          </a:solidFill>
                          <a:latin typeface="Arial"/>
                        </a:rPr>
                        <a:t>yes</a:t>
                      </a:r>
                    </a:p>
                  </a:txBody>
                  <a:tcPr marL="73152" marR="73152" marT="27432" marB="27432" anchor="ctr">
                    <a:solidFill>
                      <a:srgbClr val="F4F5F9"/>
                    </a:solidFill>
                  </a:tcPr>
                </a:tc>
                <a:extLst>
                  <a:ext uri="{0D108BD9-81ED-4DB2-BD59-A6C34878D82A}">
                    <a16:rowId xmlns:a16="http://schemas.microsoft.com/office/drawing/2014/main" val="10006"/>
                  </a:ext>
                </a:extLst>
              </a:tr>
              <a:tr h="411480">
                <a:tc>
                  <a:txBody>
                    <a:bodyPr/>
                    <a:lstStyle/>
                    <a:p>
                      <a:r>
                        <a:rPr sz="1300" b="0">
                          <a:solidFill>
                            <a:srgbClr val="1F233B"/>
                          </a:solidFill>
                          <a:latin typeface="Courier New"/>
                        </a:rPr>
                        <a:t>confirm</a:t>
                      </a:r>
                    </a:p>
                  </a:txBody>
                  <a:tcPr marL="73152" marR="73152" marT="27432" marB="27432" anchor="ctr">
                    <a:solidFill>
                      <a:srgbClr val="FFFFFF"/>
                    </a:solidFill>
                  </a:tcPr>
                </a:tc>
                <a:tc>
                  <a:txBody>
                    <a:bodyPr/>
                    <a:lstStyle/>
                    <a:p>
                      <a:r>
                        <a:rPr sz="1300" b="0">
                          <a:solidFill>
                            <a:srgbClr val="1F233B"/>
                          </a:solidFill>
                          <a:latin typeface="Courier New"/>
                        </a:rPr>
                        <a:t>string -&gt; bool</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r>
                        <a:rPr sz="1300" b="0">
                          <a:solidFill>
                            <a:srgbClr val="1F9D6B"/>
                          </a:solidFill>
                          <a:latin typeface="Arial"/>
                        </a:rPr>
                        <a:t>yes</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48640" y="5166360"/>
            <a:ext cx="11064240" cy="731520"/>
          </a:xfrm>
          <a:prstGeom prst="rect">
            <a:avLst/>
          </a:prstGeom>
          <a:noFill/>
        </p:spPr>
        <p:txBody>
          <a:bodyPr wrap="square" lIns="0" tIns="0" rIns="0" bIns="0" anchor="t">
            <a:spAutoFit/>
          </a:bodyPr>
          <a:lstStyle/>
          <a:p>
            <a:pPr algn="l"/>
            <a:r>
              <a:rPr sz="1400" b="1" i="0">
                <a:solidFill>
                  <a:srgbClr val="5E6480"/>
                </a:solidFill>
                <a:latin typeface="Arial"/>
              </a:rPr>
              <a:t>Used by:  </a:t>
            </a:r>
            <a:r>
              <a:rPr sz="1400" b="0" i="0">
                <a:solidFill>
                  <a:srgbClr val="5E6480"/>
                </a:solidFill>
                <a:latin typeface="Arial"/>
              </a:rPr>
              <a:t>taint analysis (untrusted, propagates, sanitizer, privileged)  ·  approval analysis (irreversible, approval)  ·  optimizer (mergeable)  ·  scheduler (privileged, irreversible and approval tools are barriers)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8</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COMPILER ARCHITECTURE</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Architecture: a 10-stage pipeline</a:t>
            </a:r>
          </a:p>
        </p:txBody>
      </p:sp>
      <p:sp>
        <p:nvSpPr>
          <p:cNvPr id="5" name="Rounded Rectangle 4"/>
          <p:cNvSpPr/>
          <p:nvPr/>
        </p:nvSpPr>
        <p:spPr>
          <a:xfrm>
            <a:off x="548640" y="1783080"/>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Lexer</a:t>
            </a:r>
          </a:p>
          <a:p>
            <a:pPr algn="ctr"/>
            <a:r>
              <a:rPr sz="1200">
                <a:solidFill>
                  <a:srgbClr val="5E6480"/>
                </a:solidFill>
                <a:latin typeface="Arial"/>
              </a:rPr>
              <a:t>source -&gt; tokens</a:t>
            </a:r>
          </a:p>
        </p:txBody>
      </p:sp>
      <p:sp>
        <p:nvSpPr>
          <p:cNvPr id="6" name="TextBox 5"/>
          <p:cNvSpPr txBox="1"/>
          <p:nvPr/>
        </p:nvSpPr>
        <p:spPr>
          <a:xfrm>
            <a:off x="548640" y="299923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E101 E102</a:t>
            </a:r>
          </a:p>
        </p:txBody>
      </p:sp>
      <p:cxnSp>
        <p:nvCxnSpPr>
          <p:cNvPr id="7" name="Connector 6"/>
          <p:cNvCxnSpPr/>
          <p:nvPr/>
        </p:nvCxnSpPr>
        <p:spPr>
          <a:xfrm>
            <a:off x="2523744" y="235458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25496" y="1783080"/>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Parser</a:t>
            </a:r>
          </a:p>
          <a:p>
            <a:pPr algn="ctr"/>
            <a:r>
              <a:rPr sz="1200">
                <a:solidFill>
                  <a:srgbClr val="5E6480"/>
                </a:solidFill>
                <a:latin typeface="Arial"/>
              </a:rPr>
              <a:t>tokens -&gt; AST</a:t>
            </a:r>
          </a:p>
        </p:txBody>
      </p:sp>
      <p:sp>
        <p:nvSpPr>
          <p:cNvPr id="9" name="TextBox 8"/>
          <p:cNvSpPr txBox="1"/>
          <p:nvPr/>
        </p:nvSpPr>
        <p:spPr>
          <a:xfrm>
            <a:off x="2825496" y="299923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E201</a:t>
            </a:r>
          </a:p>
        </p:txBody>
      </p:sp>
      <p:cxnSp>
        <p:nvCxnSpPr>
          <p:cNvPr id="10" name="Connector 9"/>
          <p:cNvCxnSpPr/>
          <p:nvPr/>
        </p:nvCxnSpPr>
        <p:spPr>
          <a:xfrm>
            <a:off x="4800600" y="235458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2352" y="1783080"/>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Semantic</a:t>
            </a:r>
          </a:p>
          <a:p>
            <a:pPr algn="ctr"/>
            <a:r>
              <a:rPr sz="1200">
                <a:solidFill>
                  <a:srgbClr val="5E6480"/>
                </a:solidFill>
                <a:latin typeface="Arial"/>
              </a:rPr>
              <a:t>symbols, types, permit, budget</a:t>
            </a:r>
          </a:p>
        </p:txBody>
      </p:sp>
      <p:sp>
        <p:nvSpPr>
          <p:cNvPr id="12" name="TextBox 11"/>
          <p:cNvSpPr txBox="1"/>
          <p:nvPr/>
        </p:nvSpPr>
        <p:spPr>
          <a:xfrm>
            <a:off x="5102352" y="299923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E301-E306</a:t>
            </a:r>
          </a:p>
        </p:txBody>
      </p:sp>
      <p:cxnSp>
        <p:nvCxnSpPr>
          <p:cNvPr id="13" name="Connector 12"/>
          <p:cNvCxnSpPr/>
          <p:nvPr/>
        </p:nvCxnSpPr>
        <p:spPr>
          <a:xfrm>
            <a:off x="7077456" y="235458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79208" y="1783080"/>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IR + CFG</a:t>
            </a:r>
          </a:p>
          <a:p>
            <a:pPr algn="ctr"/>
            <a:r>
              <a:rPr sz="1200">
                <a:solidFill>
                  <a:srgbClr val="5E6480"/>
                </a:solidFill>
                <a:latin typeface="Arial"/>
              </a:rPr>
              <a:t>3-address code, blocks</a:t>
            </a:r>
          </a:p>
        </p:txBody>
      </p:sp>
      <p:cxnSp>
        <p:nvCxnSpPr>
          <p:cNvPr id="15" name="Connector 14"/>
          <p:cNvCxnSpPr/>
          <p:nvPr/>
        </p:nvCxnSpPr>
        <p:spPr>
          <a:xfrm>
            <a:off x="9354312" y="235458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56064" y="1783080"/>
            <a:ext cx="1938528" cy="1143000"/>
          </a:xfrm>
          <a:prstGeom prst="roundRect">
            <a:avLst>
              <a:gd name="adj" fmla="val 9600"/>
            </a:avLst>
          </a:prstGeom>
          <a:solidFill>
            <a:srgbClr val="FDF1DC"/>
          </a:solidFill>
          <a:ln w="19050">
            <a:solidFill>
              <a:srgbClr val="F2A01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Taint</a:t>
            </a:r>
          </a:p>
          <a:p>
            <a:pPr algn="ctr"/>
            <a:r>
              <a:rPr sz="1200">
                <a:solidFill>
                  <a:srgbClr val="5E6480"/>
                </a:solidFill>
                <a:latin typeface="Arial"/>
              </a:rPr>
              <a:t>data-flow fixed point</a:t>
            </a:r>
          </a:p>
        </p:txBody>
      </p:sp>
      <p:sp>
        <p:nvSpPr>
          <p:cNvPr id="17" name="TextBox 16"/>
          <p:cNvSpPr txBox="1"/>
          <p:nvPr/>
        </p:nvSpPr>
        <p:spPr>
          <a:xfrm>
            <a:off x="9656064" y="299923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E401</a:t>
            </a:r>
          </a:p>
        </p:txBody>
      </p:sp>
      <p:sp>
        <p:nvSpPr>
          <p:cNvPr id="18" name="Rounded Rectangle 17"/>
          <p:cNvSpPr/>
          <p:nvPr/>
        </p:nvSpPr>
        <p:spPr>
          <a:xfrm>
            <a:off x="548640" y="3749039"/>
            <a:ext cx="1938528" cy="1143000"/>
          </a:xfrm>
          <a:prstGeom prst="roundRect">
            <a:avLst>
              <a:gd name="adj" fmla="val 9600"/>
            </a:avLst>
          </a:prstGeom>
          <a:solidFill>
            <a:srgbClr val="FDF1DC"/>
          </a:solidFill>
          <a:ln w="19050">
            <a:solidFill>
              <a:srgbClr val="F2A01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Approval</a:t>
            </a:r>
          </a:p>
          <a:p>
            <a:pPr algn="ctr"/>
            <a:r>
              <a:rPr sz="1200">
                <a:solidFill>
                  <a:srgbClr val="5E6480"/>
                </a:solidFill>
                <a:latin typeface="Arial"/>
              </a:rPr>
              <a:t>dominators, guards</a:t>
            </a:r>
          </a:p>
        </p:txBody>
      </p:sp>
      <p:sp>
        <p:nvSpPr>
          <p:cNvPr id="19" name="TextBox 18"/>
          <p:cNvSpPr txBox="1"/>
          <p:nvPr/>
        </p:nvSpPr>
        <p:spPr>
          <a:xfrm>
            <a:off x="548640" y="496519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E501 E502</a:t>
            </a:r>
          </a:p>
        </p:txBody>
      </p:sp>
      <p:cxnSp>
        <p:nvCxnSpPr>
          <p:cNvPr id="20" name="Connector 19"/>
          <p:cNvCxnSpPr/>
          <p:nvPr/>
        </p:nvCxnSpPr>
        <p:spPr>
          <a:xfrm>
            <a:off x="2523744" y="432054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825496" y="3749039"/>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Optimizer</a:t>
            </a:r>
          </a:p>
          <a:p>
            <a:pPr algn="ctr"/>
            <a:r>
              <a:rPr sz="1200">
                <a:solidFill>
                  <a:srgbClr val="5E6480"/>
                </a:solidFill>
                <a:latin typeface="Arial"/>
              </a:rPr>
              <a:t>fold, DCE, dedupe calls</a:t>
            </a:r>
          </a:p>
        </p:txBody>
      </p:sp>
      <p:cxnSp>
        <p:nvCxnSpPr>
          <p:cNvPr id="22" name="Connector 21"/>
          <p:cNvCxnSpPr/>
          <p:nvPr/>
        </p:nvCxnSpPr>
        <p:spPr>
          <a:xfrm>
            <a:off x="4800600" y="432054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102352" y="3749039"/>
            <a:ext cx="1938528" cy="1143000"/>
          </a:xfrm>
          <a:prstGeom prst="roundRect">
            <a:avLst>
              <a:gd name="adj" fmla="val 9600"/>
            </a:avLst>
          </a:prstGeom>
          <a:solidFill>
            <a:srgbClr val="F4F5F9"/>
          </a:solidFill>
          <a:ln w="19050">
            <a:solidFill>
              <a:srgbClr val="5E6480"/>
            </a:solidFill>
            <a:prstDash val="lgDash"/>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Scheduler</a:t>
            </a:r>
          </a:p>
          <a:p>
            <a:pPr algn="ctr"/>
            <a:r>
              <a:rPr sz="1200">
                <a:solidFill>
                  <a:srgbClr val="5E6480"/>
                </a:solidFill>
                <a:latin typeface="Arial"/>
              </a:rPr>
              <a:t>parallel rounds (stretch)</a:t>
            </a:r>
          </a:p>
        </p:txBody>
      </p:sp>
      <p:cxnSp>
        <p:nvCxnSpPr>
          <p:cNvPr id="24" name="Connector 23"/>
          <p:cNvCxnSpPr/>
          <p:nvPr/>
        </p:nvCxnSpPr>
        <p:spPr>
          <a:xfrm>
            <a:off x="7077456" y="432054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79208" y="3749039"/>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Codegen</a:t>
            </a:r>
          </a:p>
          <a:p>
            <a:pPr algn="ctr"/>
            <a:r>
              <a:rPr sz="1200">
                <a:solidFill>
                  <a:srgbClr val="5E6480"/>
                </a:solidFill>
                <a:latin typeface="Arial"/>
              </a:rPr>
              <a:t>IR -&gt; stack bytecode</a:t>
            </a:r>
          </a:p>
        </p:txBody>
      </p:sp>
      <p:cxnSp>
        <p:nvCxnSpPr>
          <p:cNvPr id="26" name="Connector 25"/>
          <p:cNvCxnSpPr/>
          <p:nvPr/>
        </p:nvCxnSpPr>
        <p:spPr>
          <a:xfrm>
            <a:off x="9354312" y="4320540"/>
            <a:ext cx="26517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56064" y="3749039"/>
            <a:ext cx="1938528" cy="1143000"/>
          </a:xfrm>
          <a:prstGeom prst="roundRect">
            <a:avLst>
              <a:gd name="adj" fmla="val 96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1F233B"/>
                </a:solidFill>
                <a:latin typeface="Arial"/>
              </a:rPr>
              <a:t>VM</a:t>
            </a:r>
          </a:p>
          <a:p>
            <a:pPr algn="ctr"/>
            <a:r>
              <a:rPr sz="1200">
                <a:solidFill>
                  <a:srgbClr val="5E6480"/>
                </a:solidFill>
                <a:latin typeface="Arial"/>
              </a:rPr>
              <a:t>tool registry, guards</a:t>
            </a:r>
          </a:p>
        </p:txBody>
      </p:sp>
      <p:sp>
        <p:nvSpPr>
          <p:cNvPr id="28" name="TextBox 27"/>
          <p:cNvSpPr txBox="1"/>
          <p:nvPr/>
        </p:nvSpPr>
        <p:spPr>
          <a:xfrm>
            <a:off x="9656064" y="4965192"/>
            <a:ext cx="1938528" cy="274320"/>
          </a:xfrm>
          <a:prstGeom prst="rect">
            <a:avLst/>
          </a:prstGeom>
          <a:noFill/>
        </p:spPr>
        <p:txBody>
          <a:bodyPr wrap="square" lIns="0" tIns="0" rIns="0" bIns="0" anchor="t">
            <a:spAutoFit/>
          </a:bodyPr>
          <a:lstStyle/>
          <a:p>
            <a:pPr algn="ctr"/>
            <a:r>
              <a:rPr sz="1100" b="1" i="0">
                <a:solidFill>
                  <a:srgbClr val="D63E47"/>
                </a:solidFill>
                <a:latin typeface="Courier New"/>
              </a:rPr>
              <a:t>E601-E604</a:t>
            </a:r>
          </a:p>
        </p:txBody>
      </p:sp>
      <p:cxnSp>
        <p:nvCxnSpPr>
          <p:cNvPr id="29" name="Connector 28"/>
          <p:cNvCxnSpPr/>
          <p:nvPr/>
        </p:nvCxnSpPr>
        <p:spPr>
          <a:xfrm>
            <a:off x="10625328" y="3310128"/>
            <a:ext cx="0" cy="18288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563624" y="3520440"/>
            <a:ext cx="9015984"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517904" y="3520440"/>
            <a:ext cx="0" cy="210312"/>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48640" y="5486400"/>
            <a:ext cx="11064240" cy="658368"/>
          </a:xfrm>
          <a:prstGeom prst="roundRect">
            <a:avLst>
              <a:gd name="adj" fmla="val 16666"/>
            </a:avLst>
          </a:prstGeom>
          <a:solidFill>
            <a:srgbClr val="141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7240" y="5577840"/>
            <a:ext cx="10607040" cy="502920"/>
          </a:xfrm>
          <a:prstGeom prst="rect">
            <a:avLst/>
          </a:prstGeom>
          <a:noFill/>
        </p:spPr>
        <p:txBody>
          <a:bodyPr wrap="square" lIns="0" tIns="0" rIns="0" bIns="0" anchor="ctr">
            <a:spAutoFit/>
          </a:bodyPr>
          <a:lstStyle/>
          <a:p>
            <a:pPr algn="l"/>
            <a:r>
              <a:rPr sz="1400" b="1" i="0">
                <a:solidFill>
                  <a:srgbClr val="F2A01B"/>
                </a:solidFill>
                <a:latin typeface="Arial"/>
              </a:rPr>
              <a:t>Ordering rule  </a:t>
            </a:r>
            <a:r>
              <a:rPr sz="1400" b="0" i="0">
                <a:solidFill>
                  <a:srgbClr val="FFFFFF"/>
                </a:solidFill>
                <a:latin typeface="Arial"/>
              </a:rPr>
              <a:t>Safety analyses (permission, budget, taint, approval) run on the unoptimized program, so a guarantee never depends on what the optimizer removes.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9</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HOW THE CODE IS ORGANISED</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System architecture: modules and data flow</a:t>
            </a:r>
          </a:p>
        </p:txBody>
      </p:sp>
      <p:sp>
        <p:nvSpPr>
          <p:cNvPr id="5" name="Rounded Rectangle 4"/>
          <p:cNvSpPr/>
          <p:nvPr/>
        </p:nvSpPr>
        <p:spPr>
          <a:xfrm>
            <a:off x="548640" y="1691640"/>
            <a:ext cx="2468880" cy="3840480"/>
          </a:xfrm>
          <a:prstGeom prst="roundRect">
            <a:avLst>
              <a:gd name="adj" fmla="val 444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828800"/>
            <a:ext cx="2011680" cy="365760"/>
          </a:xfrm>
          <a:prstGeom prst="rect">
            <a:avLst/>
          </a:prstGeom>
          <a:noFill/>
        </p:spPr>
        <p:txBody>
          <a:bodyPr wrap="square" lIns="0" tIns="0" rIns="0" bIns="0" anchor="t">
            <a:spAutoFit/>
          </a:bodyPr>
          <a:lstStyle/>
          <a:p>
            <a:pPr algn="l"/>
            <a:r>
              <a:rPr sz="1700" b="1" i="0">
                <a:solidFill>
                  <a:srgbClr val="1F233B"/>
                </a:solidFill>
                <a:latin typeface="Arial"/>
              </a:rPr>
              <a:t>Front end</a:t>
            </a:r>
          </a:p>
        </p:txBody>
      </p:sp>
      <p:sp>
        <p:nvSpPr>
          <p:cNvPr id="7" name="Rounded Rectangle 6"/>
          <p:cNvSpPr/>
          <p:nvPr/>
        </p:nvSpPr>
        <p:spPr>
          <a:xfrm>
            <a:off x="777240" y="2286000"/>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lexer.py</a:t>
            </a:r>
          </a:p>
        </p:txBody>
      </p:sp>
      <p:sp>
        <p:nvSpPr>
          <p:cNvPr id="8" name="Rounded Rectangle 7"/>
          <p:cNvSpPr/>
          <p:nvPr/>
        </p:nvSpPr>
        <p:spPr>
          <a:xfrm>
            <a:off x="777240" y="2715768"/>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parser.py</a:t>
            </a:r>
          </a:p>
        </p:txBody>
      </p:sp>
      <p:sp>
        <p:nvSpPr>
          <p:cNvPr id="9" name="Rounded Rectangle 8"/>
          <p:cNvSpPr/>
          <p:nvPr/>
        </p:nvSpPr>
        <p:spPr>
          <a:xfrm>
            <a:off x="777240" y="3145536"/>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ast_nodes.py</a:t>
            </a:r>
          </a:p>
        </p:txBody>
      </p:sp>
      <p:sp>
        <p:nvSpPr>
          <p:cNvPr id="10" name="Rounded Rectangle 9"/>
          <p:cNvSpPr/>
          <p:nvPr/>
        </p:nvSpPr>
        <p:spPr>
          <a:xfrm>
            <a:off x="777240" y="3575304"/>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semantic.py</a:t>
            </a:r>
          </a:p>
        </p:txBody>
      </p:sp>
      <p:sp>
        <p:nvSpPr>
          <p:cNvPr id="11" name="TextBox 10"/>
          <p:cNvSpPr txBox="1"/>
          <p:nvPr/>
        </p:nvSpPr>
        <p:spPr>
          <a:xfrm>
            <a:off x="777240" y="5074920"/>
            <a:ext cx="2103120" cy="320040"/>
          </a:xfrm>
          <a:prstGeom prst="rect">
            <a:avLst/>
          </a:prstGeom>
          <a:noFill/>
        </p:spPr>
        <p:txBody>
          <a:bodyPr wrap="square" lIns="0" tIns="0" rIns="0" bIns="0" anchor="t">
            <a:spAutoFit/>
          </a:bodyPr>
          <a:lstStyle/>
          <a:p>
            <a:pPr algn="l"/>
            <a:r>
              <a:rPr sz="1200" b="1" i="0">
                <a:solidFill>
                  <a:srgbClr val="F2A01B"/>
                </a:solidFill>
                <a:latin typeface="Arial"/>
              </a:rPr>
              <a:t>Tokens · AST · Symbols</a:t>
            </a:r>
          </a:p>
        </p:txBody>
      </p:sp>
      <p:cxnSp>
        <p:nvCxnSpPr>
          <p:cNvPr id="12" name="Connector 11"/>
          <p:cNvCxnSpPr/>
          <p:nvPr/>
        </p:nvCxnSpPr>
        <p:spPr>
          <a:xfrm>
            <a:off x="3035808" y="3611880"/>
            <a:ext cx="237744"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91840" y="1691640"/>
            <a:ext cx="2468880" cy="3840480"/>
          </a:xfrm>
          <a:prstGeom prst="roundRect">
            <a:avLst>
              <a:gd name="adj" fmla="val 444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20440" y="1828800"/>
            <a:ext cx="2011680" cy="365760"/>
          </a:xfrm>
          <a:prstGeom prst="rect">
            <a:avLst/>
          </a:prstGeom>
          <a:noFill/>
        </p:spPr>
        <p:txBody>
          <a:bodyPr wrap="square" lIns="0" tIns="0" rIns="0" bIns="0" anchor="t">
            <a:spAutoFit/>
          </a:bodyPr>
          <a:lstStyle/>
          <a:p>
            <a:pPr algn="l"/>
            <a:r>
              <a:rPr sz="1700" b="1" i="0">
                <a:solidFill>
                  <a:srgbClr val="1F233B"/>
                </a:solidFill>
                <a:latin typeface="Arial"/>
              </a:rPr>
              <a:t>Middle end</a:t>
            </a:r>
          </a:p>
        </p:txBody>
      </p:sp>
      <p:sp>
        <p:nvSpPr>
          <p:cNvPr id="15" name="Rounded Rectangle 14"/>
          <p:cNvSpPr/>
          <p:nvPr/>
        </p:nvSpPr>
        <p:spPr>
          <a:xfrm>
            <a:off x="3520440" y="2286000"/>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irgen.py</a:t>
            </a:r>
          </a:p>
        </p:txBody>
      </p:sp>
      <p:sp>
        <p:nvSpPr>
          <p:cNvPr id="16" name="Rounded Rectangle 15"/>
          <p:cNvSpPr/>
          <p:nvPr/>
        </p:nvSpPr>
        <p:spPr>
          <a:xfrm>
            <a:off x="3520440" y="2715768"/>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cfg.py</a:t>
            </a:r>
          </a:p>
        </p:txBody>
      </p:sp>
      <p:sp>
        <p:nvSpPr>
          <p:cNvPr id="17" name="Rounded Rectangle 16"/>
          <p:cNvSpPr/>
          <p:nvPr/>
        </p:nvSpPr>
        <p:spPr>
          <a:xfrm>
            <a:off x="3520440" y="3145536"/>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taint.py</a:t>
            </a:r>
          </a:p>
        </p:txBody>
      </p:sp>
      <p:sp>
        <p:nvSpPr>
          <p:cNvPr id="18" name="Rounded Rectangle 17"/>
          <p:cNvSpPr/>
          <p:nvPr/>
        </p:nvSpPr>
        <p:spPr>
          <a:xfrm>
            <a:off x="3520440" y="3575304"/>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approval.py</a:t>
            </a:r>
          </a:p>
        </p:txBody>
      </p:sp>
      <p:sp>
        <p:nvSpPr>
          <p:cNvPr id="19" name="Rounded Rectangle 18"/>
          <p:cNvSpPr/>
          <p:nvPr/>
        </p:nvSpPr>
        <p:spPr>
          <a:xfrm>
            <a:off x="3520440" y="4005072"/>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optimizer.py</a:t>
            </a:r>
          </a:p>
        </p:txBody>
      </p:sp>
      <p:sp>
        <p:nvSpPr>
          <p:cNvPr id="20" name="Rounded Rectangle 19"/>
          <p:cNvSpPr/>
          <p:nvPr/>
        </p:nvSpPr>
        <p:spPr>
          <a:xfrm>
            <a:off x="3520440" y="4434840"/>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scheduler.py</a:t>
            </a:r>
          </a:p>
        </p:txBody>
      </p:sp>
      <p:sp>
        <p:nvSpPr>
          <p:cNvPr id="21" name="TextBox 20"/>
          <p:cNvSpPr txBox="1"/>
          <p:nvPr/>
        </p:nvSpPr>
        <p:spPr>
          <a:xfrm>
            <a:off x="3520440" y="5074920"/>
            <a:ext cx="2103120" cy="320040"/>
          </a:xfrm>
          <a:prstGeom prst="rect">
            <a:avLst/>
          </a:prstGeom>
          <a:noFill/>
        </p:spPr>
        <p:txBody>
          <a:bodyPr wrap="square" lIns="0" tIns="0" rIns="0" bIns="0" anchor="t">
            <a:spAutoFit/>
          </a:bodyPr>
          <a:lstStyle/>
          <a:p>
            <a:pPr algn="l"/>
            <a:r>
              <a:rPr sz="1200" b="1" i="0">
                <a:solidFill>
                  <a:srgbClr val="F2A01B"/>
                </a:solidFill>
                <a:latin typeface="Arial"/>
              </a:rPr>
              <a:t>IR · CFG · Reports</a:t>
            </a:r>
          </a:p>
        </p:txBody>
      </p:sp>
      <p:cxnSp>
        <p:nvCxnSpPr>
          <p:cNvPr id="22" name="Connector 21"/>
          <p:cNvCxnSpPr/>
          <p:nvPr/>
        </p:nvCxnSpPr>
        <p:spPr>
          <a:xfrm>
            <a:off x="5779008" y="3611880"/>
            <a:ext cx="237744"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035040" y="1691640"/>
            <a:ext cx="2468880" cy="3840480"/>
          </a:xfrm>
          <a:prstGeom prst="roundRect">
            <a:avLst>
              <a:gd name="adj" fmla="val 444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63640" y="1828800"/>
            <a:ext cx="2011680" cy="365760"/>
          </a:xfrm>
          <a:prstGeom prst="rect">
            <a:avLst/>
          </a:prstGeom>
          <a:noFill/>
        </p:spPr>
        <p:txBody>
          <a:bodyPr wrap="square" lIns="0" tIns="0" rIns="0" bIns="0" anchor="t">
            <a:spAutoFit/>
          </a:bodyPr>
          <a:lstStyle/>
          <a:p>
            <a:pPr algn="l"/>
            <a:r>
              <a:rPr sz="1700" b="1" i="0">
                <a:solidFill>
                  <a:srgbClr val="1F233B"/>
                </a:solidFill>
                <a:latin typeface="Arial"/>
              </a:rPr>
              <a:t>Back end</a:t>
            </a:r>
          </a:p>
        </p:txBody>
      </p:sp>
      <p:sp>
        <p:nvSpPr>
          <p:cNvPr id="25" name="Rounded Rectangle 24"/>
          <p:cNvSpPr/>
          <p:nvPr/>
        </p:nvSpPr>
        <p:spPr>
          <a:xfrm>
            <a:off x="6263640" y="2286000"/>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codegen.py</a:t>
            </a:r>
          </a:p>
        </p:txBody>
      </p:sp>
      <p:sp>
        <p:nvSpPr>
          <p:cNvPr id="26" name="Rounded Rectangle 25"/>
          <p:cNvSpPr/>
          <p:nvPr/>
        </p:nvSpPr>
        <p:spPr>
          <a:xfrm>
            <a:off x="6263640" y="2715768"/>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bytecode.py</a:t>
            </a:r>
          </a:p>
        </p:txBody>
      </p:sp>
      <p:sp>
        <p:nvSpPr>
          <p:cNvPr id="27" name="Rounded Rectangle 26"/>
          <p:cNvSpPr/>
          <p:nvPr/>
        </p:nvSpPr>
        <p:spPr>
          <a:xfrm>
            <a:off x="6263640" y="3145536"/>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vm.py</a:t>
            </a:r>
          </a:p>
        </p:txBody>
      </p:sp>
      <p:sp>
        <p:nvSpPr>
          <p:cNvPr id="28" name="Rounded Rectangle 27"/>
          <p:cNvSpPr/>
          <p:nvPr/>
        </p:nvSpPr>
        <p:spPr>
          <a:xfrm>
            <a:off x="6263640" y="3575304"/>
            <a:ext cx="2011680" cy="347472"/>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registry.py</a:t>
            </a:r>
          </a:p>
        </p:txBody>
      </p:sp>
      <p:sp>
        <p:nvSpPr>
          <p:cNvPr id="29" name="TextBox 28"/>
          <p:cNvSpPr txBox="1"/>
          <p:nvPr/>
        </p:nvSpPr>
        <p:spPr>
          <a:xfrm>
            <a:off x="6263640" y="5074920"/>
            <a:ext cx="2103120" cy="320040"/>
          </a:xfrm>
          <a:prstGeom prst="rect">
            <a:avLst/>
          </a:prstGeom>
          <a:noFill/>
        </p:spPr>
        <p:txBody>
          <a:bodyPr wrap="square" lIns="0" tIns="0" rIns="0" bIns="0" anchor="t">
            <a:spAutoFit/>
          </a:bodyPr>
          <a:lstStyle/>
          <a:p>
            <a:pPr algn="l"/>
            <a:r>
              <a:rPr sz="1200" b="1" i="0">
                <a:solidFill>
                  <a:srgbClr val="F2A01B"/>
                </a:solidFill>
                <a:latin typeface="Arial"/>
              </a:rPr>
              <a:t>Bytecode · Call log</a:t>
            </a:r>
          </a:p>
        </p:txBody>
      </p:sp>
      <p:sp>
        <p:nvSpPr>
          <p:cNvPr id="30" name="Rounded Rectangle 29"/>
          <p:cNvSpPr/>
          <p:nvPr/>
        </p:nvSpPr>
        <p:spPr>
          <a:xfrm>
            <a:off x="8915400" y="1691640"/>
            <a:ext cx="2697480" cy="685800"/>
          </a:xfrm>
          <a:prstGeom prst="roundRect">
            <a:avLst>
              <a:gd name="adj" fmla="val 16000"/>
            </a:avLst>
          </a:prstGeom>
          <a:solidFill>
            <a:srgbClr val="1417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FFFFFF"/>
                </a:solidFill>
                <a:latin typeface="Courier New"/>
              </a:rPr>
              <a:t>pipeline.py</a:t>
            </a:r>
          </a:p>
          <a:p>
            <a:pPr algn="ctr"/>
            <a:r>
              <a:rPr sz="1100">
                <a:solidFill>
                  <a:srgbClr val="F2A01B"/>
                </a:solidFill>
                <a:latin typeface="Arial"/>
              </a:rPr>
              <a:t>compile_source · run_source</a:t>
            </a:r>
          </a:p>
        </p:txBody>
      </p:sp>
      <p:sp>
        <p:nvSpPr>
          <p:cNvPr id="31" name="Rounded Rectangle 30"/>
          <p:cNvSpPr/>
          <p:nvPr/>
        </p:nvSpPr>
        <p:spPr>
          <a:xfrm>
            <a:off x="8915400" y="2788920"/>
            <a:ext cx="2697480" cy="685800"/>
          </a:xfrm>
          <a:prstGeom prst="roundRect">
            <a:avLst>
              <a:gd name="adj" fmla="val 16000"/>
            </a:avLst>
          </a:prstGeom>
          <a:solidFill>
            <a:srgbClr val="23284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ourier New"/>
              </a:rPr>
              <a:t>api.py  (FastAPI)</a:t>
            </a:r>
          </a:p>
          <a:p>
            <a:pPr algn="ctr"/>
            <a:r>
              <a:rPr sz="1100">
                <a:solidFill>
                  <a:srgbClr val="C9CDE0"/>
                </a:solidFill>
                <a:latin typeface="Arial"/>
              </a:rPr>
              <a:t>/compile  /run  /examples</a:t>
            </a:r>
          </a:p>
        </p:txBody>
      </p:sp>
      <p:sp>
        <p:nvSpPr>
          <p:cNvPr id="32" name="Rounded Rectangle 31"/>
          <p:cNvSpPr/>
          <p:nvPr/>
        </p:nvSpPr>
        <p:spPr>
          <a:xfrm>
            <a:off x="8915400" y="3886200"/>
            <a:ext cx="2697480" cy="685800"/>
          </a:xfrm>
          <a:prstGeom prst="roundRect">
            <a:avLst>
              <a:gd name="adj" fmla="val 16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Courier New"/>
              </a:rPr>
              <a:t>web/  editor</a:t>
            </a:r>
          </a:p>
          <a:p>
            <a:pPr algn="ctr"/>
            <a:r>
              <a:rPr sz="1100">
                <a:solidFill>
                  <a:srgbClr val="5E6480"/>
                </a:solidFill>
                <a:latin typeface="Arial"/>
              </a:rPr>
              <a:t>CodeMirror · Mermaid · tabs</a:t>
            </a:r>
          </a:p>
        </p:txBody>
      </p:sp>
      <p:sp>
        <p:nvSpPr>
          <p:cNvPr id="33" name="Rounded Rectangle 32"/>
          <p:cNvSpPr/>
          <p:nvPr/>
        </p:nvSpPr>
        <p:spPr>
          <a:xfrm>
            <a:off x="8915400" y="4846320"/>
            <a:ext cx="2697480" cy="685800"/>
          </a:xfrm>
          <a:prstGeom prst="roundRect">
            <a:avLst>
              <a:gd name="adj" fmla="val 16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Courier New"/>
              </a:rPr>
              <a:t>__main__.py  CLI</a:t>
            </a:r>
          </a:p>
          <a:p>
            <a:pPr algn="ctr"/>
            <a:r>
              <a:rPr sz="1100">
                <a:solidFill>
                  <a:srgbClr val="5E6480"/>
                </a:solidFill>
                <a:latin typeface="Arial"/>
              </a:rPr>
              <a:t>compile · run · serve</a:t>
            </a:r>
          </a:p>
        </p:txBody>
      </p:sp>
      <p:cxnSp>
        <p:nvCxnSpPr>
          <p:cNvPr id="34" name="Connector 33"/>
          <p:cNvCxnSpPr/>
          <p:nvPr/>
        </p:nvCxnSpPr>
        <p:spPr>
          <a:xfrm flipV="1">
            <a:off x="10259568" y="2395728"/>
            <a:ext cx="0" cy="393192"/>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259568" y="3493008"/>
            <a:ext cx="0" cy="393192"/>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229600" y="2029968"/>
            <a:ext cx="667512"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5760720"/>
            <a:ext cx="11064240" cy="365760"/>
          </a:xfrm>
          <a:prstGeom prst="rect">
            <a:avLst/>
          </a:prstGeom>
          <a:noFill/>
        </p:spPr>
        <p:txBody>
          <a:bodyPr wrap="square" lIns="0" tIns="0" rIns="0" bIns="0" anchor="t">
            <a:spAutoFit/>
          </a:bodyPr>
          <a:lstStyle/>
          <a:p>
            <a:pPr algn="l"/>
            <a:r>
              <a:rPr sz="1300" b="0" i="0">
                <a:solidFill>
                  <a:srgbClr val="5E6480"/>
                </a:solidFill>
                <a:latin typeface="Arial"/>
              </a:rPr>
              <a:t>Shared: diagnostics.py (one diagnostic format for CLI, API and squiggles) · tools.py (annotation table) · ir.py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10</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STAGES 1 TO 3</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Front end: lexer, parser, semantic analysis</a:t>
            </a:r>
          </a:p>
        </p:txBody>
      </p:sp>
      <p:sp>
        <p:nvSpPr>
          <p:cNvPr id="5" name="Rounded Rectangle 4"/>
          <p:cNvSpPr/>
          <p:nvPr/>
        </p:nvSpPr>
        <p:spPr>
          <a:xfrm>
            <a:off x="548640" y="1600200"/>
            <a:ext cx="11064240" cy="1965960"/>
          </a:xfrm>
          <a:prstGeom prst="roundRect">
            <a:avLst>
              <a:gd name="adj" fmla="val 5581"/>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37360"/>
            <a:ext cx="10607040" cy="274320"/>
          </a:xfrm>
          <a:prstGeom prst="rect">
            <a:avLst/>
          </a:prstGeom>
          <a:noFill/>
        </p:spPr>
        <p:txBody>
          <a:bodyPr wrap="square" lIns="0" tIns="0" rIns="0" bIns="0" anchor="t">
            <a:spAutoFit/>
          </a:bodyPr>
          <a:lstStyle/>
          <a:p>
            <a:pPr algn="l"/>
            <a:r>
              <a:rPr sz="1100" b="1" i="0">
                <a:solidFill>
                  <a:srgbClr val="F2A01B"/>
                </a:solidFill>
                <a:latin typeface="Arial"/>
              </a:rPr>
              <a:t>Grammar excerpt (full EBNF in docs/PRD.md)</a:t>
            </a:r>
          </a:p>
        </p:txBody>
      </p:sp>
      <p:sp>
        <p:nvSpPr>
          <p:cNvPr id="7" name="TextBox 6"/>
          <p:cNvSpPr txBox="1"/>
          <p:nvPr/>
        </p:nvSpPr>
        <p:spPr>
          <a:xfrm>
            <a:off x="777240" y="2057400"/>
            <a:ext cx="10607040" cy="1371600"/>
          </a:xfrm>
          <a:prstGeom prst="rect">
            <a:avLst/>
          </a:prstGeom>
          <a:noFill/>
        </p:spPr>
        <p:txBody>
          <a:bodyPr wrap="square" lIns="0" tIns="0" rIns="0" bIns="0" anchor="t">
            <a:spAutoFit/>
          </a:bodyPr>
          <a:lstStyle/>
          <a:p>
            <a:pPr algn="l"/>
            <a:r>
              <a:rPr sz="1300" b="0" i="0">
                <a:solidFill>
                  <a:srgbClr val="E6E8F2"/>
                </a:solidFill>
                <a:latin typeface="Courier New"/>
              </a:rPr>
              <a:t>program   = "agent" IDENT "{" { permit } budget task { task } "}" ;</a:t>
            </a:r>
          </a:p>
          <a:p>
            <a:pPr algn="l"/>
            <a:r>
              <a:rPr sz="1300" b="0" i="0">
                <a:solidFill>
                  <a:srgbClr val="E6E8F2"/>
                </a:solidFill>
                <a:latin typeface="Courier New"/>
              </a:rPr>
              <a:t>statement = let | if | repeat | return | expr ";" ;</a:t>
            </a:r>
          </a:p>
          <a:p>
            <a:pPr algn="l"/>
            <a:r>
              <a:rPr sz="1300" b="0" i="0">
                <a:solidFill>
                  <a:srgbClr val="F2A01B"/>
                </a:solidFill>
                <a:latin typeface="Courier New"/>
              </a:rPr>
              <a:t>repeat    = "repeat" ( INT | IDENT ) block ;</a:t>
            </a:r>
          </a:p>
          <a:p>
            <a:pPr algn="l"/>
            <a:r>
              <a:rPr sz="1300" b="0" i="0">
                <a:solidFill>
                  <a:srgbClr val="E6E8F2"/>
                </a:solidFill>
                <a:latin typeface="Courier New"/>
              </a:rPr>
              <a:t>equality  = relational { ("==" | "!=") relational } ;</a:t>
            </a:r>
          </a:p>
          <a:p>
            <a:pPr algn="l"/>
            <a:r>
              <a:rPr sz="1300" b="0" i="0">
                <a:solidFill>
                  <a:srgbClr val="E6E8F2"/>
                </a:solidFill>
                <a:latin typeface="Courier New"/>
              </a:rPr>
              <a:t>additive  = term { ("+" | "-") term } ;</a:t>
            </a:r>
          </a:p>
          <a:p>
            <a:pPr algn="l"/>
            <a:r>
              <a:rPr sz="1300" b="0" i="0">
                <a:solidFill>
                  <a:srgbClr val="E6E8F2"/>
                </a:solidFill>
                <a:latin typeface="Courier New"/>
              </a:rPr>
              <a:t>postfix   = primary { "[" expr "]" } ;</a:t>
            </a:r>
          </a:p>
        </p:txBody>
      </p:sp>
      <p:graphicFrame>
        <p:nvGraphicFramePr>
          <p:cNvPr id="8" name="Table 7"/>
          <p:cNvGraphicFramePr>
            <a:graphicFrameLocks noGrp="1"/>
          </p:cNvGraphicFramePr>
          <p:nvPr/>
        </p:nvGraphicFramePr>
        <p:xfrm>
          <a:off x="548640" y="3794760"/>
          <a:ext cx="11064240" cy="2432304"/>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6217920">
                  <a:extLst>
                    <a:ext uri="{9D8B030D-6E8A-4147-A177-3AD203B41FA5}">
                      <a16:colId xmlns:a16="http://schemas.microsoft.com/office/drawing/2014/main" val="20003"/>
                    </a:ext>
                  </a:extLst>
                </a:gridCol>
              </a:tblGrid>
              <a:tr h="347472">
                <a:tc>
                  <a:txBody>
                    <a:bodyPr/>
                    <a:lstStyle/>
                    <a:p>
                      <a:r>
                        <a:rPr sz="1100" b="1">
                          <a:solidFill>
                            <a:srgbClr val="FFFFFF"/>
                          </a:solidFill>
                          <a:latin typeface="Arial"/>
                        </a:rPr>
                        <a:t>Code</a:t>
                      </a:r>
                    </a:p>
                  </a:txBody>
                  <a:tcPr marL="73152" marR="73152" marT="27432" marB="27432" anchor="ctr">
                    <a:solidFill>
                      <a:srgbClr val="14172E"/>
                    </a:solidFill>
                  </a:tcPr>
                </a:tc>
                <a:tc>
                  <a:txBody>
                    <a:bodyPr/>
                    <a:lstStyle/>
                    <a:p>
                      <a:r>
                        <a:rPr sz="1100" b="1">
                          <a:solidFill>
                            <a:srgbClr val="FFFFFF"/>
                          </a:solidFill>
                          <a:latin typeface="Arial"/>
                        </a:rPr>
                        <a:t>Phase</a:t>
                      </a:r>
                    </a:p>
                  </a:txBody>
                  <a:tcPr marL="73152" marR="73152" marT="27432" marB="27432" anchor="ctr">
                    <a:solidFill>
                      <a:srgbClr val="14172E"/>
                    </a:solidFill>
                  </a:tcPr>
                </a:tc>
                <a:tc>
                  <a:txBody>
                    <a:bodyPr/>
                    <a:lstStyle/>
                    <a:p>
                      <a:r>
                        <a:rPr sz="1100" b="1">
                          <a:solidFill>
                            <a:srgbClr val="FFFFFF"/>
                          </a:solidFill>
                          <a:latin typeface="Arial"/>
                        </a:rPr>
                        <a:t>Demo program</a:t>
                      </a:r>
                    </a:p>
                  </a:txBody>
                  <a:tcPr marL="73152" marR="73152" marT="27432" marB="27432" anchor="ctr">
                    <a:solidFill>
                      <a:srgbClr val="14172E"/>
                    </a:solidFill>
                  </a:tcPr>
                </a:tc>
                <a:tc>
                  <a:txBody>
                    <a:bodyPr/>
                    <a:lstStyle/>
                    <a:p>
                      <a:r>
                        <a:rPr sz="1100" b="1">
                          <a:solidFill>
                            <a:srgbClr val="FFFFFF"/>
                          </a:solidFill>
                          <a:latin typeface="Arial"/>
                        </a:rPr>
                        <a:t>Real diagnostic</a:t>
                      </a:r>
                    </a:p>
                  </a:txBody>
                  <a:tcPr marL="73152" marR="73152" marT="27432" marB="27432" anchor="ctr">
                    <a:solidFill>
                      <a:srgbClr val="14172E"/>
                    </a:solidFill>
                  </a:tcPr>
                </a:tc>
                <a:extLst>
                  <a:ext uri="{0D108BD9-81ED-4DB2-BD59-A6C34878D82A}">
                    <a16:rowId xmlns:a16="http://schemas.microsoft.com/office/drawing/2014/main" val="10000"/>
                  </a:ext>
                </a:extLst>
              </a:tr>
              <a:tr h="347472">
                <a:tc>
                  <a:txBody>
                    <a:bodyPr/>
                    <a:lstStyle/>
                    <a:p>
                      <a:r>
                        <a:rPr sz="1100" b="0">
                          <a:solidFill>
                            <a:srgbClr val="1F233B"/>
                          </a:solidFill>
                          <a:latin typeface="Courier New"/>
                        </a:rPr>
                        <a:t>E101</a:t>
                      </a:r>
                    </a:p>
                  </a:txBody>
                  <a:tcPr marL="73152" marR="73152" marT="27432" marB="27432" anchor="ctr">
                    <a:solidFill>
                      <a:srgbClr val="FFFFFF"/>
                    </a:solidFill>
                  </a:tcPr>
                </a:tc>
                <a:tc>
                  <a:txBody>
                    <a:bodyPr/>
                    <a:lstStyle/>
                    <a:p>
                      <a:r>
                        <a:rPr sz="1100" b="0">
                          <a:solidFill>
                            <a:srgbClr val="1F233B"/>
                          </a:solidFill>
                          <a:latin typeface="Arial"/>
                        </a:rPr>
                        <a:t>lexer</a:t>
                      </a:r>
                    </a:p>
                  </a:txBody>
                  <a:tcPr marL="73152" marR="73152" marT="27432" marB="27432" anchor="ctr">
                    <a:solidFill>
                      <a:srgbClr val="FFFFFF"/>
                    </a:solidFill>
                  </a:tcPr>
                </a:tc>
                <a:tc>
                  <a:txBody>
                    <a:bodyPr/>
                    <a:lstStyle/>
                    <a:p>
                      <a:r>
                        <a:rPr sz="1100" b="0">
                          <a:solidFill>
                            <a:srgbClr val="1F233B"/>
                          </a:solidFill>
                          <a:latin typeface="Courier New"/>
                        </a:rPr>
                        <a:t>lex_unterminated.as</a:t>
                      </a:r>
                    </a:p>
                  </a:txBody>
                  <a:tcPr marL="73152" marR="73152" marT="27432" marB="27432" anchor="ctr">
                    <a:solidFill>
                      <a:srgbClr val="FFFFFF"/>
                    </a:solidFill>
                  </a:tcPr>
                </a:tc>
                <a:tc>
                  <a:txBody>
                    <a:bodyPr/>
                    <a:lstStyle/>
                    <a:p>
                      <a:r>
                        <a:rPr sz="1100" b="0">
                          <a:solidFill>
                            <a:srgbClr val="1F233B"/>
                          </a:solidFill>
                          <a:latin typeface="Arial"/>
                        </a:rPr>
                        <a:t>6:13  unterminated string: missing closing '"' before end of line</a:t>
                      </a:r>
                    </a:p>
                  </a:txBody>
                  <a:tcPr marL="73152" marR="73152" marT="27432" marB="27432" anchor="ctr">
                    <a:solidFill>
                      <a:srgbClr val="FFFFFF"/>
                    </a:solidFill>
                  </a:tcPr>
                </a:tc>
                <a:extLst>
                  <a:ext uri="{0D108BD9-81ED-4DB2-BD59-A6C34878D82A}">
                    <a16:rowId xmlns:a16="http://schemas.microsoft.com/office/drawing/2014/main" val="10001"/>
                  </a:ext>
                </a:extLst>
              </a:tr>
              <a:tr h="347472">
                <a:tc>
                  <a:txBody>
                    <a:bodyPr/>
                    <a:lstStyle/>
                    <a:p>
                      <a:r>
                        <a:rPr sz="1100" b="0">
                          <a:solidFill>
                            <a:srgbClr val="1F233B"/>
                          </a:solidFill>
                          <a:latin typeface="Courier New"/>
                        </a:rPr>
                        <a:t>E201</a:t>
                      </a:r>
                    </a:p>
                  </a:txBody>
                  <a:tcPr marL="73152" marR="73152" marT="27432" marB="27432" anchor="ctr">
                    <a:solidFill>
                      <a:srgbClr val="F4F5F9"/>
                    </a:solidFill>
                  </a:tcPr>
                </a:tc>
                <a:tc>
                  <a:txBody>
                    <a:bodyPr/>
                    <a:lstStyle/>
                    <a:p>
                      <a:r>
                        <a:rPr sz="1100" b="0">
                          <a:solidFill>
                            <a:srgbClr val="1F233B"/>
                          </a:solidFill>
                          <a:latin typeface="Arial"/>
                        </a:rPr>
                        <a:t>parser</a:t>
                      </a:r>
                    </a:p>
                  </a:txBody>
                  <a:tcPr marL="73152" marR="73152" marT="27432" marB="27432" anchor="ctr">
                    <a:solidFill>
                      <a:srgbClr val="F4F5F9"/>
                    </a:solidFill>
                  </a:tcPr>
                </a:tc>
                <a:tc>
                  <a:txBody>
                    <a:bodyPr/>
                    <a:lstStyle/>
                    <a:p>
                      <a:r>
                        <a:rPr sz="1100" b="0">
                          <a:solidFill>
                            <a:srgbClr val="1F233B"/>
                          </a:solidFill>
                          <a:latin typeface="Courier New"/>
                        </a:rPr>
                        <a:t>syntax_missing_semicolon.as</a:t>
                      </a:r>
                    </a:p>
                  </a:txBody>
                  <a:tcPr marL="73152" marR="73152" marT="27432" marB="27432" anchor="ctr">
                    <a:solidFill>
                      <a:srgbClr val="F4F5F9"/>
                    </a:solidFill>
                  </a:tcPr>
                </a:tc>
                <a:tc>
                  <a:txBody>
                    <a:bodyPr/>
                    <a:lstStyle/>
                    <a:p>
                      <a:r>
                        <a:rPr sz="1100" b="0">
                          <a:solidFill>
                            <a:srgbClr val="1F233B"/>
                          </a:solidFill>
                          <a:latin typeface="Arial"/>
                        </a:rPr>
                        <a:t>6:30  expected ';', found 'return'</a:t>
                      </a:r>
                    </a:p>
                  </a:txBody>
                  <a:tcPr marL="73152" marR="73152" marT="27432" marB="27432" anchor="ctr">
                    <a:solidFill>
                      <a:srgbClr val="F4F5F9"/>
                    </a:solidFill>
                  </a:tcPr>
                </a:tc>
                <a:extLst>
                  <a:ext uri="{0D108BD9-81ED-4DB2-BD59-A6C34878D82A}">
                    <a16:rowId xmlns:a16="http://schemas.microsoft.com/office/drawing/2014/main" val="10002"/>
                  </a:ext>
                </a:extLst>
              </a:tr>
              <a:tr h="347472">
                <a:tc>
                  <a:txBody>
                    <a:bodyPr/>
                    <a:lstStyle/>
                    <a:p>
                      <a:r>
                        <a:rPr sz="1100" b="0">
                          <a:solidFill>
                            <a:srgbClr val="1F233B"/>
                          </a:solidFill>
                          <a:latin typeface="Courier New"/>
                        </a:rPr>
                        <a:t>E301</a:t>
                      </a:r>
                    </a:p>
                  </a:txBody>
                  <a:tcPr marL="73152" marR="73152" marT="27432" marB="27432" anchor="ctr">
                    <a:solidFill>
                      <a:srgbClr val="FFFFFF"/>
                    </a:solidFill>
                  </a:tcPr>
                </a:tc>
                <a:tc>
                  <a:txBody>
                    <a:bodyPr/>
                    <a:lstStyle/>
                    <a:p>
                      <a:r>
                        <a:rPr sz="1100" b="0">
                          <a:solidFill>
                            <a:srgbClr val="1F233B"/>
                          </a:solidFill>
                          <a:latin typeface="Arial"/>
                        </a:rPr>
                        <a:t>semantic</a:t>
                      </a:r>
                    </a:p>
                  </a:txBody>
                  <a:tcPr marL="73152" marR="73152" marT="27432" marB="27432" anchor="ctr">
                    <a:solidFill>
                      <a:srgbClr val="FFFFFF"/>
                    </a:solidFill>
                  </a:tcPr>
                </a:tc>
                <a:tc>
                  <a:txBody>
                    <a:bodyPr/>
                    <a:lstStyle/>
                    <a:p>
                      <a:r>
                        <a:rPr sz="1100" b="0">
                          <a:solidFill>
                            <a:srgbClr val="1F233B"/>
                          </a:solidFill>
                          <a:latin typeface="Courier New"/>
                        </a:rPr>
                        <a:t>sem_undeclared.as</a:t>
                      </a:r>
                    </a:p>
                  </a:txBody>
                  <a:tcPr marL="73152" marR="73152" marT="27432" marB="27432" anchor="ctr">
                    <a:solidFill>
                      <a:srgbClr val="FFFFFF"/>
                    </a:solidFill>
                  </a:tcPr>
                </a:tc>
                <a:tc>
                  <a:txBody>
                    <a:bodyPr/>
                    <a:lstStyle/>
                    <a:p>
                      <a:r>
                        <a:rPr sz="1100" b="0">
                          <a:solidFill>
                            <a:srgbClr val="1F233B"/>
                          </a:solidFill>
                          <a:latin typeface="Arial"/>
                        </a:rPr>
                        <a:t>6:12  undeclared variable 'x'</a:t>
                      </a:r>
                    </a:p>
                  </a:txBody>
                  <a:tcPr marL="73152" marR="73152" marT="27432" marB="27432" anchor="ctr">
                    <a:solidFill>
                      <a:srgbClr val="FFFFFF"/>
                    </a:solidFill>
                  </a:tcPr>
                </a:tc>
                <a:extLst>
                  <a:ext uri="{0D108BD9-81ED-4DB2-BD59-A6C34878D82A}">
                    <a16:rowId xmlns:a16="http://schemas.microsoft.com/office/drawing/2014/main" val="10003"/>
                  </a:ext>
                </a:extLst>
              </a:tr>
              <a:tr h="347472">
                <a:tc>
                  <a:txBody>
                    <a:bodyPr/>
                    <a:lstStyle/>
                    <a:p>
                      <a:r>
                        <a:rPr sz="1100" b="0">
                          <a:solidFill>
                            <a:srgbClr val="1F233B"/>
                          </a:solidFill>
                          <a:latin typeface="Courier New"/>
                        </a:rPr>
                        <a:t>E303</a:t>
                      </a:r>
                    </a:p>
                  </a:txBody>
                  <a:tcPr marL="73152" marR="73152" marT="27432" marB="27432" anchor="ctr">
                    <a:solidFill>
                      <a:srgbClr val="F4F5F9"/>
                    </a:solidFill>
                  </a:tcPr>
                </a:tc>
                <a:tc>
                  <a:txBody>
                    <a:bodyPr/>
                    <a:lstStyle/>
                    <a:p>
                      <a:r>
                        <a:rPr sz="1100" b="0">
                          <a:solidFill>
                            <a:srgbClr val="1F233B"/>
                          </a:solidFill>
                          <a:latin typeface="Arial"/>
                        </a:rPr>
                        <a:t>semantic</a:t>
                      </a:r>
                    </a:p>
                  </a:txBody>
                  <a:tcPr marL="73152" marR="73152" marT="27432" marB="27432" anchor="ctr">
                    <a:solidFill>
                      <a:srgbClr val="F4F5F9"/>
                    </a:solidFill>
                  </a:tcPr>
                </a:tc>
                <a:tc>
                  <a:txBody>
                    <a:bodyPr/>
                    <a:lstStyle/>
                    <a:p>
                      <a:r>
                        <a:rPr sz="1100" b="0">
                          <a:solidFill>
                            <a:srgbClr val="1F233B"/>
                          </a:solidFill>
                          <a:latin typeface="Courier New"/>
                        </a:rPr>
                        <a:t>sem_type_mismatch.as</a:t>
                      </a:r>
                    </a:p>
                  </a:txBody>
                  <a:tcPr marL="73152" marR="73152" marT="27432" marB="27432" anchor="ctr">
                    <a:solidFill>
                      <a:srgbClr val="F4F5F9"/>
                    </a:solidFill>
                  </a:tcPr>
                </a:tc>
                <a:tc>
                  <a:txBody>
                    <a:bodyPr/>
                    <a:lstStyle/>
                    <a:p>
                      <a:r>
                        <a:rPr sz="1100" b="0">
                          <a:solidFill>
                            <a:srgbClr val="1F233B"/>
                          </a:solidFill>
                          <a:latin typeface="Arial"/>
                        </a:rPr>
                        <a:t>6:23  argument 1 of web_search must be string, found int</a:t>
                      </a:r>
                    </a:p>
                  </a:txBody>
                  <a:tcPr marL="73152" marR="73152" marT="27432" marB="27432" anchor="ctr">
                    <a:solidFill>
                      <a:srgbClr val="F4F5F9"/>
                    </a:solidFill>
                  </a:tcPr>
                </a:tc>
                <a:extLst>
                  <a:ext uri="{0D108BD9-81ED-4DB2-BD59-A6C34878D82A}">
                    <a16:rowId xmlns:a16="http://schemas.microsoft.com/office/drawing/2014/main" val="10004"/>
                  </a:ext>
                </a:extLst>
              </a:tr>
              <a:tr h="347472">
                <a:tc>
                  <a:txBody>
                    <a:bodyPr/>
                    <a:lstStyle/>
                    <a:p>
                      <a:r>
                        <a:rPr sz="1100" b="0">
                          <a:solidFill>
                            <a:srgbClr val="1F233B"/>
                          </a:solidFill>
                          <a:latin typeface="Courier New"/>
                        </a:rPr>
                        <a:t>E305</a:t>
                      </a:r>
                    </a:p>
                  </a:txBody>
                  <a:tcPr marL="73152" marR="73152" marT="27432" marB="27432" anchor="ctr">
                    <a:solidFill>
                      <a:srgbClr val="FFFFFF"/>
                    </a:solidFill>
                  </a:tcPr>
                </a:tc>
                <a:tc>
                  <a:txBody>
                    <a:bodyPr/>
                    <a:lstStyle/>
                    <a:p>
                      <a:r>
                        <a:rPr sz="1100" b="0">
                          <a:solidFill>
                            <a:srgbClr val="1F233B"/>
                          </a:solidFill>
                          <a:latin typeface="Arial"/>
                        </a:rPr>
                        <a:t>semantic</a:t>
                      </a:r>
                    </a:p>
                  </a:txBody>
                  <a:tcPr marL="73152" marR="73152" marT="27432" marB="27432" anchor="ctr">
                    <a:solidFill>
                      <a:srgbClr val="FFFFFF"/>
                    </a:solidFill>
                  </a:tcPr>
                </a:tc>
                <a:tc>
                  <a:txBody>
                    <a:bodyPr/>
                    <a:lstStyle/>
                    <a:p>
                      <a:r>
                        <a:rPr sz="1100" b="0">
                          <a:solidFill>
                            <a:srgbClr val="1F233B"/>
                          </a:solidFill>
                          <a:latin typeface="Courier New"/>
                        </a:rPr>
                        <a:t>sem_not_permitted.as</a:t>
                      </a:r>
                    </a:p>
                  </a:txBody>
                  <a:tcPr marL="73152" marR="73152" marT="27432" marB="27432" anchor="ctr">
                    <a:solidFill>
                      <a:srgbClr val="FFFFFF"/>
                    </a:solidFill>
                  </a:tcPr>
                </a:tc>
                <a:tc>
                  <a:txBody>
                    <a:bodyPr/>
                    <a:lstStyle/>
                    <a:p>
                      <a:r>
                        <a:rPr sz="1100" b="0">
                          <a:solidFill>
                            <a:srgbClr val="1F233B"/>
                          </a:solidFill>
                          <a:latin typeface="Arial"/>
                        </a:rPr>
                        <a:t>6:16  tool 'read_file' is not permitted; add it to a permit declaration</a:t>
                      </a:r>
                    </a:p>
                  </a:txBody>
                  <a:tcPr marL="73152" marR="73152" marT="27432" marB="27432" anchor="ctr">
                    <a:solidFill>
                      <a:srgbClr val="FFFFFF"/>
                    </a:solidFill>
                  </a:tcPr>
                </a:tc>
                <a:extLst>
                  <a:ext uri="{0D108BD9-81ED-4DB2-BD59-A6C34878D82A}">
                    <a16:rowId xmlns:a16="http://schemas.microsoft.com/office/drawing/2014/main" val="10005"/>
                  </a:ext>
                </a:extLst>
              </a:tr>
              <a:tr h="347472">
                <a:tc>
                  <a:txBody>
                    <a:bodyPr/>
                    <a:lstStyle/>
                    <a:p>
                      <a:r>
                        <a:rPr sz="1100" b="0">
                          <a:solidFill>
                            <a:srgbClr val="1F233B"/>
                          </a:solidFill>
                          <a:latin typeface="Courier New"/>
                        </a:rPr>
                        <a:t>E306</a:t>
                      </a:r>
                    </a:p>
                  </a:txBody>
                  <a:tcPr marL="73152" marR="73152" marT="27432" marB="27432" anchor="ctr">
                    <a:solidFill>
                      <a:srgbClr val="F4F5F9"/>
                    </a:solidFill>
                  </a:tcPr>
                </a:tc>
                <a:tc>
                  <a:txBody>
                    <a:bodyPr/>
                    <a:lstStyle/>
                    <a:p>
                      <a:r>
                        <a:rPr sz="1100" b="0">
                          <a:solidFill>
                            <a:srgbClr val="1F233B"/>
                          </a:solidFill>
                          <a:latin typeface="Arial"/>
                        </a:rPr>
                        <a:t>semantic</a:t>
                      </a:r>
                    </a:p>
                  </a:txBody>
                  <a:tcPr marL="73152" marR="73152" marT="27432" marB="27432" anchor="ctr">
                    <a:solidFill>
                      <a:srgbClr val="F4F5F9"/>
                    </a:solidFill>
                  </a:tcPr>
                </a:tc>
                <a:tc>
                  <a:txBody>
                    <a:bodyPr/>
                    <a:lstStyle/>
                    <a:p>
                      <a:r>
                        <a:rPr sz="1100" b="0">
                          <a:solidFill>
                            <a:srgbClr val="1F233B"/>
                          </a:solidFill>
                          <a:latin typeface="Courier New"/>
                        </a:rPr>
                        <a:t>sem_budget.as</a:t>
                      </a:r>
                    </a:p>
                  </a:txBody>
                  <a:tcPr marL="73152" marR="73152" marT="27432" marB="27432" anchor="ctr">
                    <a:solidFill>
                      <a:srgbClr val="F4F5F9"/>
                    </a:solidFill>
                  </a:tcPr>
                </a:tc>
                <a:tc>
                  <a:txBody>
                    <a:bodyPr/>
                    <a:lstStyle/>
                    <a:p>
                      <a:r>
                        <a:rPr sz="1100" b="0">
                          <a:solidFill>
                            <a:srgbClr val="1F233B"/>
                          </a:solidFill>
                          <a:latin typeface="Arial"/>
                        </a:rPr>
                        <a:t>9:12  task 'dig' may make 4 tool calls on its worst path, but the budget is 3</a:t>
                      </a:r>
                    </a:p>
                  </a:txBody>
                  <a:tcPr marL="73152" marR="73152" marT="27432" marB="27432" anchor="ctr">
                    <a:solidFill>
                      <a:srgbClr val="F4F5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11</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STAGE 4</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IR and control-flow graph</a:t>
            </a:r>
          </a:p>
        </p:txBody>
      </p:sp>
      <p:sp>
        <p:nvSpPr>
          <p:cNvPr id="5" name="Rounded Rectangle 4"/>
          <p:cNvSpPr/>
          <p:nvPr/>
        </p:nvSpPr>
        <p:spPr>
          <a:xfrm>
            <a:off x="548640" y="1600200"/>
            <a:ext cx="5669280" cy="4526280"/>
          </a:xfrm>
          <a:prstGeom prst="roundRect">
            <a:avLst>
              <a:gd name="adj" fmla="val 2424"/>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37360"/>
            <a:ext cx="5212080" cy="274320"/>
          </a:xfrm>
          <a:prstGeom prst="rect">
            <a:avLst/>
          </a:prstGeom>
          <a:noFill/>
        </p:spPr>
        <p:txBody>
          <a:bodyPr wrap="square" lIns="0" tIns="0" rIns="0" bIns="0" anchor="t">
            <a:spAutoFit/>
          </a:bodyPr>
          <a:lstStyle/>
          <a:p>
            <a:pPr algn="l"/>
            <a:r>
              <a:rPr sz="1100" b="1" i="0">
                <a:solidFill>
                  <a:srgbClr val="F2A01B"/>
                </a:solidFill>
                <a:latin typeface="Arial"/>
              </a:rPr>
              <a:t>compile --phase ir  (valid_report.as, real output)</a:t>
            </a:r>
          </a:p>
        </p:txBody>
      </p:sp>
      <p:sp>
        <p:nvSpPr>
          <p:cNvPr id="7" name="TextBox 6"/>
          <p:cNvSpPr txBox="1"/>
          <p:nvPr/>
        </p:nvSpPr>
        <p:spPr>
          <a:xfrm>
            <a:off x="777240" y="2057400"/>
            <a:ext cx="5212080" cy="3931920"/>
          </a:xfrm>
          <a:prstGeom prst="rect">
            <a:avLst/>
          </a:prstGeom>
          <a:noFill/>
        </p:spPr>
        <p:txBody>
          <a:bodyPr wrap="square" lIns="0" tIns="0" rIns="0" bIns="0" anchor="t">
            <a:spAutoFit/>
          </a:bodyPr>
          <a:lstStyle/>
          <a:p>
            <a:pPr algn="l"/>
            <a:r>
              <a:rPr sz="1300" b="0" i="0">
                <a:solidFill>
                  <a:srgbClr val="E6E8F2"/>
                </a:solidFill>
                <a:latin typeface="Courier New"/>
              </a:rPr>
              <a:t>task report(topic: string) -&gt; bool</a:t>
            </a:r>
          </a:p>
          <a:p>
            <a:pPr algn="l"/>
            <a:r>
              <a:rPr sz="1300" b="0" i="0">
                <a:solidFill>
                  <a:srgbClr val="E6E8F2"/>
                </a:solidFill>
                <a:latin typeface="Courier New"/>
              </a:rPr>
              <a:t>    raw = call web_search(topic)</a:t>
            </a:r>
          </a:p>
          <a:p>
            <a:pPr algn="l"/>
            <a:r>
              <a:rPr sz="1300" b="0" i="0">
                <a:solidFill>
                  <a:srgbClr val="E6E8F2"/>
                </a:solidFill>
                <a:latin typeface="Courier New"/>
              </a:rPr>
              <a:t>    t1 = raw[0]</a:t>
            </a:r>
          </a:p>
          <a:p>
            <a:pPr algn="l"/>
            <a:r>
              <a:rPr sz="1300" b="0" i="0">
                <a:solidFill>
                  <a:srgbClr val="E6E8F2"/>
                </a:solidFill>
                <a:latin typeface="Courier New"/>
              </a:rPr>
              <a:t>    clean = call sanitize(t1)</a:t>
            </a:r>
          </a:p>
          <a:p>
            <a:pPr algn="l"/>
            <a:r>
              <a:rPr sz="1300" b="0" i="0">
                <a:solidFill>
                  <a:srgbClr val="E6E8F2"/>
                </a:solidFill>
                <a:latin typeface="Courier New"/>
              </a:rPr>
              <a:t>    t2 = "Summarize: " + clean</a:t>
            </a:r>
          </a:p>
          <a:p>
            <a:pPr algn="l"/>
            <a:r>
              <a:rPr sz="1300" b="0" i="0">
                <a:solidFill>
                  <a:srgbClr val="E6E8F2"/>
                </a:solidFill>
                <a:latin typeface="Courier New"/>
              </a:rPr>
              <a:t>    summary = call llm(t2)</a:t>
            </a:r>
          </a:p>
          <a:p>
            <a:pPr algn="l"/>
            <a:r>
              <a:rPr sz="1300" b="0" i="0">
                <a:solidFill>
                  <a:srgbClr val="E6E8F2"/>
                </a:solidFill>
                <a:latin typeface="Courier New"/>
              </a:rPr>
              <a:t>    t3 = call confirm("Send report?")</a:t>
            </a:r>
          </a:p>
          <a:p>
            <a:pPr algn="l"/>
            <a:r>
              <a:rPr sz="1300" b="0" i="0">
                <a:solidFill>
                  <a:srgbClr val="E6E8F2"/>
                </a:solidFill>
                <a:latin typeface="Courier New"/>
              </a:rPr>
              <a:t>    if t3 goto L1 else L2</a:t>
            </a:r>
          </a:p>
          <a:p>
            <a:pPr algn="l"/>
            <a:r>
              <a:rPr sz="1300" b="0" i="0">
                <a:solidFill>
                  <a:srgbClr val="F2A01B"/>
                </a:solidFill>
                <a:latin typeface="Courier New"/>
              </a:rPr>
              <a:t>  L1:</a:t>
            </a:r>
          </a:p>
          <a:p>
            <a:pPr algn="l"/>
            <a:r>
              <a:rPr sz="1300" b="0" i="0">
                <a:solidFill>
                  <a:srgbClr val="E6E8F2"/>
                </a:solidFill>
                <a:latin typeface="Courier New"/>
              </a:rPr>
              <a:t>    t4 = call send_email("me@...", summary)</a:t>
            </a:r>
          </a:p>
          <a:p>
            <a:pPr algn="l"/>
            <a:r>
              <a:rPr sz="1300" b="0" i="0">
                <a:solidFill>
                  <a:srgbClr val="E6E8F2"/>
                </a:solidFill>
                <a:latin typeface="Courier New"/>
              </a:rPr>
              <a:t>    return t4</a:t>
            </a:r>
          </a:p>
          <a:p>
            <a:pPr algn="l"/>
            <a:r>
              <a:rPr sz="1300" b="0" i="0">
                <a:solidFill>
                  <a:srgbClr val="F2A01B"/>
                </a:solidFill>
                <a:latin typeface="Courier New"/>
              </a:rPr>
              <a:t>  L2:</a:t>
            </a:r>
          </a:p>
          <a:p>
            <a:pPr algn="l"/>
            <a:r>
              <a:rPr sz="1300" b="0" i="0">
                <a:solidFill>
                  <a:srgbClr val="E6E8F2"/>
                </a:solidFill>
                <a:latin typeface="Courier New"/>
              </a:rPr>
              <a:t>    return false</a:t>
            </a:r>
          </a:p>
        </p:txBody>
      </p:sp>
      <p:sp>
        <p:nvSpPr>
          <p:cNvPr id="8" name="Rounded Rectangle 7"/>
          <p:cNvSpPr/>
          <p:nvPr/>
        </p:nvSpPr>
        <p:spPr>
          <a:xfrm>
            <a:off x="7452360" y="1691640"/>
            <a:ext cx="3566160" cy="1417320"/>
          </a:xfrm>
          <a:prstGeom prst="roundRect">
            <a:avLst>
              <a:gd name="adj" fmla="val 7741"/>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a:solidFill>
                  <a:srgbClr val="1F233B"/>
                </a:solidFill>
                <a:latin typeface="Arial"/>
              </a:rPr>
              <a:t>entry</a:t>
            </a:r>
          </a:p>
          <a:p>
            <a:pPr algn="ctr"/>
            <a:r>
              <a:rPr sz="1100">
                <a:solidFill>
                  <a:srgbClr val="5E6480"/>
                </a:solidFill>
                <a:latin typeface="Arial"/>
              </a:rPr>
              <a:t>raw = web_search · t1 = raw[0] · clean = sanitize · summary = llm · t3 = confirm · if t3</a:t>
            </a:r>
          </a:p>
        </p:txBody>
      </p:sp>
      <p:sp>
        <p:nvSpPr>
          <p:cNvPr id="9" name="Rounded Rectangle 8"/>
          <p:cNvSpPr/>
          <p:nvPr/>
        </p:nvSpPr>
        <p:spPr>
          <a:xfrm>
            <a:off x="6675120" y="3886200"/>
            <a:ext cx="2377440" cy="1051560"/>
          </a:xfrm>
          <a:prstGeom prst="roundRect">
            <a:avLst>
              <a:gd name="adj" fmla="val 10434"/>
            </a:avLst>
          </a:prstGeom>
          <a:solidFill>
            <a:srgbClr val="DFF4EA"/>
          </a:solidFill>
          <a:ln w="19050">
            <a:solidFill>
              <a:srgbClr val="1F9D6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L1  (guard block)</a:t>
            </a:r>
          </a:p>
          <a:p>
            <a:pPr algn="ctr"/>
            <a:r>
              <a:rPr sz="1100">
                <a:solidFill>
                  <a:srgbClr val="5E6480"/>
                </a:solidFill>
                <a:latin typeface="Arial"/>
              </a:rPr>
              <a:t>t4 = send_email · return t4</a:t>
            </a:r>
          </a:p>
        </p:txBody>
      </p:sp>
      <p:sp>
        <p:nvSpPr>
          <p:cNvPr id="10" name="Rounded Rectangle 9"/>
          <p:cNvSpPr/>
          <p:nvPr/>
        </p:nvSpPr>
        <p:spPr>
          <a:xfrm>
            <a:off x="9464040" y="3886200"/>
            <a:ext cx="2148840" cy="1051560"/>
          </a:xfrm>
          <a:prstGeom prst="roundRect">
            <a:avLst>
              <a:gd name="adj" fmla="val 1043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L2</a:t>
            </a:r>
          </a:p>
          <a:p>
            <a:pPr algn="ctr"/>
            <a:r>
              <a:rPr sz="1100">
                <a:solidFill>
                  <a:srgbClr val="5E6480"/>
                </a:solidFill>
                <a:latin typeface="Arial"/>
              </a:rPr>
              <a:t>return false</a:t>
            </a:r>
          </a:p>
        </p:txBody>
      </p:sp>
      <p:cxnSp>
        <p:nvCxnSpPr>
          <p:cNvPr id="11" name="Connector 10"/>
          <p:cNvCxnSpPr/>
          <p:nvPr/>
        </p:nvCxnSpPr>
        <p:spPr>
          <a:xfrm flipH="1">
            <a:off x="7863840" y="3127248"/>
            <a:ext cx="640080" cy="731520"/>
          </a:xfrm>
          <a:prstGeom prst="line">
            <a:avLst/>
          </a:prstGeom>
          <a:ln w="25400">
            <a:solidFill>
              <a:srgbClr val="1F9D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66960" y="3127248"/>
            <a:ext cx="548640" cy="73152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63840" y="3291840"/>
            <a:ext cx="365760" cy="274320"/>
          </a:xfrm>
          <a:prstGeom prst="rect">
            <a:avLst/>
          </a:prstGeom>
          <a:noFill/>
        </p:spPr>
        <p:txBody>
          <a:bodyPr wrap="square" lIns="0" tIns="0" rIns="0" bIns="0" anchor="t">
            <a:spAutoFit/>
          </a:bodyPr>
          <a:lstStyle/>
          <a:p>
            <a:pPr algn="l"/>
            <a:r>
              <a:rPr sz="1300" b="1" i="0">
                <a:solidFill>
                  <a:srgbClr val="1F9D6B"/>
                </a:solidFill>
                <a:latin typeface="Arial"/>
              </a:rPr>
              <a:t>T</a:t>
            </a:r>
          </a:p>
        </p:txBody>
      </p:sp>
      <p:sp>
        <p:nvSpPr>
          <p:cNvPr id="14" name="TextBox 13"/>
          <p:cNvSpPr txBox="1"/>
          <p:nvPr/>
        </p:nvSpPr>
        <p:spPr>
          <a:xfrm>
            <a:off x="10469880" y="3291840"/>
            <a:ext cx="365760" cy="274320"/>
          </a:xfrm>
          <a:prstGeom prst="rect">
            <a:avLst/>
          </a:prstGeom>
          <a:noFill/>
        </p:spPr>
        <p:txBody>
          <a:bodyPr wrap="square" lIns="0" tIns="0" rIns="0" bIns="0" anchor="t">
            <a:spAutoFit/>
          </a:bodyPr>
          <a:lstStyle/>
          <a:p>
            <a:pPr algn="l"/>
            <a:r>
              <a:rPr sz="1300" b="1" i="0">
                <a:solidFill>
                  <a:srgbClr val="D63E47"/>
                </a:solidFill>
                <a:latin typeface="Arial"/>
              </a:rPr>
              <a:t>F</a:t>
            </a:r>
          </a:p>
        </p:txBody>
      </p:sp>
      <p:sp>
        <p:nvSpPr>
          <p:cNvPr id="15" name="TextBox 14"/>
          <p:cNvSpPr txBox="1"/>
          <p:nvPr/>
        </p:nvSpPr>
        <p:spPr>
          <a:xfrm>
            <a:off x="6675120" y="5212080"/>
            <a:ext cx="4937760" cy="822960"/>
          </a:xfrm>
          <a:prstGeom prst="rect">
            <a:avLst/>
          </a:prstGeom>
          <a:noFill/>
        </p:spPr>
        <p:txBody>
          <a:bodyPr wrap="square" lIns="0" tIns="0" rIns="0" bIns="0" anchor="t">
            <a:spAutoFit/>
          </a:bodyPr>
          <a:lstStyle/>
          <a:p>
            <a:pPr algn="l"/>
            <a:r>
              <a:rPr sz="1300" b="0" i="0">
                <a:solidFill>
                  <a:srgbClr val="5E6480"/>
                </a:solidFill>
                <a:latin typeface="Arial"/>
              </a:rPr>
              <a:t>Temps t1..tn and labels L1..Ln are numbered per task; every block ends in exactly one jump, branch or return.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12</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HEADLINE FEATURE 1 · STAGE 5</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Taint analysis catches the prompt injection</a:t>
            </a:r>
          </a:p>
        </p:txBody>
      </p:sp>
      <p:sp>
        <p:nvSpPr>
          <p:cNvPr id="5" name="Rounded Rectangle 4"/>
          <p:cNvSpPr/>
          <p:nvPr/>
        </p:nvSpPr>
        <p:spPr>
          <a:xfrm>
            <a:off x="548640" y="1691640"/>
            <a:ext cx="1965960" cy="960120"/>
          </a:xfrm>
          <a:prstGeom prst="roundRect">
            <a:avLst>
              <a:gd name="adj" fmla="val 11428"/>
            </a:avLst>
          </a:prstGeom>
          <a:solidFill>
            <a:srgbClr val="FBE3E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F233B"/>
                </a:solidFill>
                <a:latin typeface="Courier New"/>
              </a:rPr>
              <a:t>web_search(topic)</a:t>
            </a:r>
          </a:p>
          <a:p>
            <a:pPr algn="ctr"/>
            <a:r>
              <a:rPr sz="1100">
                <a:solidFill>
                  <a:srgbClr val="5E6480"/>
                </a:solidFill>
                <a:latin typeface="Arial"/>
              </a:rPr>
              <a:t>source: untrusted</a:t>
            </a:r>
          </a:p>
        </p:txBody>
      </p:sp>
      <p:cxnSp>
        <p:nvCxnSpPr>
          <p:cNvPr id="6" name="Connector 5"/>
          <p:cNvCxnSpPr/>
          <p:nvPr/>
        </p:nvCxnSpPr>
        <p:spPr>
          <a:xfrm>
            <a:off x="2532888" y="2167128"/>
            <a:ext cx="237744" cy="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788920" y="1691640"/>
            <a:ext cx="1965960" cy="960120"/>
          </a:xfrm>
          <a:prstGeom prst="roundRect">
            <a:avLst>
              <a:gd name="adj" fmla="val 11428"/>
            </a:avLst>
          </a:prstGeom>
          <a:solidFill>
            <a:srgbClr val="FBE3E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F233B"/>
                </a:solidFill>
                <a:latin typeface="Courier New"/>
              </a:rPr>
              <a:t>raw[0]</a:t>
            </a:r>
          </a:p>
          <a:p>
            <a:pPr algn="ctr"/>
            <a:r>
              <a:rPr sz="1100">
                <a:solidFill>
                  <a:srgbClr val="5E6480"/>
                </a:solidFill>
                <a:latin typeface="Arial"/>
              </a:rPr>
              <a:t>index keeps taint</a:t>
            </a:r>
          </a:p>
        </p:txBody>
      </p:sp>
      <p:cxnSp>
        <p:nvCxnSpPr>
          <p:cNvPr id="8" name="Connector 7"/>
          <p:cNvCxnSpPr/>
          <p:nvPr/>
        </p:nvCxnSpPr>
        <p:spPr>
          <a:xfrm>
            <a:off x="4773168" y="2167128"/>
            <a:ext cx="237744" cy="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0" y="1691640"/>
            <a:ext cx="1965960" cy="960120"/>
          </a:xfrm>
          <a:prstGeom prst="roundRect">
            <a:avLst>
              <a:gd name="adj" fmla="val 11428"/>
            </a:avLst>
          </a:prstGeom>
          <a:solidFill>
            <a:srgbClr val="FBE3E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F233B"/>
                </a:solidFill>
                <a:latin typeface="Courier New"/>
              </a:rPr>
              <a:t>"Summarize: " + ...</a:t>
            </a:r>
          </a:p>
          <a:p>
            <a:pPr algn="ctr"/>
            <a:r>
              <a:rPr sz="1100">
                <a:solidFill>
                  <a:srgbClr val="5E6480"/>
                </a:solidFill>
                <a:latin typeface="Arial"/>
              </a:rPr>
              <a:t>concat joins taint</a:t>
            </a:r>
          </a:p>
        </p:txBody>
      </p:sp>
      <p:cxnSp>
        <p:nvCxnSpPr>
          <p:cNvPr id="10" name="Connector 9"/>
          <p:cNvCxnSpPr/>
          <p:nvPr/>
        </p:nvCxnSpPr>
        <p:spPr>
          <a:xfrm>
            <a:off x="7013448" y="2167128"/>
            <a:ext cx="237744" cy="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269480" y="1691640"/>
            <a:ext cx="1965960" cy="960120"/>
          </a:xfrm>
          <a:prstGeom prst="roundRect">
            <a:avLst>
              <a:gd name="adj" fmla="val 11428"/>
            </a:avLst>
          </a:prstGeom>
          <a:solidFill>
            <a:srgbClr val="FBE3E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1F233B"/>
                </a:solidFill>
                <a:latin typeface="Courier New"/>
              </a:rPr>
              <a:t>llm(...)</a:t>
            </a:r>
          </a:p>
          <a:p>
            <a:pPr algn="ctr"/>
            <a:r>
              <a:rPr sz="1100">
                <a:solidFill>
                  <a:srgbClr val="5E6480"/>
                </a:solidFill>
                <a:latin typeface="Arial"/>
              </a:rPr>
              <a:t>result inherits taint</a:t>
            </a:r>
          </a:p>
        </p:txBody>
      </p:sp>
      <p:cxnSp>
        <p:nvCxnSpPr>
          <p:cNvPr id="12" name="Connector 11"/>
          <p:cNvCxnSpPr/>
          <p:nvPr/>
        </p:nvCxnSpPr>
        <p:spPr>
          <a:xfrm>
            <a:off x="9253728" y="2167128"/>
            <a:ext cx="237744" cy="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09760" y="1691640"/>
            <a:ext cx="1965960" cy="960120"/>
          </a:xfrm>
          <a:prstGeom prst="roundRect">
            <a:avLst>
              <a:gd name="adj" fmla="val 11428"/>
            </a:avLst>
          </a:prstGeom>
          <a:solidFill>
            <a:srgbClr val="D63E4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a:solidFill>
                  <a:srgbClr val="FFFFFF"/>
                </a:solidFill>
                <a:latin typeface="Courier New"/>
              </a:rPr>
              <a:t>send_email(.., summary)</a:t>
            </a:r>
          </a:p>
          <a:p>
            <a:pPr algn="ctr"/>
            <a:r>
              <a:rPr sz="1100">
                <a:solidFill>
                  <a:srgbClr val="FFFFFF"/>
                </a:solidFill>
                <a:latin typeface="Arial"/>
              </a:rPr>
              <a:t>privileged sink</a:t>
            </a:r>
          </a:p>
        </p:txBody>
      </p:sp>
      <p:sp>
        <p:nvSpPr>
          <p:cNvPr id="14" name="Rounded Rectangle 13"/>
          <p:cNvSpPr/>
          <p:nvPr/>
        </p:nvSpPr>
        <p:spPr>
          <a:xfrm>
            <a:off x="548640" y="2971800"/>
            <a:ext cx="11064240" cy="2331720"/>
          </a:xfrm>
          <a:prstGeom prst="roundRect">
            <a:avLst>
              <a:gd name="adj" fmla="val 4705"/>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 y="3108960"/>
            <a:ext cx="10607040" cy="274320"/>
          </a:xfrm>
          <a:prstGeom prst="rect">
            <a:avLst/>
          </a:prstGeom>
          <a:noFill/>
        </p:spPr>
        <p:txBody>
          <a:bodyPr wrap="square" lIns="0" tIns="0" rIns="0" bIns="0" anchor="t">
            <a:spAutoFit/>
          </a:bodyPr>
          <a:lstStyle/>
          <a:p>
            <a:pPr algn="l"/>
            <a:r>
              <a:rPr sz="1100" b="1" i="0">
                <a:solidFill>
                  <a:srgbClr val="F2A01B"/>
                </a:solidFill>
                <a:latin typeface="Arial"/>
              </a:rPr>
              <a:t>compile examples/taint_injection.as  (real output)</a:t>
            </a:r>
          </a:p>
        </p:txBody>
      </p:sp>
      <p:sp>
        <p:nvSpPr>
          <p:cNvPr id="16" name="TextBox 15"/>
          <p:cNvSpPr txBox="1"/>
          <p:nvPr/>
        </p:nvSpPr>
        <p:spPr>
          <a:xfrm>
            <a:off x="777240" y="3429000"/>
            <a:ext cx="10607040" cy="1737360"/>
          </a:xfrm>
          <a:prstGeom prst="rect">
            <a:avLst/>
          </a:prstGeom>
          <a:noFill/>
        </p:spPr>
        <p:txBody>
          <a:bodyPr wrap="square" lIns="0" tIns="0" rIns="0" bIns="0" anchor="t">
            <a:spAutoFit/>
          </a:bodyPr>
          <a:lstStyle/>
          <a:p>
            <a:pPr algn="l"/>
            <a:r>
              <a:rPr sz="1200" b="0" i="0">
                <a:solidFill>
                  <a:srgbClr val="FF9A9F"/>
                </a:solidFill>
                <a:latin typeface="Courier New"/>
              </a:rPr>
              <a:t>E401 [taint] 9:14: untrusted data from web_search (line 6) reaches</a:t>
            </a:r>
          </a:p>
          <a:p>
            <a:pPr algn="l"/>
            <a:r>
              <a:rPr sz="1200" b="0" i="0">
                <a:solidFill>
                  <a:srgbClr val="FF9A9F"/>
                </a:solidFill>
                <a:latin typeface="Courier New"/>
              </a:rPr>
              <a:t>  privileged tool 'send_email' (line 9), argument 2; pass it through sanitize first</a:t>
            </a:r>
          </a:p>
          <a:p>
            <a:pPr algn="l"/>
            <a:r>
              <a:rPr sz="1200" b="0" i="0">
                <a:solidFill>
                  <a:srgbClr val="E6E8F2"/>
                </a:solidFill>
                <a:latin typeface="Courier New"/>
              </a:rPr>
              <a:t>    6:15  raw = call web_search(topic)  &lt;- web_search returns untrusted data</a:t>
            </a:r>
          </a:p>
          <a:p>
            <a:pPr algn="l"/>
            <a:r>
              <a:rPr sz="1200" b="0" i="0">
                <a:solidFill>
                  <a:srgbClr val="E6E8F2"/>
                </a:solidFill>
                <a:latin typeface="Courier New"/>
              </a:rPr>
              <a:t>    7:42  t1 = raw[0]</a:t>
            </a:r>
          </a:p>
          <a:p>
            <a:pPr algn="l"/>
            <a:r>
              <a:rPr sz="1200" b="0" i="0">
                <a:solidFill>
                  <a:srgbClr val="E6E8F2"/>
                </a:solidFill>
                <a:latin typeface="Courier New"/>
              </a:rPr>
              <a:t>    7:37  t2 = "Summarize: " + t1</a:t>
            </a:r>
          </a:p>
          <a:p>
            <a:pPr algn="l"/>
            <a:r>
              <a:rPr sz="1200" b="0" i="0">
                <a:solidFill>
                  <a:srgbClr val="E6E8F2"/>
                </a:solidFill>
                <a:latin typeface="Courier New"/>
              </a:rPr>
              <a:t>    7:19  summary = call llm(t2)</a:t>
            </a:r>
          </a:p>
          <a:p>
            <a:pPr algn="l"/>
            <a:r>
              <a:rPr sz="1200" b="0" i="0">
                <a:solidFill>
                  <a:srgbClr val="E6E8F2"/>
                </a:solidFill>
                <a:latin typeface="Courier New"/>
              </a:rPr>
              <a:t>    9:14  t4 = call send_email("me@example.com", summary)  &lt;- privileged sink</a:t>
            </a:r>
          </a:p>
        </p:txBody>
      </p:sp>
      <p:sp>
        <p:nvSpPr>
          <p:cNvPr id="17" name="TextBox 16"/>
          <p:cNvSpPr txBox="1"/>
          <p:nvPr/>
        </p:nvSpPr>
        <p:spPr>
          <a:xfrm>
            <a:off x="548640" y="5486400"/>
            <a:ext cx="11064240" cy="685800"/>
          </a:xfrm>
          <a:prstGeom prst="rect">
            <a:avLst/>
          </a:prstGeom>
          <a:noFill/>
        </p:spPr>
        <p:txBody>
          <a:bodyPr wrap="square" lIns="0" tIns="0" rIns="0" bIns="0" anchor="t">
            <a:spAutoFit/>
          </a:bodyPr>
          <a:lstStyle/>
          <a:p>
            <a:pPr algn="l"/>
            <a:r>
              <a:rPr sz="1400" b="1" i="0">
                <a:solidFill>
                  <a:srgbClr val="1F233B"/>
                </a:solidFill>
                <a:latin typeface="Arial"/>
              </a:rPr>
              <a:t>Rule: </a:t>
            </a:r>
            <a:r>
              <a:rPr sz="1400" b="0" i="0">
                <a:solidFill>
                  <a:srgbClr val="5E6480"/>
                </a:solidFill>
                <a:latin typeface="Arial"/>
              </a:rPr>
              <a:t>forward data-flow over the CFG to a fixed point; labels trusted &lt; untrusted; params and literals trusted; sanitize is the only way back to trusted. With sanitize(raw[0]) in place, valid_report.as compiles.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13</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HEADLINE FEATURE 2 · STAGE 6</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Approval analysis: deletes need a dominating confirm</a:t>
            </a:r>
          </a:p>
        </p:txBody>
      </p:sp>
      <p:sp>
        <p:nvSpPr>
          <p:cNvPr id="5" name="Rounded Rectangle 4"/>
          <p:cNvSpPr/>
          <p:nvPr/>
        </p:nvSpPr>
        <p:spPr>
          <a:xfrm>
            <a:off x="1783080" y="1691640"/>
            <a:ext cx="2194560" cy="640080"/>
          </a:xfrm>
          <a:prstGeom prst="roundRect">
            <a:avLst>
              <a:gd name="adj" fmla="val 17142"/>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entry</a:t>
            </a:r>
          </a:p>
          <a:p>
            <a:pPr algn="ctr"/>
            <a:r>
              <a:rPr sz="1100">
                <a:solidFill>
                  <a:srgbClr val="5E6480"/>
                </a:solidFill>
                <a:latin typeface="Arial"/>
              </a:rPr>
              <a:t>if (force)</a:t>
            </a:r>
          </a:p>
        </p:txBody>
      </p:sp>
      <p:sp>
        <p:nvSpPr>
          <p:cNvPr id="6" name="Rounded Rectangle 5"/>
          <p:cNvSpPr/>
          <p:nvPr/>
        </p:nvSpPr>
        <p:spPr>
          <a:xfrm>
            <a:off x="548640" y="2971800"/>
            <a:ext cx="2331720" cy="777240"/>
          </a:xfrm>
          <a:prstGeom prst="roundRect">
            <a:avLst>
              <a:gd name="adj" fmla="val 14117"/>
            </a:avLst>
          </a:prstGeom>
          <a:solidFill>
            <a:srgbClr val="FBE3E4"/>
          </a:solidFill>
          <a:ln w="19050">
            <a:solidFill>
              <a:srgbClr val="D63E47"/>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F233B"/>
                </a:solidFill>
                <a:latin typeface="Courier New"/>
              </a:rPr>
              <a:t>L1: delete_file(path)</a:t>
            </a:r>
          </a:p>
          <a:p>
            <a:pPr algn="ctr"/>
            <a:r>
              <a:rPr sz="1100">
                <a:solidFill>
                  <a:srgbClr val="D63E47"/>
                </a:solidFill>
                <a:latin typeface="Arial"/>
              </a:rPr>
              <a:t>no confirm on this path</a:t>
            </a:r>
          </a:p>
        </p:txBody>
      </p:sp>
      <p:sp>
        <p:nvSpPr>
          <p:cNvPr id="7" name="Rounded Rectangle 6"/>
          <p:cNvSpPr/>
          <p:nvPr/>
        </p:nvSpPr>
        <p:spPr>
          <a:xfrm>
            <a:off x="3063240" y="2971800"/>
            <a:ext cx="2240280" cy="777240"/>
          </a:xfrm>
          <a:prstGeom prst="roundRect">
            <a:avLst>
              <a:gd name="adj" fmla="val 14117"/>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F233B"/>
                </a:solidFill>
                <a:latin typeface="Courier New"/>
              </a:rPr>
              <a:t>if (confirm(...))</a:t>
            </a:r>
          </a:p>
        </p:txBody>
      </p:sp>
      <p:sp>
        <p:nvSpPr>
          <p:cNvPr id="8" name="Rounded Rectangle 7"/>
          <p:cNvSpPr/>
          <p:nvPr/>
        </p:nvSpPr>
        <p:spPr>
          <a:xfrm>
            <a:off x="3063240" y="4251960"/>
            <a:ext cx="2240280" cy="777240"/>
          </a:xfrm>
          <a:prstGeom prst="roundRect">
            <a:avLst>
              <a:gd name="adj" fmla="val 14117"/>
            </a:avLst>
          </a:prstGeom>
          <a:solidFill>
            <a:srgbClr val="DFF4EA"/>
          </a:solidFill>
          <a:ln w="19050">
            <a:solidFill>
              <a:srgbClr val="1F9D6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1F233B"/>
                </a:solidFill>
                <a:latin typeface="Courier New"/>
              </a:rPr>
              <a:t>guard: delete_file</a:t>
            </a:r>
          </a:p>
          <a:p>
            <a:pPr algn="ctr"/>
            <a:r>
              <a:rPr sz="1100">
                <a:solidFill>
                  <a:srgbClr val="1F9D6B"/>
                </a:solidFill>
                <a:latin typeface="Arial"/>
              </a:rPr>
              <a:t>dominated by the true edge</a:t>
            </a:r>
          </a:p>
        </p:txBody>
      </p:sp>
      <p:cxnSp>
        <p:nvCxnSpPr>
          <p:cNvPr id="9" name="Connector 8"/>
          <p:cNvCxnSpPr/>
          <p:nvPr/>
        </p:nvCxnSpPr>
        <p:spPr>
          <a:xfrm flipH="1">
            <a:off x="1737360" y="2350008"/>
            <a:ext cx="640080" cy="594360"/>
          </a:xfrm>
          <a:prstGeom prst="line">
            <a:avLst/>
          </a:prstGeom>
          <a:ln w="25400">
            <a:solidFill>
              <a:srgbClr val="D63E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83280" y="2350008"/>
            <a:ext cx="731520" cy="594360"/>
          </a:xfrm>
          <a:prstGeom prst="line">
            <a:avLst/>
          </a:prstGeom>
          <a:ln w="25400">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178808" y="3767328"/>
            <a:ext cx="0" cy="457200"/>
          </a:xfrm>
          <a:prstGeom prst="line">
            <a:avLst/>
          </a:prstGeom>
          <a:ln w="25400">
            <a:solidFill>
              <a:srgbClr val="1F9D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468880"/>
            <a:ext cx="1371600" cy="274320"/>
          </a:xfrm>
          <a:prstGeom prst="rect">
            <a:avLst/>
          </a:prstGeom>
          <a:noFill/>
        </p:spPr>
        <p:txBody>
          <a:bodyPr wrap="square" lIns="0" tIns="0" rIns="0" bIns="0" anchor="t">
            <a:spAutoFit/>
          </a:bodyPr>
          <a:lstStyle/>
          <a:p>
            <a:pPr algn="l"/>
            <a:r>
              <a:rPr sz="1100" b="1" i="0">
                <a:solidFill>
                  <a:srgbClr val="D63E47"/>
                </a:solidFill>
                <a:latin typeface="Arial"/>
              </a:rPr>
              <a:t>force = true</a:t>
            </a:r>
          </a:p>
        </p:txBody>
      </p:sp>
      <p:sp>
        <p:nvSpPr>
          <p:cNvPr id="13" name="TextBox 12"/>
          <p:cNvSpPr txBox="1"/>
          <p:nvPr/>
        </p:nvSpPr>
        <p:spPr>
          <a:xfrm>
            <a:off x="4297680" y="3840480"/>
            <a:ext cx="274320" cy="274320"/>
          </a:xfrm>
          <a:prstGeom prst="rect">
            <a:avLst/>
          </a:prstGeom>
          <a:noFill/>
        </p:spPr>
        <p:txBody>
          <a:bodyPr wrap="square" lIns="0" tIns="0" rIns="0" bIns="0" anchor="t">
            <a:spAutoFit/>
          </a:bodyPr>
          <a:lstStyle/>
          <a:p>
            <a:pPr algn="l"/>
            <a:r>
              <a:rPr sz="1200" b="1" i="0">
                <a:solidFill>
                  <a:srgbClr val="1F9D6B"/>
                </a:solidFill>
                <a:latin typeface="Arial"/>
              </a:rPr>
              <a:t>T</a:t>
            </a:r>
          </a:p>
        </p:txBody>
      </p:sp>
      <p:sp>
        <p:nvSpPr>
          <p:cNvPr id="14" name="Rounded Rectangle 13"/>
          <p:cNvSpPr/>
          <p:nvPr/>
        </p:nvSpPr>
        <p:spPr>
          <a:xfrm>
            <a:off x="5715000" y="1600200"/>
            <a:ext cx="5897880" cy="3520440"/>
          </a:xfrm>
          <a:prstGeom prst="roundRect">
            <a:avLst>
              <a:gd name="adj" fmla="val 3116"/>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0" y="1737360"/>
            <a:ext cx="5440680" cy="274320"/>
          </a:xfrm>
          <a:prstGeom prst="rect">
            <a:avLst/>
          </a:prstGeom>
          <a:noFill/>
        </p:spPr>
        <p:txBody>
          <a:bodyPr wrap="square" lIns="0" tIns="0" rIns="0" bIns="0" anchor="t">
            <a:spAutoFit/>
          </a:bodyPr>
          <a:lstStyle/>
          <a:p>
            <a:pPr algn="l"/>
            <a:r>
              <a:rPr sz="1100" b="1" i="0">
                <a:solidFill>
                  <a:srgbClr val="F2A01B"/>
                </a:solidFill>
                <a:latin typeface="Arial"/>
              </a:rPr>
              <a:t>approval_missing.as  /  approval_one_branch.as  (real output)</a:t>
            </a:r>
          </a:p>
        </p:txBody>
      </p:sp>
      <p:sp>
        <p:nvSpPr>
          <p:cNvPr id="16" name="TextBox 15"/>
          <p:cNvSpPr txBox="1"/>
          <p:nvPr/>
        </p:nvSpPr>
        <p:spPr>
          <a:xfrm>
            <a:off x="5943600" y="2057400"/>
            <a:ext cx="5440680" cy="2926080"/>
          </a:xfrm>
          <a:prstGeom prst="rect">
            <a:avLst/>
          </a:prstGeom>
          <a:noFill/>
        </p:spPr>
        <p:txBody>
          <a:bodyPr wrap="square" lIns="0" tIns="0" rIns="0" bIns="0" anchor="t">
            <a:spAutoFit/>
          </a:bodyPr>
          <a:lstStyle/>
          <a:p>
            <a:pPr algn="l"/>
            <a:r>
              <a:rPr sz="1100" b="0" i="0">
                <a:solidFill>
                  <a:srgbClr val="FF9A9F"/>
                </a:solidFill>
                <a:latin typeface="Courier New"/>
              </a:rPr>
              <a:t>E501 [approval] 7:14: irreversible call to 'delete_file' (line 7)</a:t>
            </a:r>
          </a:p>
          <a:p>
            <a:pPr algn="l"/>
            <a:r>
              <a:rPr sz="1100" b="0" i="0">
                <a:solidFill>
                  <a:srgbClr val="FF9A9F"/>
                </a:solidFill>
                <a:latin typeface="Courier New"/>
              </a:rPr>
              <a:t>  is reachable without confirm</a:t>
            </a:r>
          </a:p>
          <a:p>
            <a:pPr algn="l"/>
            <a:r>
              <a:rPr sz="1100" b="0" i="0">
                <a:solidFill>
                  <a:srgbClr val="E6E8F2"/>
                </a:solidFill>
                <a:latin typeface="Courier New"/>
              </a:rPr>
              <a:t>    6:5   task purge starts (entry)</a:t>
            </a:r>
          </a:p>
          <a:p>
            <a:pPr algn="l"/>
            <a:r>
              <a:rPr sz="1100" b="0" i="0">
                <a:solidFill>
                  <a:srgbClr val="E6E8F2"/>
                </a:solidFill>
                <a:latin typeface="Courier New"/>
              </a:rPr>
              <a:t>    6:5   line 6: if force -&gt; true (L1)</a:t>
            </a:r>
          </a:p>
          <a:p>
            <a:pPr algn="l"/>
            <a:r>
              <a:rPr sz="1100" b="0" i="0">
                <a:solidFill>
                  <a:srgbClr val="E6E8F2"/>
                </a:solidFill>
                <a:latin typeface="Courier New"/>
              </a:rPr>
              <a:t>    7:14  delete_file(...) is irreversible and not guarded</a:t>
            </a:r>
          </a:p>
          <a:p>
            <a:pPr algn="l"/>
            <a:endParaRPr sz="1100" b="0" i="0">
              <a:solidFill>
                <a:srgbClr val="E6E8F2"/>
              </a:solidFill>
              <a:latin typeface="Courier New"/>
            </a:endParaRPr>
          </a:p>
          <a:p>
            <a:pPr algn="l"/>
            <a:r>
              <a:rPr sz="1100" b="0" i="0">
                <a:solidFill>
                  <a:srgbClr val="FF9A9F"/>
                </a:solidFill>
                <a:latin typeface="Courier New"/>
              </a:rPr>
              <a:t>E502 [approval] 9:12: ... not guarded by confirm on every</a:t>
            </a:r>
          </a:p>
          <a:p>
            <a:pPr algn="l"/>
            <a:r>
              <a:rPr sz="1100" b="0" i="0">
                <a:solidFill>
                  <a:srgbClr val="FF9A9F"/>
                </a:solidFill>
                <a:latin typeface="Courier New"/>
              </a:rPr>
              <a:t>  path; the confirm on line 7 does not guard it</a:t>
            </a:r>
          </a:p>
          <a:p>
            <a:pPr algn="l"/>
            <a:r>
              <a:rPr sz="1100" b="0" i="0">
                <a:solidFill>
                  <a:srgbClr val="E6E8F2"/>
                </a:solidFill>
                <a:latin typeface="Courier New"/>
              </a:rPr>
              <a:t>    6:5   line 6: if careful -&gt; false (L2)</a:t>
            </a:r>
          </a:p>
        </p:txBody>
      </p:sp>
      <p:sp>
        <p:nvSpPr>
          <p:cNvPr id="17" name="TextBox 16"/>
          <p:cNvSpPr txBox="1"/>
          <p:nvPr/>
        </p:nvSpPr>
        <p:spPr>
          <a:xfrm>
            <a:off x="548640" y="5349240"/>
            <a:ext cx="11064240" cy="822960"/>
          </a:xfrm>
          <a:prstGeom prst="rect">
            <a:avLst/>
          </a:prstGeom>
          <a:noFill/>
        </p:spPr>
        <p:txBody>
          <a:bodyPr wrap="square" lIns="0" tIns="0" rIns="0" bIns="0" anchor="t">
            <a:spAutoFit/>
          </a:bodyPr>
          <a:lstStyle/>
          <a:p>
            <a:pPr algn="l"/>
            <a:r>
              <a:rPr sz="1400" b="1" i="0">
                <a:solidFill>
                  <a:srgbClr val="1F233B"/>
                </a:solidFill>
                <a:latin typeface="Arial"/>
              </a:rPr>
              <a:t>Rule: </a:t>
            </a:r>
            <a:r>
              <a:rPr sz="1400" b="0" i="0">
                <a:solidFill>
                  <a:srgbClr val="5E6480"/>
                </a:solidFill>
                <a:latin typeface="Arial"/>
              </a:rPr>
              <a:t>a guard block is the true successor of a branch on a confirm value (if (confirm(..)) or let ok = confirm(..); if (ok)). Each irreversible call must sit in a block dominated by a guard. Dominators: simple iterative algorithm.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14</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STAGE 7</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Optimizer: fewer instructions, fewer paid calls</a:t>
            </a:r>
          </a:p>
        </p:txBody>
      </p:sp>
      <p:sp>
        <p:nvSpPr>
          <p:cNvPr id="5" name="Rounded Rectangle 4"/>
          <p:cNvSpPr/>
          <p:nvPr/>
        </p:nvSpPr>
        <p:spPr>
          <a:xfrm>
            <a:off x="548640" y="1691640"/>
            <a:ext cx="2606040" cy="1828800"/>
          </a:xfrm>
          <a:prstGeom prst="roundRect">
            <a:avLst>
              <a:gd name="adj" fmla="val 6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74519"/>
            <a:ext cx="2606040" cy="914400"/>
          </a:xfrm>
          <a:prstGeom prst="rect">
            <a:avLst/>
          </a:prstGeom>
          <a:noFill/>
        </p:spPr>
        <p:txBody>
          <a:bodyPr wrap="square" lIns="0" tIns="0" rIns="0" bIns="0" anchor="t">
            <a:spAutoFit/>
          </a:bodyPr>
          <a:lstStyle/>
          <a:p>
            <a:pPr algn="ctr"/>
            <a:r>
              <a:rPr sz="4400" b="1" i="0">
                <a:solidFill>
                  <a:srgbClr val="14172E"/>
                </a:solidFill>
                <a:latin typeface="Arial"/>
              </a:rPr>
              <a:t>14 → 10</a:t>
            </a:r>
          </a:p>
        </p:txBody>
      </p:sp>
      <p:sp>
        <p:nvSpPr>
          <p:cNvPr id="7" name="TextBox 6"/>
          <p:cNvSpPr txBox="1"/>
          <p:nvPr/>
        </p:nvSpPr>
        <p:spPr>
          <a:xfrm>
            <a:off x="548640" y="2834640"/>
            <a:ext cx="2606040" cy="365760"/>
          </a:xfrm>
          <a:prstGeom prst="rect">
            <a:avLst/>
          </a:prstGeom>
          <a:noFill/>
        </p:spPr>
        <p:txBody>
          <a:bodyPr wrap="square" lIns="0" tIns="0" rIns="0" bIns="0" anchor="t">
            <a:spAutoFit/>
          </a:bodyPr>
          <a:lstStyle/>
          <a:p>
            <a:pPr algn="ctr"/>
            <a:r>
              <a:rPr sz="1500" b="0" i="0">
                <a:solidFill>
                  <a:srgbClr val="5E6480"/>
                </a:solidFill>
                <a:latin typeface="Arial"/>
              </a:rPr>
              <a:t>IR instructions</a:t>
            </a:r>
          </a:p>
        </p:txBody>
      </p:sp>
      <p:sp>
        <p:nvSpPr>
          <p:cNvPr id="8" name="Rounded Rectangle 7"/>
          <p:cNvSpPr/>
          <p:nvPr/>
        </p:nvSpPr>
        <p:spPr>
          <a:xfrm>
            <a:off x="3383280" y="1691640"/>
            <a:ext cx="2606040" cy="1828800"/>
          </a:xfrm>
          <a:prstGeom prst="roundRect">
            <a:avLst>
              <a:gd name="adj" fmla="val 6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383280" y="1874519"/>
            <a:ext cx="2606040" cy="914400"/>
          </a:xfrm>
          <a:prstGeom prst="rect">
            <a:avLst/>
          </a:prstGeom>
          <a:noFill/>
        </p:spPr>
        <p:txBody>
          <a:bodyPr wrap="square" lIns="0" tIns="0" rIns="0" bIns="0" anchor="t">
            <a:spAutoFit/>
          </a:bodyPr>
          <a:lstStyle/>
          <a:p>
            <a:pPr algn="ctr"/>
            <a:r>
              <a:rPr sz="4400" b="1" i="0">
                <a:solidFill>
                  <a:srgbClr val="14172E"/>
                </a:solidFill>
                <a:latin typeface="Arial"/>
              </a:rPr>
              <a:t>4 → 2</a:t>
            </a:r>
          </a:p>
        </p:txBody>
      </p:sp>
      <p:sp>
        <p:nvSpPr>
          <p:cNvPr id="10" name="TextBox 9"/>
          <p:cNvSpPr txBox="1"/>
          <p:nvPr/>
        </p:nvSpPr>
        <p:spPr>
          <a:xfrm>
            <a:off x="3383280" y="2834640"/>
            <a:ext cx="2606040" cy="365760"/>
          </a:xfrm>
          <a:prstGeom prst="rect">
            <a:avLst/>
          </a:prstGeom>
          <a:noFill/>
        </p:spPr>
        <p:txBody>
          <a:bodyPr wrap="square" lIns="0" tIns="0" rIns="0" bIns="0" anchor="t">
            <a:spAutoFit/>
          </a:bodyPr>
          <a:lstStyle/>
          <a:p>
            <a:pPr algn="ctr"/>
            <a:r>
              <a:rPr sz="1500" b="0" i="0">
                <a:solidFill>
                  <a:srgbClr val="5E6480"/>
                </a:solidFill>
                <a:latin typeface="Arial"/>
              </a:rPr>
              <a:t>tool calls</a:t>
            </a:r>
          </a:p>
        </p:txBody>
      </p:sp>
      <p:sp>
        <p:nvSpPr>
          <p:cNvPr id="11" name="TextBox 10"/>
          <p:cNvSpPr txBox="1"/>
          <p:nvPr/>
        </p:nvSpPr>
        <p:spPr>
          <a:xfrm>
            <a:off x="548640" y="3794760"/>
            <a:ext cx="5440680" cy="2377440"/>
          </a:xfrm>
          <a:prstGeom prst="rect">
            <a:avLst/>
          </a:prstGeom>
          <a:noFill/>
        </p:spPr>
        <p:txBody>
          <a:bodyPr wrap="square" lIns="0" tIns="0" rIns="0" bIns="0">
            <a:spAutoFit/>
          </a:bodyPr>
          <a:lstStyle/>
          <a:p>
            <a:pPr marL="228600" indent="-228600">
              <a:spcAft>
                <a:spcPts val="1000"/>
              </a:spcAft>
              <a:buChar char="•"/>
            </a:pPr>
            <a:r>
              <a:rPr sz="1400" b="1">
                <a:solidFill>
                  <a:srgbClr val="1F233B"/>
                </a:solidFill>
                <a:latin typeface="Arial"/>
              </a:rPr>
              <a:t>Constant folding </a:t>
            </a:r>
            <a:r>
              <a:rPr sz="1400" b="0">
                <a:solidFill>
                  <a:srgbClr val="1F233B"/>
                </a:solidFill>
                <a:latin typeface="Arial"/>
              </a:rPr>
              <a:t>with local propagation; a branch on a constant becomes a jump</a:t>
            </a:r>
          </a:p>
          <a:p>
            <a:pPr marL="228600" indent="-228600">
              <a:spcAft>
                <a:spcPts val="1000"/>
              </a:spcAft>
              <a:buChar char="•"/>
            </a:pPr>
            <a:r>
              <a:rPr sz="1400" b="1">
                <a:solidFill>
                  <a:srgbClr val="1F233B"/>
                </a:solidFill>
                <a:latin typeface="Arial"/>
              </a:rPr>
              <a:t>Dead code elimination: </a:t>
            </a:r>
            <a:r>
              <a:rPr sz="1400" b="0">
                <a:solidFill>
                  <a:srgbClr val="1F233B"/>
                </a:solidFill>
                <a:latin typeface="Arial"/>
              </a:rPr>
              <a:t>unreachable blocks and unused assignments (never a Call or Index)</a:t>
            </a:r>
          </a:p>
          <a:p>
            <a:pPr marL="228600" indent="-228600">
              <a:spcAft>
                <a:spcPts val="1000"/>
              </a:spcAft>
              <a:buChar char="•"/>
            </a:pPr>
            <a:r>
              <a:rPr sz="1400" b="1">
                <a:solidFill>
                  <a:srgbClr val="1F233B"/>
                </a:solidFill>
                <a:latin typeface="Arial"/>
              </a:rPr>
              <a:t>Duplicate tool-call elimination: </a:t>
            </a:r>
            <a:r>
              <a:rPr sz="1400" b="0">
                <a:solidFill>
                  <a:srgbClr val="1F233B"/>
                </a:solidFill>
                <a:latin typeface="Arial"/>
              </a:rPr>
              <a:t>same read-only tool, same arguments, same block, no call in between; never confirm, send_email or delete_file</a:t>
            </a:r>
          </a:p>
        </p:txBody>
      </p:sp>
      <p:sp>
        <p:nvSpPr>
          <p:cNvPr id="12" name="Rounded Rectangle 11"/>
          <p:cNvSpPr/>
          <p:nvPr/>
        </p:nvSpPr>
        <p:spPr>
          <a:xfrm>
            <a:off x="6309360" y="1600200"/>
            <a:ext cx="5303520" cy="4526280"/>
          </a:xfrm>
          <a:prstGeom prst="roundRect">
            <a:avLst>
              <a:gd name="adj" fmla="val 2424"/>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537960" y="1737360"/>
            <a:ext cx="4846320" cy="274320"/>
          </a:xfrm>
          <a:prstGeom prst="rect">
            <a:avLst/>
          </a:prstGeom>
          <a:noFill/>
        </p:spPr>
        <p:txBody>
          <a:bodyPr wrap="square" lIns="0" tIns="0" rIns="0" bIns="0" anchor="t">
            <a:spAutoFit/>
          </a:bodyPr>
          <a:lstStyle/>
          <a:p>
            <a:pPr algn="l"/>
            <a:r>
              <a:rPr sz="1100" b="1" i="0">
                <a:solidFill>
                  <a:srgbClr val="F2A01B"/>
                </a:solidFill>
                <a:latin typeface="Arial"/>
              </a:rPr>
              <a:t>compile optimize_demo.as --phase optimized_ir</a:t>
            </a:r>
          </a:p>
        </p:txBody>
      </p:sp>
      <p:sp>
        <p:nvSpPr>
          <p:cNvPr id="14" name="TextBox 13"/>
          <p:cNvSpPr txBox="1"/>
          <p:nvPr/>
        </p:nvSpPr>
        <p:spPr>
          <a:xfrm>
            <a:off x="6537960" y="2057400"/>
            <a:ext cx="4846320" cy="3931920"/>
          </a:xfrm>
          <a:prstGeom prst="rect">
            <a:avLst/>
          </a:prstGeom>
          <a:noFill/>
        </p:spPr>
        <p:txBody>
          <a:bodyPr wrap="square" lIns="0" tIns="0" rIns="0" bIns="0" anchor="t">
            <a:spAutoFit/>
          </a:bodyPr>
          <a:lstStyle/>
          <a:p>
            <a:pPr algn="l"/>
            <a:r>
              <a:rPr sz="1200" b="0" i="0">
                <a:solidFill>
                  <a:srgbClr val="E6E8F2"/>
                </a:solidFill>
                <a:latin typeface="Courier New"/>
              </a:rPr>
              <a:t>instructions 14 -&gt; 10, tool calls 4 -&gt; 2</a:t>
            </a:r>
          </a:p>
          <a:p>
            <a:pPr algn="l"/>
            <a:r>
              <a:rPr sz="1200" b="0" i="0">
                <a:solidFill>
                  <a:srgbClr val="E6E8F2"/>
                </a:solidFill>
                <a:latin typeface="Courier New"/>
              </a:rPr>
              <a:t>changes:</a:t>
            </a:r>
          </a:p>
          <a:p>
            <a:pPr algn="l"/>
            <a:r>
              <a:rPr sz="1200" b="0" i="0">
                <a:solidFill>
                  <a:srgbClr val="E6E8F2"/>
                </a:solidFill>
                <a:latin typeface="Courier New"/>
              </a:rPr>
              <a:t>  line 6: folded pages = 2 * 3 -&gt; 6</a:t>
            </a:r>
          </a:p>
          <a:p>
            <a:pPr algn="l"/>
            <a:r>
              <a:rPr sz="1200" b="0" i="0">
                <a:solidFill>
                  <a:srgbClr val="E6E8F2"/>
                </a:solidFill>
                <a:latin typeface="Courier New"/>
              </a:rPr>
              <a:t>  line 10: replaced debug with false</a:t>
            </a:r>
          </a:p>
          <a:p>
            <a:pPr algn="l"/>
            <a:r>
              <a:rPr sz="1200" b="0" i="0">
                <a:solidFill>
                  <a:srgbClr val="E6E8F2"/>
                </a:solidFill>
                <a:latin typeface="Courier New"/>
              </a:rPr>
              <a:t>  line 10: branch on false -&gt; goto L2</a:t>
            </a:r>
          </a:p>
          <a:p>
            <a:pPr algn="l"/>
            <a:r>
              <a:rPr sz="1200" b="0" i="0">
                <a:solidFill>
                  <a:srgbClr val="E6E8F2"/>
                </a:solidFill>
                <a:latin typeface="Courier New"/>
              </a:rPr>
              <a:t>  removed unreachable block L1 (line 11)</a:t>
            </a:r>
          </a:p>
          <a:p>
            <a:pPr algn="l"/>
            <a:r>
              <a:rPr sz="1200" b="0" i="0">
                <a:solidFill>
                  <a:srgbClr val="E6E8F2"/>
                </a:solidFill>
                <a:latin typeface="Courier New"/>
              </a:rPr>
              <a:t>  line 6: removed dead assignment pages = 6</a:t>
            </a:r>
          </a:p>
          <a:p>
            <a:pPr algn="l"/>
            <a:r>
              <a:rPr sz="1200" b="0" i="0">
                <a:solidFill>
                  <a:srgbClr val="E6E8F2"/>
                </a:solidFill>
                <a:latin typeface="Courier New"/>
              </a:rPr>
              <a:t>  line 9: removed dead assignment debug = false</a:t>
            </a:r>
          </a:p>
          <a:p>
            <a:pPr algn="l"/>
            <a:r>
              <a:rPr sz="1200" b="0" i="0">
                <a:solidFill>
                  <a:srgbClr val="F2A01B"/>
                </a:solidFill>
                <a:latin typeface="Courier New"/>
              </a:rPr>
              <a:t>  line 8: duplicate call web_search(topic)</a:t>
            </a:r>
          </a:p>
          <a:p>
            <a:pPr algn="l"/>
            <a:r>
              <a:rPr sz="1200" b="0" i="0">
                <a:solidFill>
                  <a:srgbClr val="F2A01B"/>
                </a:solidFill>
                <a:latin typeface="Courier New"/>
              </a:rPr>
              <a:t>          replaced by copy of first (line 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15</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STAGES 9 AND 10</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Code generation and the stack VM</a:t>
            </a:r>
          </a:p>
        </p:txBody>
      </p:sp>
      <p:sp>
        <p:nvSpPr>
          <p:cNvPr id="5" name="Rounded Rectangle 4"/>
          <p:cNvSpPr/>
          <p:nvPr/>
        </p:nvSpPr>
        <p:spPr>
          <a:xfrm>
            <a:off x="548640" y="1600200"/>
            <a:ext cx="3749039" cy="4526280"/>
          </a:xfrm>
          <a:prstGeom prst="roundRect">
            <a:avLst>
              <a:gd name="adj" fmla="val 2926"/>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737360"/>
            <a:ext cx="3291839" cy="274320"/>
          </a:xfrm>
          <a:prstGeom prst="rect">
            <a:avLst/>
          </a:prstGeom>
          <a:noFill/>
        </p:spPr>
        <p:txBody>
          <a:bodyPr wrap="square" lIns="0" tIns="0" rIns="0" bIns="0" anchor="t">
            <a:spAutoFit/>
          </a:bodyPr>
          <a:lstStyle/>
          <a:p>
            <a:pPr algn="l"/>
            <a:r>
              <a:rPr sz="1100" b="1" i="0">
                <a:solidFill>
                  <a:srgbClr val="F2A01B"/>
                </a:solidFill>
                <a:latin typeface="Arial"/>
              </a:rPr>
              <a:t>--phase bytecode (valid_report)</a:t>
            </a:r>
          </a:p>
        </p:txBody>
      </p:sp>
      <p:sp>
        <p:nvSpPr>
          <p:cNvPr id="7" name="TextBox 6"/>
          <p:cNvSpPr txBox="1"/>
          <p:nvPr/>
        </p:nvSpPr>
        <p:spPr>
          <a:xfrm>
            <a:off x="777240" y="2057400"/>
            <a:ext cx="3291839" cy="3931920"/>
          </a:xfrm>
          <a:prstGeom prst="rect">
            <a:avLst/>
          </a:prstGeom>
          <a:noFill/>
        </p:spPr>
        <p:txBody>
          <a:bodyPr wrap="square" lIns="0" tIns="0" rIns="0" bIns="0" anchor="t">
            <a:spAutoFit/>
          </a:bodyPr>
          <a:lstStyle/>
          <a:p>
            <a:pPr algn="l"/>
            <a:r>
              <a:rPr sz="1300" b="0" i="0">
                <a:solidFill>
                  <a:srgbClr val="E6E8F2"/>
                </a:solidFill>
                <a:latin typeface="Courier New"/>
              </a:rPr>
              <a:t>   0  LOAD topic</a:t>
            </a:r>
          </a:p>
          <a:p>
            <a:pPr algn="l"/>
            <a:r>
              <a:rPr sz="1300" b="0" i="0">
                <a:solidFill>
                  <a:srgbClr val="E6E8F2"/>
                </a:solidFill>
                <a:latin typeface="Courier New"/>
              </a:rPr>
              <a:t>   1  CALL web_search 1</a:t>
            </a:r>
          </a:p>
          <a:p>
            <a:pPr algn="l"/>
            <a:r>
              <a:rPr sz="1300" b="0" i="0">
                <a:solidFill>
                  <a:srgbClr val="E6E8F2"/>
                </a:solidFill>
                <a:latin typeface="Courier New"/>
              </a:rPr>
              <a:t>   2  STORE raw</a:t>
            </a:r>
          </a:p>
          <a:p>
            <a:pPr algn="l"/>
            <a:r>
              <a:rPr sz="1300" b="0" i="0">
                <a:solidFill>
                  <a:srgbClr val="E6E8F2"/>
                </a:solidFill>
                <a:latin typeface="Courier New"/>
              </a:rPr>
              <a:t>   3  LOAD raw</a:t>
            </a:r>
          </a:p>
          <a:p>
            <a:pPr algn="l"/>
            <a:r>
              <a:rPr sz="1300" b="0" i="0">
                <a:solidFill>
                  <a:srgbClr val="E6E8F2"/>
                </a:solidFill>
                <a:latin typeface="Courier New"/>
              </a:rPr>
              <a:t>   4  PUSH_CONST 0</a:t>
            </a:r>
          </a:p>
          <a:p>
            <a:pPr algn="l"/>
            <a:r>
              <a:rPr sz="1300" b="0" i="0">
                <a:solidFill>
                  <a:srgbClr val="E6E8F2"/>
                </a:solidFill>
                <a:latin typeface="Courier New"/>
              </a:rPr>
              <a:t>   5  INDEX</a:t>
            </a:r>
          </a:p>
          <a:p>
            <a:pPr algn="l"/>
            <a:r>
              <a:rPr sz="1300" b="0" i="0">
                <a:solidFill>
                  <a:srgbClr val="E6E8F2"/>
                </a:solidFill>
                <a:latin typeface="Courier New"/>
              </a:rPr>
              <a:t>   6  STORE t1</a:t>
            </a:r>
          </a:p>
          <a:p>
            <a:pPr algn="l"/>
            <a:r>
              <a:rPr sz="1300" b="0" i="0">
                <a:solidFill>
                  <a:srgbClr val="E6E8F2"/>
                </a:solidFill>
                <a:latin typeface="Courier New"/>
              </a:rPr>
              <a:t>   7  LOAD t1</a:t>
            </a:r>
          </a:p>
          <a:p>
            <a:pPr algn="l"/>
            <a:r>
              <a:rPr sz="1300" b="0" i="0">
                <a:solidFill>
                  <a:srgbClr val="E6E8F2"/>
                </a:solidFill>
                <a:latin typeface="Courier New"/>
              </a:rPr>
              <a:t>   8  CALL sanitize 1</a:t>
            </a:r>
          </a:p>
          <a:p>
            <a:pPr algn="l"/>
            <a:r>
              <a:rPr sz="1300" b="0" i="0">
                <a:solidFill>
                  <a:srgbClr val="E6E8F2"/>
                </a:solidFill>
                <a:latin typeface="Courier New"/>
              </a:rPr>
              <a:t>   9  STORE clean</a:t>
            </a:r>
          </a:p>
          <a:p>
            <a:pPr algn="l"/>
            <a:r>
              <a:rPr sz="1300" b="0" i="0">
                <a:solidFill>
                  <a:srgbClr val="E6E8F2"/>
                </a:solidFill>
                <a:latin typeface="Courier New"/>
              </a:rPr>
              <a:t>  ...</a:t>
            </a:r>
          </a:p>
        </p:txBody>
      </p:sp>
      <p:sp>
        <p:nvSpPr>
          <p:cNvPr id="8" name="Rounded Rectangle 7"/>
          <p:cNvSpPr/>
          <p:nvPr/>
        </p:nvSpPr>
        <p:spPr>
          <a:xfrm>
            <a:off x="4526280" y="1600200"/>
            <a:ext cx="7086600" cy="2743200"/>
          </a:xfrm>
          <a:prstGeom prst="roundRect">
            <a:avLst>
              <a:gd name="adj" fmla="val 4000"/>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754880" y="1737360"/>
            <a:ext cx="6629400" cy="274320"/>
          </a:xfrm>
          <a:prstGeom prst="rect">
            <a:avLst/>
          </a:prstGeom>
          <a:noFill/>
        </p:spPr>
        <p:txBody>
          <a:bodyPr wrap="square" lIns="0" tIns="0" rIns="0" bIns="0" anchor="t">
            <a:spAutoFit/>
          </a:bodyPr>
          <a:lstStyle/>
          <a:p>
            <a:pPr algn="l"/>
            <a:r>
              <a:rPr sz="1100" b="1" i="0">
                <a:solidFill>
                  <a:srgbClr val="F2A01B"/>
                </a:solidFill>
                <a:latin typeface="Arial"/>
              </a:rPr>
              <a:t>run valid_report.as --task report  (real call log, trimmed)</a:t>
            </a:r>
          </a:p>
        </p:txBody>
      </p:sp>
      <p:sp>
        <p:nvSpPr>
          <p:cNvPr id="10" name="TextBox 9"/>
          <p:cNvSpPr txBox="1"/>
          <p:nvPr/>
        </p:nvSpPr>
        <p:spPr>
          <a:xfrm>
            <a:off x="4754880" y="2057400"/>
            <a:ext cx="6629400" cy="2148840"/>
          </a:xfrm>
          <a:prstGeom prst="rect">
            <a:avLst/>
          </a:prstGeom>
          <a:noFill/>
        </p:spPr>
        <p:txBody>
          <a:bodyPr wrap="square" lIns="0" tIns="0" rIns="0" bIns="0" anchor="t">
            <a:spAutoFit/>
          </a:bodyPr>
          <a:lstStyle/>
          <a:p>
            <a:pPr algn="l"/>
            <a:r>
              <a:rPr sz="1200" b="0" i="0">
                <a:solidFill>
                  <a:srgbClr val="E6E8F2"/>
                </a:solidFill>
                <a:latin typeface="Courier New"/>
              </a:rPr>
              <a:t>calls: 5 of budget 5, rounds: 5</a:t>
            </a:r>
          </a:p>
          <a:p>
            <a:pPr algn="l"/>
            <a:r>
              <a:rPr sz="1200" b="0" i="0">
                <a:solidFill>
                  <a:srgbClr val="E6E8F2"/>
                </a:solidFill>
                <a:latin typeface="Courier New"/>
              </a:rPr>
              <a:t> #  line  tool        result</a:t>
            </a:r>
          </a:p>
          <a:p>
            <a:pPr algn="l"/>
            <a:r>
              <a:rPr sz="1200" b="0" i="0">
                <a:solidFill>
                  <a:srgbClr val="E6E8F2"/>
                </a:solidFill>
                <a:latin typeface="Courier New"/>
              </a:rPr>
              <a:t> 1     6  web_search  ["AI safety: IGNORE ALL ...</a:t>
            </a:r>
          </a:p>
          <a:p>
            <a:pPr algn="l"/>
            <a:r>
              <a:rPr sz="1200" b="0" i="0">
                <a:solidFill>
                  <a:srgbClr val="E6E8F2"/>
                </a:solidFill>
                <a:latin typeface="Courier New"/>
              </a:rPr>
              <a:t> 2     7  sanitize    "... [removed instruction] ...</a:t>
            </a:r>
          </a:p>
          <a:p>
            <a:pPr algn="l"/>
            <a:r>
              <a:rPr sz="1200" b="0" i="0">
                <a:solidFill>
                  <a:srgbClr val="E6E8F2"/>
                </a:solidFill>
                <a:latin typeface="Courier New"/>
              </a:rPr>
              <a:t> 3     8  llm         "[llm] Summarize: ...</a:t>
            </a:r>
          </a:p>
          <a:p>
            <a:pPr algn="l"/>
            <a:r>
              <a:rPr sz="1200" b="0" i="0">
                <a:solidFill>
                  <a:srgbClr val="E6E8F2"/>
                </a:solidFill>
                <a:latin typeface="Courier New"/>
              </a:rPr>
              <a:t> 4     9  confirm     true</a:t>
            </a:r>
          </a:p>
          <a:p>
            <a:pPr algn="l"/>
            <a:r>
              <a:rPr sz="1200" b="0" i="0">
                <a:solidFill>
                  <a:srgbClr val="E6E8F2"/>
                </a:solidFill>
                <a:latin typeface="Courier New"/>
              </a:rPr>
              <a:t> 5    10  send_email  true</a:t>
            </a:r>
          </a:p>
          <a:p>
            <a:pPr algn="l"/>
            <a:r>
              <a:rPr sz="1200" b="0" i="0">
                <a:solidFill>
                  <a:srgbClr val="8FE3BC"/>
                </a:solidFill>
                <a:latin typeface="Courier New"/>
              </a:rPr>
              <a:t>value: true</a:t>
            </a:r>
          </a:p>
        </p:txBody>
      </p:sp>
      <p:sp>
        <p:nvSpPr>
          <p:cNvPr id="11" name="Rounded Rectangle 10"/>
          <p:cNvSpPr/>
          <p:nvPr/>
        </p:nvSpPr>
        <p:spPr>
          <a:xfrm>
            <a:off x="4526280" y="4526280"/>
            <a:ext cx="7086600" cy="960120"/>
          </a:xfrm>
          <a:prstGeom prst="roundRect">
            <a:avLst>
              <a:gd name="adj" fmla="val 11428"/>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754880" y="4690872"/>
            <a:ext cx="6629400" cy="658368"/>
          </a:xfrm>
          <a:prstGeom prst="rect">
            <a:avLst/>
          </a:prstGeom>
          <a:noFill/>
        </p:spPr>
        <p:txBody>
          <a:bodyPr wrap="square" lIns="0" tIns="0" rIns="0" bIns="0" anchor="t">
            <a:spAutoFit/>
          </a:bodyPr>
          <a:lstStyle/>
          <a:p>
            <a:pPr algn="l"/>
            <a:r>
              <a:rPr sz="1200" b="0" i="0">
                <a:solidFill>
                  <a:srgbClr val="FF9A9F"/>
                </a:solidFill>
                <a:latin typeface="Courier New"/>
              </a:rPr>
              <a:t>E601 [runtime] 7:15: budget exceeded: call 4 would</a:t>
            </a:r>
          </a:p>
          <a:p>
            <a:pPr algn="l"/>
            <a:r>
              <a:rPr sz="1200" b="0" i="0">
                <a:solidFill>
                  <a:srgbClr val="FF9A9F"/>
                </a:solidFill>
                <a:latin typeface="Courier New"/>
              </a:rPr>
              <a:t>  exceed the budget of 3 calls</a:t>
            </a:r>
          </a:p>
        </p:txBody>
      </p:sp>
      <p:sp>
        <p:nvSpPr>
          <p:cNvPr id="13" name="TextBox 12"/>
          <p:cNvSpPr txBox="1"/>
          <p:nvPr/>
        </p:nvSpPr>
        <p:spPr>
          <a:xfrm>
            <a:off x="4526280" y="5623560"/>
            <a:ext cx="7086600" cy="548640"/>
          </a:xfrm>
          <a:prstGeom prst="rect">
            <a:avLst/>
          </a:prstGeom>
          <a:noFill/>
        </p:spPr>
        <p:txBody>
          <a:bodyPr wrap="square" lIns="0" tIns="0" rIns="0" bIns="0" anchor="t">
            <a:spAutoFit/>
          </a:bodyPr>
          <a:lstStyle/>
          <a:p>
            <a:pPr algn="l"/>
            <a:r>
              <a:rPr sz="1300" b="0" i="0">
                <a:solidFill>
                  <a:srgbClr val="5E6480"/>
                </a:solidFill>
                <a:latin typeface="Arial"/>
              </a:rPr>
              <a:t>runtime_budget.as: repeat times { web_search } compiles with warning W306, then the VM guard trips on call 4 when times =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16</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STAGE 8 · STRETCH GOAL (BUILT)</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Parallel scheduling: 3 independent calls, 1 round</a:t>
            </a:r>
          </a:p>
        </p:txBody>
      </p:sp>
      <p:sp>
        <p:nvSpPr>
          <p:cNvPr id="5" name="TextBox 4"/>
          <p:cNvSpPr txBox="1"/>
          <p:nvPr/>
        </p:nvSpPr>
        <p:spPr>
          <a:xfrm>
            <a:off x="548640" y="1645920"/>
            <a:ext cx="5029200" cy="320040"/>
          </a:xfrm>
          <a:prstGeom prst="rect">
            <a:avLst/>
          </a:prstGeom>
          <a:noFill/>
        </p:spPr>
        <p:txBody>
          <a:bodyPr wrap="square" lIns="0" tIns="0" rIns="0" bIns="0" anchor="t">
            <a:spAutoFit/>
          </a:bodyPr>
          <a:lstStyle/>
          <a:p>
            <a:pPr algn="l"/>
            <a:r>
              <a:rPr sz="1500" b="1" i="0">
                <a:solidFill>
                  <a:srgbClr val="1F233B"/>
                </a:solidFill>
                <a:latin typeface="Arial"/>
              </a:rPr>
              <a:t>Before: 4 rounds (one call each)</a:t>
            </a:r>
          </a:p>
        </p:txBody>
      </p:sp>
      <p:sp>
        <p:nvSpPr>
          <p:cNvPr id="6" name="Rounded Rectangle 5"/>
          <p:cNvSpPr/>
          <p:nvPr/>
        </p:nvSpPr>
        <p:spPr>
          <a:xfrm>
            <a:off x="548640" y="2103120"/>
            <a:ext cx="4206240" cy="640080"/>
          </a:xfrm>
          <a:prstGeom prst="roundRect">
            <a:avLst>
              <a:gd name="adj" fmla="val 17142"/>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F233B"/>
                </a:solidFill>
                <a:latin typeface="Courier New"/>
              </a:rPr>
              <a:t>web_search(a)</a:t>
            </a:r>
          </a:p>
        </p:txBody>
      </p:sp>
      <p:cxnSp>
        <p:nvCxnSpPr>
          <p:cNvPr id="7" name="Connector 6"/>
          <p:cNvCxnSpPr/>
          <p:nvPr/>
        </p:nvCxnSpPr>
        <p:spPr>
          <a:xfrm>
            <a:off x="2651760" y="2743200"/>
            <a:ext cx="0" cy="22860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2971800"/>
            <a:ext cx="4206240" cy="640080"/>
          </a:xfrm>
          <a:prstGeom prst="roundRect">
            <a:avLst>
              <a:gd name="adj" fmla="val 17142"/>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F233B"/>
                </a:solidFill>
                <a:latin typeface="Courier New"/>
              </a:rPr>
              <a:t>web_search(b)</a:t>
            </a:r>
          </a:p>
        </p:txBody>
      </p:sp>
      <p:cxnSp>
        <p:nvCxnSpPr>
          <p:cNvPr id="9" name="Connector 8"/>
          <p:cNvCxnSpPr/>
          <p:nvPr/>
        </p:nvCxnSpPr>
        <p:spPr>
          <a:xfrm>
            <a:off x="2651760" y="3611880"/>
            <a:ext cx="0" cy="22860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3840479"/>
            <a:ext cx="4206240" cy="640080"/>
          </a:xfrm>
          <a:prstGeom prst="roundRect">
            <a:avLst>
              <a:gd name="adj" fmla="val 17142"/>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F233B"/>
                </a:solidFill>
                <a:latin typeface="Courier New"/>
              </a:rPr>
              <a:t>web_search(c)</a:t>
            </a:r>
          </a:p>
        </p:txBody>
      </p:sp>
      <p:cxnSp>
        <p:nvCxnSpPr>
          <p:cNvPr id="11" name="Connector 10"/>
          <p:cNvCxnSpPr/>
          <p:nvPr/>
        </p:nvCxnSpPr>
        <p:spPr>
          <a:xfrm>
            <a:off x="2651760" y="4480560"/>
            <a:ext cx="0" cy="22860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8640" y="4709159"/>
            <a:ext cx="4206240" cy="640080"/>
          </a:xfrm>
          <a:prstGeom prst="roundRect">
            <a:avLst>
              <a:gd name="adj" fmla="val 17142"/>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a:solidFill>
                  <a:srgbClr val="1F233B"/>
                </a:solidFill>
                <a:latin typeface="Courier New"/>
              </a:rPr>
              <a:t>llm(ra[1] + rb[1] + rc[1])</a:t>
            </a:r>
          </a:p>
        </p:txBody>
      </p:sp>
      <p:sp>
        <p:nvSpPr>
          <p:cNvPr id="13" name="TextBox 12"/>
          <p:cNvSpPr txBox="1"/>
          <p:nvPr/>
        </p:nvSpPr>
        <p:spPr>
          <a:xfrm>
            <a:off x="5852160" y="1645920"/>
            <a:ext cx="5486400" cy="320040"/>
          </a:xfrm>
          <a:prstGeom prst="rect">
            <a:avLst/>
          </a:prstGeom>
          <a:noFill/>
        </p:spPr>
        <p:txBody>
          <a:bodyPr wrap="square" lIns="0" tIns="0" rIns="0" bIns="0" anchor="t">
            <a:spAutoFit/>
          </a:bodyPr>
          <a:lstStyle/>
          <a:p>
            <a:pPr algn="l"/>
            <a:r>
              <a:rPr sz="1500" b="1" i="0">
                <a:solidFill>
                  <a:srgbClr val="1F233B"/>
                </a:solidFill>
                <a:latin typeface="Arial"/>
              </a:rPr>
              <a:t>After: 2 rounds</a:t>
            </a:r>
          </a:p>
        </p:txBody>
      </p:sp>
      <p:sp>
        <p:nvSpPr>
          <p:cNvPr id="14" name="Rounded Rectangle 13"/>
          <p:cNvSpPr/>
          <p:nvPr/>
        </p:nvSpPr>
        <p:spPr>
          <a:xfrm>
            <a:off x="5852160" y="2103120"/>
            <a:ext cx="5760720" cy="1234440"/>
          </a:xfrm>
          <a:prstGeom prst="roundRect">
            <a:avLst>
              <a:gd name="adj" fmla="val 8888"/>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035040" y="2194560"/>
            <a:ext cx="1828800" cy="274320"/>
          </a:xfrm>
          <a:prstGeom prst="rect">
            <a:avLst/>
          </a:prstGeom>
          <a:noFill/>
        </p:spPr>
        <p:txBody>
          <a:bodyPr wrap="square" lIns="0" tIns="0" rIns="0" bIns="0" anchor="t">
            <a:spAutoFit/>
          </a:bodyPr>
          <a:lstStyle/>
          <a:p>
            <a:pPr algn="l"/>
            <a:r>
              <a:rPr sz="1200" b="1" i="0">
                <a:solidFill>
                  <a:srgbClr val="F2A01B"/>
                </a:solidFill>
                <a:latin typeface="Arial"/>
              </a:rPr>
              <a:t>round 1</a:t>
            </a:r>
          </a:p>
        </p:txBody>
      </p:sp>
      <p:sp>
        <p:nvSpPr>
          <p:cNvPr id="16" name="Rounded Rectangle 15"/>
          <p:cNvSpPr/>
          <p:nvPr/>
        </p:nvSpPr>
        <p:spPr>
          <a:xfrm>
            <a:off x="6035040" y="2514600"/>
            <a:ext cx="1691640" cy="64008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web_search(a)</a:t>
            </a:r>
          </a:p>
        </p:txBody>
      </p:sp>
      <p:sp>
        <p:nvSpPr>
          <p:cNvPr id="17" name="Rounded Rectangle 16"/>
          <p:cNvSpPr/>
          <p:nvPr/>
        </p:nvSpPr>
        <p:spPr>
          <a:xfrm>
            <a:off x="7863840" y="2514600"/>
            <a:ext cx="1691640" cy="64008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web_search(b)</a:t>
            </a:r>
          </a:p>
        </p:txBody>
      </p:sp>
      <p:sp>
        <p:nvSpPr>
          <p:cNvPr id="18" name="Rounded Rectangle 17"/>
          <p:cNvSpPr/>
          <p:nvPr/>
        </p:nvSpPr>
        <p:spPr>
          <a:xfrm>
            <a:off x="9692640" y="2514600"/>
            <a:ext cx="1691640" cy="64008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web_search(c)</a:t>
            </a:r>
          </a:p>
        </p:txBody>
      </p:sp>
      <p:sp>
        <p:nvSpPr>
          <p:cNvPr id="19" name="Rounded Rectangle 18"/>
          <p:cNvSpPr/>
          <p:nvPr/>
        </p:nvSpPr>
        <p:spPr>
          <a:xfrm>
            <a:off x="5852160" y="3703320"/>
            <a:ext cx="5760720" cy="1005840"/>
          </a:xfrm>
          <a:prstGeom prst="roundRect">
            <a:avLst>
              <a:gd name="adj" fmla="val 10909"/>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035040" y="3794760"/>
            <a:ext cx="1828800" cy="274320"/>
          </a:xfrm>
          <a:prstGeom prst="rect">
            <a:avLst/>
          </a:prstGeom>
          <a:noFill/>
        </p:spPr>
        <p:txBody>
          <a:bodyPr wrap="square" lIns="0" tIns="0" rIns="0" bIns="0" anchor="t">
            <a:spAutoFit/>
          </a:bodyPr>
          <a:lstStyle/>
          <a:p>
            <a:pPr algn="l"/>
            <a:r>
              <a:rPr sz="1200" b="1" i="0">
                <a:solidFill>
                  <a:srgbClr val="5E6480"/>
                </a:solidFill>
                <a:latin typeface="Arial"/>
              </a:rPr>
              <a:t>round 2</a:t>
            </a:r>
          </a:p>
        </p:txBody>
      </p:sp>
      <p:sp>
        <p:nvSpPr>
          <p:cNvPr id="21" name="Rounded Rectangle 20"/>
          <p:cNvSpPr/>
          <p:nvPr/>
        </p:nvSpPr>
        <p:spPr>
          <a:xfrm>
            <a:off x="7863840" y="4069080"/>
            <a:ext cx="1737360" cy="50292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Courier New"/>
              </a:rPr>
              <a:t>llm(...)</a:t>
            </a:r>
          </a:p>
        </p:txBody>
      </p:sp>
      <p:cxnSp>
        <p:nvCxnSpPr>
          <p:cNvPr id="22" name="Connector 21"/>
          <p:cNvCxnSpPr/>
          <p:nvPr/>
        </p:nvCxnSpPr>
        <p:spPr>
          <a:xfrm>
            <a:off x="8732520" y="3355848"/>
            <a:ext cx="0" cy="68580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52160" y="4892040"/>
            <a:ext cx="5760720" cy="822960"/>
          </a:xfrm>
          <a:prstGeom prst="rect">
            <a:avLst/>
          </a:prstGeom>
          <a:noFill/>
        </p:spPr>
        <p:txBody>
          <a:bodyPr wrap="square" lIns="0" tIns="0" rIns="0" bIns="0" anchor="t">
            <a:spAutoFit/>
          </a:bodyPr>
          <a:lstStyle/>
          <a:p>
            <a:pPr algn="l"/>
            <a:r>
              <a:rPr sz="1300" b="1" i="0">
                <a:solidFill>
                  <a:srgbClr val="1F233B"/>
                </a:solidFill>
                <a:latin typeface="Arial"/>
              </a:rPr>
              <a:t>Real output: </a:t>
            </a:r>
            <a:r>
              <a:rPr sz="1200" b="0" i="0">
                <a:solidFill>
                  <a:srgbClr val="5E6480"/>
                </a:solidFill>
                <a:latin typeface="Courier New"/>
              </a:rPr>
              <a:t>task scout: rounds 4 -&gt; 2;  round 1: ra = call web_search(a) | rb = call web_search(b) | rc = call web_search(c)</a:t>
            </a:r>
          </a:p>
        </p:txBody>
      </p:sp>
      <p:sp>
        <p:nvSpPr>
          <p:cNvPr id="24" name="TextBox 23"/>
          <p:cNvSpPr txBox="1"/>
          <p:nvPr/>
        </p:nvSpPr>
        <p:spPr>
          <a:xfrm>
            <a:off x="548640" y="5715000"/>
            <a:ext cx="11064240" cy="457200"/>
          </a:xfrm>
          <a:prstGeom prst="rect">
            <a:avLst/>
          </a:prstGeom>
          <a:noFill/>
        </p:spPr>
        <p:txBody>
          <a:bodyPr wrap="square" lIns="0" tIns="0" rIns="0" bIns="0" anchor="t">
            <a:spAutoFit/>
          </a:bodyPr>
          <a:lstStyle/>
          <a:p>
            <a:pPr algn="l"/>
            <a:r>
              <a:rPr sz="1300" b="0" i="0">
                <a:solidFill>
                  <a:srgbClr val="5E6480"/>
                </a:solidFill>
                <a:latin typeface="Arial"/>
              </a:rPr>
              <a:t>Dependency graph per basic block; send_email, delete_file and confirm are barriers, so they are never reordered (L3).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17</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EDITOR AND DEMO EXPERIENCE</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Web editor and API: one click runs every phase</a:t>
            </a:r>
          </a:p>
        </p:txBody>
      </p:sp>
      <p:sp>
        <p:nvSpPr>
          <p:cNvPr id="5" name="Rounded Rectangle 4"/>
          <p:cNvSpPr/>
          <p:nvPr/>
        </p:nvSpPr>
        <p:spPr>
          <a:xfrm>
            <a:off x="548640" y="1737360"/>
            <a:ext cx="2011680" cy="1325880"/>
          </a:xfrm>
          <a:prstGeom prst="roundRect">
            <a:avLst>
              <a:gd name="adj" fmla="val 8275"/>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Browser</a:t>
            </a:r>
          </a:p>
          <a:p>
            <a:pPr algn="ctr"/>
            <a:r>
              <a:rPr sz="1100">
                <a:solidFill>
                  <a:srgbClr val="5E6480"/>
                </a:solidFill>
                <a:latin typeface="Arial"/>
              </a:rPr>
              <a:t>CodeMirror editor, example picker, Compile / Run</a:t>
            </a:r>
          </a:p>
        </p:txBody>
      </p:sp>
      <p:cxnSp>
        <p:nvCxnSpPr>
          <p:cNvPr id="6" name="Connector 5"/>
          <p:cNvCxnSpPr/>
          <p:nvPr/>
        </p:nvCxnSpPr>
        <p:spPr>
          <a:xfrm>
            <a:off x="2578608" y="2395728"/>
            <a:ext cx="21945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16352" y="1737360"/>
            <a:ext cx="2011680" cy="1325880"/>
          </a:xfrm>
          <a:prstGeom prst="roundRect">
            <a:avLst>
              <a:gd name="adj" fmla="val 8275"/>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POST /compile</a:t>
            </a:r>
          </a:p>
          <a:p>
            <a:pPr algn="ctr"/>
            <a:r>
              <a:rPr sz="1100">
                <a:solidFill>
                  <a:srgbClr val="5E6480"/>
                </a:solidFill>
                <a:latin typeface="Arial"/>
              </a:rPr>
              <a:t>FastAPI (api.py)</a:t>
            </a:r>
          </a:p>
        </p:txBody>
      </p:sp>
      <p:cxnSp>
        <p:nvCxnSpPr>
          <p:cNvPr id="8" name="Connector 7"/>
          <p:cNvCxnSpPr/>
          <p:nvPr/>
        </p:nvCxnSpPr>
        <p:spPr>
          <a:xfrm>
            <a:off x="4846320" y="2395728"/>
            <a:ext cx="21945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84064" y="1737360"/>
            <a:ext cx="2011680" cy="1325880"/>
          </a:xfrm>
          <a:prstGeom prst="roundRect">
            <a:avLst>
              <a:gd name="adj" fmla="val 8275"/>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compile_source</a:t>
            </a:r>
          </a:p>
          <a:p>
            <a:pPr algn="ctr"/>
            <a:r>
              <a:rPr sz="1100">
                <a:solidFill>
                  <a:srgbClr val="5E6480"/>
                </a:solidFill>
                <a:latin typeface="Arial"/>
              </a:rPr>
              <a:t>10 stages, one artifact each {text, data}</a:t>
            </a:r>
          </a:p>
        </p:txBody>
      </p:sp>
      <p:cxnSp>
        <p:nvCxnSpPr>
          <p:cNvPr id="10" name="Connector 9"/>
          <p:cNvCxnSpPr/>
          <p:nvPr/>
        </p:nvCxnSpPr>
        <p:spPr>
          <a:xfrm>
            <a:off x="7114031" y="2395728"/>
            <a:ext cx="219457"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51775" y="1737360"/>
            <a:ext cx="2011680" cy="1325880"/>
          </a:xfrm>
          <a:prstGeom prst="roundRect">
            <a:avLst>
              <a:gd name="adj" fmla="val 8275"/>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JSON response</a:t>
            </a:r>
          </a:p>
          <a:p>
            <a:pPr algn="ctr"/>
            <a:r>
              <a:rPr sz="1100">
                <a:solidFill>
                  <a:srgbClr val="5E6480"/>
                </a:solidFill>
                <a:latin typeface="Arial"/>
              </a:rPr>
              <a:t>phases, diagnostics, stats, tasks</a:t>
            </a:r>
          </a:p>
        </p:txBody>
      </p:sp>
      <p:cxnSp>
        <p:nvCxnSpPr>
          <p:cNvPr id="12" name="Connector 11"/>
          <p:cNvCxnSpPr/>
          <p:nvPr/>
        </p:nvCxnSpPr>
        <p:spPr>
          <a:xfrm>
            <a:off x="9381744" y="2395728"/>
            <a:ext cx="219456" cy="0"/>
          </a:xfrm>
          <a:prstGeom prst="line">
            <a:avLst/>
          </a:prstGeom>
          <a:ln w="22225">
            <a:solidFill>
              <a:srgbClr val="5E6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19488" y="1737360"/>
            <a:ext cx="2011680" cy="1325880"/>
          </a:xfrm>
          <a:prstGeom prst="roundRect">
            <a:avLst>
              <a:gd name="adj" fmla="val 8275"/>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F233B"/>
                </a:solidFill>
                <a:latin typeface="Arial"/>
              </a:rPr>
              <a:t>Tabs + squiggles</a:t>
            </a:r>
          </a:p>
          <a:p>
            <a:pPr algn="ctr"/>
            <a:r>
              <a:rPr sz="1100">
                <a:solidFill>
                  <a:srgbClr val="5E6480"/>
                </a:solidFill>
                <a:latin typeface="Arial"/>
              </a:rPr>
              <a:t>errors underlined at line:col, CFG drawn with Mermaid</a:t>
            </a:r>
          </a:p>
        </p:txBody>
      </p:sp>
      <p:sp>
        <p:nvSpPr>
          <p:cNvPr id="14" name="TextBox 13"/>
          <p:cNvSpPr txBox="1"/>
          <p:nvPr/>
        </p:nvSpPr>
        <p:spPr>
          <a:xfrm>
            <a:off x="548640" y="3429000"/>
            <a:ext cx="3657600" cy="320040"/>
          </a:xfrm>
          <a:prstGeom prst="rect">
            <a:avLst/>
          </a:prstGeom>
          <a:noFill/>
        </p:spPr>
        <p:txBody>
          <a:bodyPr wrap="square" lIns="0" tIns="0" rIns="0" bIns="0" anchor="t">
            <a:spAutoFit/>
          </a:bodyPr>
          <a:lstStyle/>
          <a:p>
            <a:pPr algn="l"/>
            <a:r>
              <a:rPr sz="1500" b="1" i="0">
                <a:solidFill>
                  <a:srgbClr val="1F233B"/>
                </a:solidFill>
                <a:latin typeface="Arial"/>
              </a:rPr>
              <a:t>Phase tabs</a:t>
            </a:r>
          </a:p>
        </p:txBody>
      </p:sp>
      <p:sp>
        <p:nvSpPr>
          <p:cNvPr id="15" name="Rounded Rectangle 14"/>
          <p:cNvSpPr/>
          <p:nvPr/>
        </p:nvSpPr>
        <p:spPr>
          <a:xfrm>
            <a:off x="548640"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Errors</a:t>
            </a:r>
          </a:p>
        </p:txBody>
      </p:sp>
      <p:sp>
        <p:nvSpPr>
          <p:cNvPr id="16" name="Rounded Rectangle 15"/>
          <p:cNvSpPr/>
          <p:nvPr/>
        </p:nvSpPr>
        <p:spPr>
          <a:xfrm>
            <a:off x="2404872"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Tokens</a:t>
            </a:r>
          </a:p>
        </p:txBody>
      </p:sp>
      <p:sp>
        <p:nvSpPr>
          <p:cNvPr id="17" name="Rounded Rectangle 16"/>
          <p:cNvSpPr/>
          <p:nvPr/>
        </p:nvSpPr>
        <p:spPr>
          <a:xfrm>
            <a:off x="4261103"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AST</a:t>
            </a:r>
          </a:p>
        </p:txBody>
      </p:sp>
      <p:sp>
        <p:nvSpPr>
          <p:cNvPr id="18" name="Rounded Rectangle 17"/>
          <p:cNvSpPr/>
          <p:nvPr/>
        </p:nvSpPr>
        <p:spPr>
          <a:xfrm>
            <a:off x="6117336"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Symbols</a:t>
            </a:r>
          </a:p>
        </p:txBody>
      </p:sp>
      <p:sp>
        <p:nvSpPr>
          <p:cNvPr id="19" name="Rounded Rectangle 18"/>
          <p:cNvSpPr/>
          <p:nvPr/>
        </p:nvSpPr>
        <p:spPr>
          <a:xfrm>
            <a:off x="7973567"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IR</a:t>
            </a:r>
          </a:p>
        </p:txBody>
      </p:sp>
      <p:sp>
        <p:nvSpPr>
          <p:cNvPr id="20" name="Rounded Rectangle 19"/>
          <p:cNvSpPr/>
          <p:nvPr/>
        </p:nvSpPr>
        <p:spPr>
          <a:xfrm>
            <a:off x="9829799" y="384048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CFG</a:t>
            </a:r>
          </a:p>
        </p:txBody>
      </p:sp>
      <p:sp>
        <p:nvSpPr>
          <p:cNvPr id="21" name="Rounded Rectangle 20"/>
          <p:cNvSpPr/>
          <p:nvPr/>
        </p:nvSpPr>
        <p:spPr>
          <a:xfrm>
            <a:off x="548640" y="4389120"/>
            <a:ext cx="1691640" cy="411480"/>
          </a:xfrm>
          <a:prstGeom prst="roundRect">
            <a:avLst>
              <a:gd name="adj" fmla="val 18000"/>
            </a:avLst>
          </a:prstGeom>
          <a:solidFill>
            <a:srgbClr val="1417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FFFFFF"/>
                </a:solidFill>
                <a:latin typeface="Arial"/>
              </a:rPr>
              <a:t>Taint</a:t>
            </a:r>
          </a:p>
        </p:txBody>
      </p:sp>
      <p:sp>
        <p:nvSpPr>
          <p:cNvPr id="22" name="Rounded Rectangle 21"/>
          <p:cNvSpPr/>
          <p:nvPr/>
        </p:nvSpPr>
        <p:spPr>
          <a:xfrm>
            <a:off x="2404872" y="4389120"/>
            <a:ext cx="1691640" cy="411480"/>
          </a:xfrm>
          <a:prstGeom prst="roundRect">
            <a:avLst>
              <a:gd name="adj" fmla="val 18000"/>
            </a:avLst>
          </a:prstGeom>
          <a:solidFill>
            <a:srgbClr val="1417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FFFFFF"/>
                </a:solidFill>
                <a:latin typeface="Arial"/>
              </a:rPr>
              <a:t>Approval</a:t>
            </a:r>
          </a:p>
        </p:txBody>
      </p:sp>
      <p:sp>
        <p:nvSpPr>
          <p:cNvPr id="23" name="Rounded Rectangle 22"/>
          <p:cNvSpPr/>
          <p:nvPr/>
        </p:nvSpPr>
        <p:spPr>
          <a:xfrm>
            <a:off x="4261103" y="438912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Optimized IR</a:t>
            </a:r>
          </a:p>
        </p:txBody>
      </p:sp>
      <p:sp>
        <p:nvSpPr>
          <p:cNvPr id="24" name="Rounded Rectangle 23"/>
          <p:cNvSpPr/>
          <p:nvPr/>
        </p:nvSpPr>
        <p:spPr>
          <a:xfrm>
            <a:off x="6117336" y="438912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Rounds</a:t>
            </a:r>
          </a:p>
        </p:txBody>
      </p:sp>
      <p:sp>
        <p:nvSpPr>
          <p:cNvPr id="25" name="Rounded Rectangle 24"/>
          <p:cNvSpPr/>
          <p:nvPr/>
        </p:nvSpPr>
        <p:spPr>
          <a:xfrm>
            <a:off x="7973567" y="438912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Bytecode</a:t>
            </a:r>
          </a:p>
        </p:txBody>
      </p:sp>
      <p:sp>
        <p:nvSpPr>
          <p:cNvPr id="26" name="Rounded Rectangle 25"/>
          <p:cNvSpPr/>
          <p:nvPr/>
        </p:nvSpPr>
        <p:spPr>
          <a:xfrm>
            <a:off x="9829799" y="4389120"/>
            <a:ext cx="1691640" cy="411480"/>
          </a:xfrm>
          <a:prstGeom prst="roundRect">
            <a:avLst>
              <a:gd name="adj" fmla="val 18000"/>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a:solidFill>
                  <a:srgbClr val="1F233B"/>
                </a:solidFill>
                <a:latin typeface="Arial"/>
              </a:rPr>
              <a:t>Output</a:t>
            </a:r>
          </a:p>
        </p:txBody>
      </p:sp>
      <p:sp>
        <p:nvSpPr>
          <p:cNvPr id="27" name="TextBox 26"/>
          <p:cNvSpPr txBox="1"/>
          <p:nvPr/>
        </p:nvSpPr>
        <p:spPr>
          <a:xfrm>
            <a:off x="548640" y="5074920"/>
            <a:ext cx="11064240" cy="1097280"/>
          </a:xfrm>
          <a:prstGeom prst="rect">
            <a:avLst/>
          </a:prstGeom>
          <a:noFill/>
        </p:spPr>
        <p:txBody>
          <a:bodyPr wrap="square" lIns="0" tIns="0" rIns="0" bIns="0">
            <a:spAutoFit/>
          </a:bodyPr>
          <a:lstStyle/>
          <a:p>
            <a:pPr marL="228600" indent="-228600">
              <a:spcAft>
                <a:spcPts val="600"/>
              </a:spcAft>
              <a:buChar char="•"/>
            </a:pPr>
            <a:r>
              <a:rPr sz="1400" b="0">
                <a:solidFill>
                  <a:srgbClr val="1F233B"/>
                </a:solidFill>
                <a:latin typeface="Arial"/>
              </a:rPr>
              <a:t>Pipeline strip colours each of the 10 stages pass / fail / warn; the failing stage shows its error code</a:t>
            </a:r>
          </a:p>
          <a:p>
            <a:pPr marL="228600" indent="-228600">
              <a:spcAft>
                <a:spcPts val="600"/>
              </a:spcAft>
              <a:buChar char="•"/>
            </a:pPr>
            <a:r>
              <a:rPr sz="1400" b="0">
                <a:solidFill>
                  <a:srgbClr val="1F233B"/>
                </a:solidFill>
                <a:latin typeface="Arial"/>
              </a:rPr>
              <a:t>Run panel: task picker, JSON args, confirm approve/deny, live toggle (no API key needed: llm falls back to the mock)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18</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ERROR TAXONOMY</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Every phase catches its own mistakes</a:t>
            </a:r>
          </a:p>
        </p:txBody>
      </p:sp>
      <p:graphicFrame>
        <p:nvGraphicFramePr>
          <p:cNvPr id="5" name="Table 4"/>
          <p:cNvGraphicFramePr>
            <a:graphicFrameLocks noGrp="1"/>
          </p:cNvGraphicFramePr>
          <p:nvPr/>
        </p:nvGraphicFramePr>
        <p:xfrm>
          <a:off x="548640" y="1600200"/>
          <a:ext cx="11064239" cy="402336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02336">
                <a:tc>
                  <a:txBody>
                    <a:bodyPr/>
                    <a:lstStyle/>
                    <a:p>
                      <a:r>
                        <a:rPr sz="1200" b="1">
                          <a:solidFill>
                            <a:srgbClr val="FFFFFF"/>
                          </a:solidFill>
                          <a:latin typeface="Arial"/>
                        </a:rPr>
                        <a:t>Code</a:t>
                      </a:r>
                    </a:p>
                  </a:txBody>
                  <a:tcPr marL="73152" marR="73152" marT="27432" marB="27432" anchor="ctr">
                    <a:solidFill>
                      <a:srgbClr val="14172E"/>
                    </a:solidFill>
                  </a:tcPr>
                </a:tc>
                <a:tc>
                  <a:txBody>
                    <a:bodyPr/>
                    <a:lstStyle/>
                    <a:p>
                      <a:r>
                        <a:rPr sz="1200" b="1">
                          <a:solidFill>
                            <a:srgbClr val="FFFFFF"/>
                          </a:solidFill>
                          <a:latin typeface="Arial"/>
                        </a:rPr>
                        <a:t>Phase</a:t>
                      </a:r>
                    </a:p>
                  </a:txBody>
                  <a:tcPr marL="73152" marR="73152" marT="27432" marB="27432" anchor="ctr">
                    <a:solidFill>
                      <a:srgbClr val="14172E"/>
                    </a:solidFill>
                  </a:tcPr>
                </a:tc>
                <a:tc>
                  <a:txBody>
                    <a:bodyPr/>
                    <a:lstStyle/>
                    <a:p>
                      <a:r>
                        <a:rPr sz="1200" b="1">
                          <a:solidFill>
                            <a:srgbClr val="FFFFFF"/>
                          </a:solidFill>
                          <a:latin typeface="Arial"/>
                        </a:rPr>
                        <a:t>Error</a:t>
                      </a:r>
                    </a:p>
                  </a:txBody>
                  <a:tcPr marL="73152" marR="73152" marT="27432" marB="27432" anchor="ctr">
                    <a:solidFill>
                      <a:srgbClr val="14172E"/>
                    </a:solidFill>
                  </a:tcPr>
                </a:tc>
                <a:tc>
                  <a:txBody>
                    <a:bodyPr/>
                    <a:lstStyle/>
                    <a:p>
                      <a:r>
                        <a:rPr sz="1200" b="1">
                          <a:solidFill>
                            <a:srgbClr val="FFFFFF"/>
                          </a:solidFill>
                          <a:latin typeface="Arial"/>
                        </a:rPr>
                        <a:t>Demo file</a:t>
                      </a:r>
                    </a:p>
                  </a:txBody>
                  <a:tcPr marL="73152" marR="73152" marT="27432" marB="27432" anchor="ctr">
                    <a:solidFill>
                      <a:srgbClr val="14172E"/>
                    </a:solidFill>
                  </a:tcPr>
                </a:tc>
                <a:tc>
                  <a:txBody>
                    <a:bodyPr/>
                    <a:lstStyle/>
                    <a:p>
                      <a:r>
                        <a:rPr sz="1200" b="1">
                          <a:solidFill>
                            <a:srgbClr val="FFFFFF"/>
                          </a:solidFill>
                          <a:latin typeface="Arial"/>
                        </a:rPr>
                        <a:t>Line:col</a:t>
                      </a:r>
                    </a:p>
                  </a:txBody>
                  <a:tcPr marL="73152" marR="73152" marT="27432" marB="27432" anchor="ctr">
                    <a:solidFill>
                      <a:srgbClr val="14172E"/>
                    </a:solidFill>
                  </a:tcPr>
                </a:tc>
                <a:extLst>
                  <a:ext uri="{0D108BD9-81ED-4DB2-BD59-A6C34878D82A}">
                    <a16:rowId xmlns:a16="http://schemas.microsoft.com/office/drawing/2014/main" val="10000"/>
                  </a:ext>
                </a:extLst>
              </a:tr>
              <a:tr h="402336">
                <a:tc>
                  <a:txBody>
                    <a:bodyPr/>
                    <a:lstStyle/>
                    <a:p>
                      <a:r>
                        <a:rPr sz="1200" b="0">
                          <a:solidFill>
                            <a:srgbClr val="1F233B"/>
                          </a:solidFill>
                          <a:latin typeface="Courier New"/>
                        </a:rPr>
                        <a:t>E101 / E102</a:t>
                      </a:r>
                    </a:p>
                  </a:txBody>
                  <a:tcPr marL="73152" marR="73152" marT="27432" marB="27432" anchor="ctr">
                    <a:solidFill>
                      <a:srgbClr val="FFFFFF"/>
                    </a:solidFill>
                  </a:tcPr>
                </a:tc>
                <a:tc>
                  <a:txBody>
                    <a:bodyPr/>
                    <a:lstStyle/>
                    <a:p>
                      <a:r>
                        <a:rPr sz="1200" b="0">
                          <a:solidFill>
                            <a:srgbClr val="1F233B"/>
                          </a:solidFill>
                          <a:latin typeface="Arial"/>
                        </a:rPr>
                        <a:t>lexer</a:t>
                      </a:r>
                    </a:p>
                  </a:txBody>
                  <a:tcPr marL="73152" marR="73152" marT="27432" marB="27432" anchor="ctr">
                    <a:solidFill>
                      <a:srgbClr val="FFFFFF"/>
                    </a:solidFill>
                  </a:tcPr>
                </a:tc>
                <a:tc>
                  <a:txBody>
                    <a:bodyPr/>
                    <a:lstStyle/>
                    <a:p>
                      <a:r>
                        <a:rPr sz="1200" b="0">
                          <a:solidFill>
                            <a:srgbClr val="1F233B"/>
                          </a:solidFill>
                          <a:latin typeface="Arial"/>
                        </a:rPr>
                        <a:t>unterminated string / illegal character</a:t>
                      </a:r>
                    </a:p>
                  </a:txBody>
                  <a:tcPr marL="73152" marR="73152" marT="27432" marB="27432" anchor="ctr">
                    <a:solidFill>
                      <a:srgbClr val="FFFFFF"/>
                    </a:solidFill>
                  </a:tcPr>
                </a:tc>
                <a:tc>
                  <a:txBody>
                    <a:bodyPr/>
                    <a:lstStyle/>
                    <a:p>
                      <a:r>
                        <a:rPr sz="1200" b="0">
                          <a:solidFill>
                            <a:srgbClr val="1F233B"/>
                          </a:solidFill>
                          <a:latin typeface="Courier New"/>
                        </a:rPr>
                        <a:t>lex_unterminated / lex_illegal_char</a:t>
                      </a:r>
                    </a:p>
                  </a:txBody>
                  <a:tcPr marL="73152" marR="73152" marT="27432" marB="27432" anchor="ctr">
                    <a:solidFill>
                      <a:srgbClr val="FFFFFF"/>
                    </a:solidFill>
                  </a:tcPr>
                </a:tc>
                <a:tc>
                  <a:txBody>
                    <a:bodyPr/>
                    <a:lstStyle/>
                    <a:p>
                      <a:r>
                        <a:rPr sz="1200" b="0">
                          <a:solidFill>
                            <a:srgbClr val="1F233B"/>
                          </a:solidFill>
                          <a:latin typeface="Courier New"/>
                        </a:rPr>
                        <a:t>6:13 / 6:15</a:t>
                      </a:r>
                    </a:p>
                  </a:txBody>
                  <a:tcPr marL="73152" marR="73152" marT="27432" marB="27432" anchor="ctr">
                    <a:solidFill>
                      <a:srgbClr val="FFFFFF"/>
                    </a:solidFill>
                  </a:tcPr>
                </a:tc>
                <a:extLst>
                  <a:ext uri="{0D108BD9-81ED-4DB2-BD59-A6C34878D82A}">
                    <a16:rowId xmlns:a16="http://schemas.microsoft.com/office/drawing/2014/main" val="10001"/>
                  </a:ext>
                </a:extLst>
              </a:tr>
              <a:tr h="402336">
                <a:tc>
                  <a:txBody>
                    <a:bodyPr/>
                    <a:lstStyle/>
                    <a:p>
                      <a:r>
                        <a:rPr sz="1200" b="0">
                          <a:solidFill>
                            <a:srgbClr val="1F233B"/>
                          </a:solidFill>
                          <a:latin typeface="Courier New"/>
                        </a:rPr>
                        <a:t>E201</a:t>
                      </a:r>
                    </a:p>
                  </a:txBody>
                  <a:tcPr marL="73152" marR="73152" marT="27432" marB="27432" anchor="ctr">
                    <a:solidFill>
                      <a:srgbClr val="F4F5F9"/>
                    </a:solidFill>
                  </a:tcPr>
                </a:tc>
                <a:tc>
                  <a:txBody>
                    <a:bodyPr/>
                    <a:lstStyle/>
                    <a:p>
                      <a:r>
                        <a:rPr sz="1200" b="0">
                          <a:solidFill>
                            <a:srgbClr val="1F233B"/>
                          </a:solidFill>
                          <a:latin typeface="Arial"/>
                        </a:rPr>
                        <a:t>parser</a:t>
                      </a:r>
                    </a:p>
                  </a:txBody>
                  <a:tcPr marL="73152" marR="73152" marT="27432" marB="27432" anchor="ctr">
                    <a:solidFill>
                      <a:srgbClr val="F4F5F9"/>
                    </a:solidFill>
                  </a:tcPr>
                </a:tc>
                <a:tc>
                  <a:txBody>
                    <a:bodyPr/>
                    <a:lstStyle/>
                    <a:p>
                      <a:r>
                        <a:rPr sz="1200" b="0">
                          <a:solidFill>
                            <a:srgbClr val="1F233B"/>
                          </a:solidFill>
                          <a:latin typeface="Arial"/>
                        </a:rPr>
                        <a:t>missing ';' or brace</a:t>
                      </a:r>
                    </a:p>
                  </a:txBody>
                  <a:tcPr marL="73152" marR="73152" marT="27432" marB="27432" anchor="ctr">
                    <a:solidFill>
                      <a:srgbClr val="F4F5F9"/>
                    </a:solidFill>
                  </a:tcPr>
                </a:tc>
                <a:tc>
                  <a:txBody>
                    <a:bodyPr/>
                    <a:lstStyle/>
                    <a:p>
                      <a:r>
                        <a:rPr sz="1200" b="0">
                          <a:solidFill>
                            <a:srgbClr val="1F233B"/>
                          </a:solidFill>
                          <a:latin typeface="Courier New"/>
                        </a:rPr>
                        <a:t>syntax_missing_semicolon</a:t>
                      </a:r>
                    </a:p>
                  </a:txBody>
                  <a:tcPr marL="73152" marR="73152" marT="27432" marB="27432" anchor="ctr">
                    <a:solidFill>
                      <a:srgbClr val="F4F5F9"/>
                    </a:solidFill>
                  </a:tcPr>
                </a:tc>
                <a:tc>
                  <a:txBody>
                    <a:bodyPr/>
                    <a:lstStyle/>
                    <a:p>
                      <a:r>
                        <a:rPr sz="1200" b="0">
                          <a:solidFill>
                            <a:srgbClr val="1F233B"/>
                          </a:solidFill>
                          <a:latin typeface="Courier New"/>
                        </a:rPr>
                        <a:t>6:30</a:t>
                      </a:r>
                    </a:p>
                  </a:txBody>
                  <a:tcPr marL="73152" marR="73152" marT="27432" marB="27432" anchor="ctr">
                    <a:solidFill>
                      <a:srgbClr val="F4F5F9"/>
                    </a:solidFill>
                  </a:tcPr>
                </a:tc>
                <a:extLst>
                  <a:ext uri="{0D108BD9-81ED-4DB2-BD59-A6C34878D82A}">
                    <a16:rowId xmlns:a16="http://schemas.microsoft.com/office/drawing/2014/main" val="10002"/>
                  </a:ext>
                </a:extLst>
              </a:tr>
              <a:tr h="402336">
                <a:tc>
                  <a:txBody>
                    <a:bodyPr/>
                    <a:lstStyle/>
                    <a:p>
                      <a:r>
                        <a:rPr sz="1200" b="0">
                          <a:solidFill>
                            <a:srgbClr val="1F233B"/>
                          </a:solidFill>
                          <a:latin typeface="Courier New"/>
                        </a:rPr>
                        <a:t>E301 / E302</a:t>
                      </a:r>
                    </a:p>
                  </a:txBody>
                  <a:tcPr marL="73152" marR="73152" marT="27432" marB="27432" anchor="ctr">
                    <a:solidFill>
                      <a:srgbClr val="FFFFFF"/>
                    </a:solidFill>
                  </a:tcPr>
                </a:tc>
                <a:tc>
                  <a:txBody>
                    <a:bodyPr/>
                    <a:lstStyle/>
                    <a:p>
                      <a:r>
                        <a:rPr sz="1200" b="0">
                          <a:solidFill>
                            <a:srgbClr val="1F233B"/>
                          </a:solidFill>
                          <a:latin typeface="Arial"/>
                        </a:rPr>
                        <a:t>semantic</a:t>
                      </a:r>
                    </a:p>
                  </a:txBody>
                  <a:tcPr marL="73152" marR="73152" marT="27432" marB="27432" anchor="ctr">
                    <a:solidFill>
                      <a:srgbClr val="FFFFFF"/>
                    </a:solidFill>
                  </a:tcPr>
                </a:tc>
                <a:tc>
                  <a:txBody>
                    <a:bodyPr/>
                    <a:lstStyle/>
                    <a:p>
                      <a:r>
                        <a:rPr sz="1200" b="0">
                          <a:solidFill>
                            <a:srgbClr val="1F233B"/>
                          </a:solidFill>
                          <a:latin typeface="Arial"/>
                        </a:rPr>
                        <a:t>undeclared / duplicate name</a:t>
                      </a:r>
                    </a:p>
                  </a:txBody>
                  <a:tcPr marL="73152" marR="73152" marT="27432" marB="27432" anchor="ctr">
                    <a:solidFill>
                      <a:srgbClr val="FFFFFF"/>
                    </a:solidFill>
                  </a:tcPr>
                </a:tc>
                <a:tc>
                  <a:txBody>
                    <a:bodyPr/>
                    <a:lstStyle/>
                    <a:p>
                      <a:r>
                        <a:rPr sz="1200" b="0">
                          <a:solidFill>
                            <a:srgbClr val="1F233B"/>
                          </a:solidFill>
                          <a:latin typeface="Courier New"/>
                        </a:rPr>
                        <a:t>sem_undeclared / sem_duplicate</a:t>
                      </a:r>
                    </a:p>
                  </a:txBody>
                  <a:tcPr marL="73152" marR="73152" marT="27432" marB="27432" anchor="ctr">
                    <a:solidFill>
                      <a:srgbClr val="FFFFFF"/>
                    </a:solidFill>
                  </a:tcPr>
                </a:tc>
                <a:tc>
                  <a:txBody>
                    <a:bodyPr/>
                    <a:lstStyle/>
                    <a:p>
                      <a:r>
                        <a:rPr sz="1200" b="0">
                          <a:solidFill>
                            <a:srgbClr val="1F233B"/>
                          </a:solidFill>
                          <a:latin typeface="Courier New"/>
                        </a:rPr>
                        <a:t>6:12 / 7:9</a:t>
                      </a:r>
                    </a:p>
                  </a:txBody>
                  <a:tcPr marL="73152" marR="73152" marT="27432" marB="27432" anchor="ctr">
                    <a:solidFill>
                      <a:srgbClr val="FFFFFF"/>
                    </a:solidFill>
                  </a:tcPr>
                </a:tc>
                <a:extLst>
                  <a:ext uri="{0D108BD9-81ED-4DB2-BD59-A6C34878D82A}">
                    <a16:rowId xmlns:a16="http://schemas.microsoft.com/office/drawing/2014/main" val="10003"/>
                  </a:ext>
                </a:extLst>
              </a:tr>
              <a:tr h="402336">
                <a:tc>
                  <a:txBody>
                    <a:bodyPr/>
                    <a:lstStyle/>
                    <a:p>
                      <a:r>
                        <a:rPr sz="1200" b="0">
                          <a:solidFill>
                            <a:srgbClr val="1F233B"/>
                          </a:solidFill>
                          <a:latin typeface="Courier New"/>
                        </a:rPr>
                        <a:t>E303 / E304</a:t>
                      </a:r>
                    </a:p>
                  </a:txBody>
                  <a:tcPr marL="73152" marR="73152" marT="27432" marB="27432" anchor="ctr">
                    <a:solidFill>
                      <a:srgbClr val="F4F5F9"/>
                    </a:solidFill>
                  </a:tcPr>
                </a:tc>
                <a:tc>
                  <a:txBody>
                    <a:bodyPr/>
                    <a:lstStyle/>
                    <a:p>
                      <a:r>
                        <a:rPr sz="1200" b="0">
                          <a:solidFill>
                            <a:srgbClr val="1F233B"/>
                          </a:solidFill>
                          <a:latin typeface="Arial"/>
                        </a:rPr>
                        <a:t>semantic</a:t>
                      </a:r>
                    </a:p>
                  </a:txBody>
                  <a:tcPr marL="73152" marR="73152" marT="27432" marB="27432" anchor="ctr">
                    <a:solidFill>
                      <a:srgbClr val="F4F5F9"/>
                    </a:solidFill>
                  </a:tcPr>
                </a:tc>
                <a:tc>
                  <a:txBody>
                    <a:bodyPr/>
                    <a:lstStyle/>
                    <a:p>
                      <a:r>
                        <a:rPr sz="1200" b="0">
                          <a:solidFill>
                            <a:srgbClr val="1F233B"/>
                          </a:solidFill>
                          <a:latin typeface="Arial"/>
                        </a:rPr>
                        <a:t>type mismatch / missing return</a:t>
                      </a:r>
                    </a:p>
                  </a:txBody>
                  <a:tcPr marL="73152" marR="73152" marT="27432" marB="27432" anchor="ctr">
                    <a:solidFill>
                      <a:srgbClr val="F4F5F9"/>
                    </a:solidFill>
                  </a:tcPr>
                </a:tc>
                <a:tc>
                  <a:txBody>
                    <a:bodyPr/>
                    <a:lstStyle/>
                    <a:p>
                      <a:r>
                        <a:rPr sz="1200" b="0">
                          <a:solidFill>
                            <a:srgbClr val="1F233B"/>
                          </a:solidFill>
                          <a:latin typeface="Courier New"/>
                        </a:rPr>
                        <a:t>sem_type_mismatch / sem_missing_return</a:t>
                      </a:r>
                    </a:p>
                  </a:txBody>
                  <a:tcPr marL="73152" marR="73152" marT="27432" marB="27432" anchor="ctr">
                    <a:solidFill>
                      <a:srgbClr val="F4F5F9"/>
                    </a:solidFill>
                  </a:tcPr>
                </a:tc>
                <a:tc>
                  <a:txBody>
                    <a:bodyPr/>
                    <a:lstStyle/>
                    <a:p>
                      <a:r>
                        <a:rPr sz="1200" b="0">
                          <a:solidFill>
                            <a:srgbClr val="1F233B"/>
                          </a:solidFill>
                          <a:latin typeface="Courier New"/>
                        </a:rPr>
                        <a:t>6:23 / 9:3</a:t>
                      </a:r>
                    </a:p>
                  </a:txBody>
                  <a:tcPr marL="73152" marR="73152" marT="27432" marB="27432" anchor="ctr">
                    <a:solidFill>
                      <a:srgbClr val="F4F5F9"/>
                    </a:solidFill>
                  </a:tcPr>
                </a:tc>
                <a:extLst>
                  <a:ext uri="{0D108BD9-81ED-4DB2-BD59-A6C34878D82A}">
                    <a16:rowId xmlns:a16="http://schemas.microsoft.com/office/drawing/2014/main" val="10004"/>
                  </a:ext>
                </a:extLst>
              </a:tr>
              <a:tr h="402336">
                <a:tc>
                  <a:txBody>
                    <a:bodyPr/>
                    <a:lstStyle/>
                    <a:p>
                      <a:r>
                        <a:rPr sz="1200" b="0">
                          <a:solidFill>
                            <a:srgbClr val="1F233B"/>
                          </a:solidFill>
                          <a:latin typeface="Courier New"/>
                        </a:rPr>
                        <a:t>E305 / E306</a:t>
                      </a:r>
                    </a:p>
                  </a:txBody>
                  <a:tcPr marL="73152" marR="73152" marT="27432" marB="27432" anchor="ctr">
                    <a:solidFill>
                      <a:srgbClr val="FFFFFF"/>
                    </a:solidFill>
                  </a:tcPr>
                </a:tc>
                <a:tc>
                  <a:txBody>
                    <a:bodyPr/>
                    <a:lstStyle/>
                    <a:p>
                      <a:r>
                        <a:rPr sz="1200" b="0">
                          <a:solidFill>
                            <a:srgbClr val="1F233B"/>
                          </a:solidFill>
                          <a:latin typeface="Arial"/>
                        </a:rPr>
                        <a:t>semantic</a:t>
                      </a:r>
                    </a:p>
                  </a:txBody>
                  <a:tcPr marL="73152" marR="73152" marT="27432" marB="27432" anchor="ctr">
                    <a:solidFill>
                      <a:srgbClr val="FFFFFF"/>
                    </a:solidFill>
                  </a:tcPr>
                </a:tc>
                <a:tc>
                  <a:txBody>
                    <a:bodyPr/>
                    <a:lstStyle/>
                    <a:p>
                      <a:r>
                        <a:rPr sz="1200" b="0">
                          <a:solidFill>
                            <a:srgbClr val="1F233B"/>
                          </a:solidFill>
                          <a:latin typeface="Arial"/>
                        </a:rPr>
                        <a:t>tool not permitted / budget exceeded</a:t>
                      </a:r>
                    </a:p>
                  </a:txBody>
                  <a:tcPr marL="73152" marR="73152" marT="27432" marB="27432" anchor="ctr">
                    <a:solidFill>
                      <a:srgbClr val="FFFFFF"/>
                    </a:solidFill>
                  </a:tcPr>
                </a:tc>
                <a:tc>
                  <a:txBody>
                    <a:bodyPr/>
                    <a:lstStyle/>
                    <a:p>
                      <a:r>
                        <a:rPr sz="1200" b="0">
                          <a:solidFill>
                            <a:srgbClr val="1F233B"/>
                          </a:solidFill>
                          <a:latin typeface="Courier New"/>
                        </a:rPr>
                        <a:t>sem_not_permitted / sem_budget</a:t>
                      </a:r>
                    </a:p>
                  </a:txBody>
                  <a:tcPr marL="73152" marR="73152" marT="27432" marB="27432" anchor="ctr">
                    <a:solidFill>
                      <a:srgbClr val="FFFFFF"/>
                    </a:solidFill>
                  </a:tcPr>
                </a:tc>
                <a:tc>
                  <a:txBody>
                    <a:bodyPr/>
                    <a:lstStyle/>
                    <a:p>
                      <a:r>
                        <a:rPr sz="1200" b="0">
                          <a:solidFill>
                            <a:srgbClr val="1F233B"/>
                          </a:solidFill>
                          <a:latin typeface="Courier New"/>
                        </a:rPr>
                        <a:t>6:16 / 9:12</a:t>
                      </a:r>
                    </a:p>
                  </a:txBody>
                  <a:tcPr marL="73152" marR="73152" marT="27432" marB="27432" anchor="ctr">
                    <a:solidFill>
                      <a:srgbClr val="FFFFFF"/>
                    </a:solidFill>
                  </a:tcPr>
                </a:tc>
                <a:extLst>
                  <a:ext uri="{0D108BD9-81ED-4DB2-BD59-A6C34878D82A}">
                    <a16:rowId xmlns:a16="http://schemas.microsoft.com/office/drawing/2014/main" val="10005"/>
                  </a:ext>
                </a:extLst>
              </a:tr>
              <a:tr h="402336">
                <a:tc>
                  <a:txBody>
                    <a:bodyPr/>
                    <a:lstStyle/>
                    <a:p>
                      <a:r>
                        <a:rPr sz="1200" b="0">
                          <a:solidFill>
                            <a:srgbClr val="D63E47"/>
                          </a:solidFill>
                          <a:latin typeface="Courier New"/>
                        </a:rPr>
                        <a:t>E401</a:t>
                      </a:r>
                    </a:p>
                  </a:txBody>
                  <a:tcPr marL="73152" marR="73152" marT="27432" marB="27432" anchor="ctr">
                    <a:solidFill>
                      <a:srgbClr val="F4F5F9"/>
                    </a:solidFill>
                  </a:tcPr>
                </a:tc>
                <a:tc>
                  <a:txBody>
                    <a:bodyPr/>
                    <a:lstStyle/>
                    <a:p>
                      <a:r>
                        <a:rPr sz="1200" b="0">
                          <a:solidFill>
                            <a:srgbClr val="1F233B"/>
                          </a:solidFill>
                          <a:latin typeface="Arial"/>
                        </a:rPr>
                        <a:t>taint</a:t>
                      </a:r>
                    </a:p>
                  </a:txBody>
                  <a:tcPr marL="73152" marR="73152" marT="27432" marB="27432" anchor="ctr">
                    <a:solidFill>
                      <a:srgbClr val="F4F5F9"/>
                    </a:solidFill>
                  </a:tcPr>
                </a:tc>
                <a:tc>
                  <a:txBody>
                    <a:bodyPr/>
                    <a:lstStyle/>
                    <a:p>
                      <a:r>
                        <a:rPr sz="1200" b="0">
                          <a:solidFill>
                            <a:srgbClr val="1F233B"/>
                          </a:solidFill>
                          <a:latin typeface="Arial"/>
                        </a:rPr>
                        <a:t>untrusted data reaches privileged tool</a:t>
                      </a:r>
                    </a:p>
                  </a:txBody>
                  <a:tcPr marL="73152" marR="73152" marT="27432" marB="27432" anchor="ctr">
                    <a:solidFill>
                      <a:srgbClr val="F4F5F9"/>
                    </a:solidFill>
                  </a:tcPr>
                </a:tc>
                <a:tc>
                  <a:txBody>
                    <a:bodyPr/>
                    <a:lstStyle/>
                    <a:p>
                      <a:r>
                        <a:rPr sz="1200" b="0">
                          <a:solidFill>
                            <a:srgbClr val="1F233B"/>
                          </a:solidFill>
                          <a:latin typeface="Courier New"/>
                        </a:rPr>
                        <a:t>taint_injection</a:t>
                      </a:r>
                    </a:p>
                  </a:txBody>
                  <a:tcPr marL="73152" marR="73152" marT="27432" marB="27432" anchor="ctr">
                    <a:solidFill>
                      <a:srgbClr val="F4F5F9"/>
                    </a:solidFill>
                  </a:tcPr>
                </a:tc>
                <a:tc>
                  <a:txBody>
                    <a:bodyPr/>
                    <a:lstStyle/>
                    <a:p>
                      <a:r>
                        <a:rPr sz="1200" b="0">
                          <a:solidFill>
                            <a:srgbClr val="1F233B"/>
                          </a:solidFill>
                          <a:latin typeface="Courier New"/>
                        </a:rPr>
                        <a:t>9:14</a:t>
                      </a:r>
                    </a:p>
                  </a:txBody>
                  <a:tcPr marL="73152" marR="73152" marT="27432" marB="27432" anchor="ctr">
                    <a:solidFill>
                      <a:srgbClr val="F4F5F9"/>
                    </a:solidFill>
                  </a:tcPr>
                </a:tc>
                <a:extLst>
                  <a:ext uri="{0D108BD9-81ED-4DB2-BD59-A6C34878D82A}">
                    <a16:rowId xmlns:a16="http://schemas.microsoft.com/office/drawing/2014/main" val="10006"/>
                  </a:ext>
                </a:extLst>
              </a:tr>
              <a:tr h="402336">
                <a:tc>
                  <a:txBody>
                    <a:bodyPr/>
                    <a:lstStyle/>
                    <a:p>
                      <a:r>
                        <a:rPr sz="1200" b="0">
                          <a:solidFill>
                            <a:srgbClr val="D63E47"/>
                          </a:solidFill>
                          <a:latin typeface="Courier New"/>
                        </a:rPr>
                        <a:t>E501 / E502</a:t>
                      </a:r>
                    </a:p>
                  </a:txBody>
                  <a:tcPr marL="73152" marR="73152" marT="27432" marB="27432" anchor="ctr">
                    <a:solidFill>
                      <a:srgbClr val="FFFFFF"/>
                    </a:solidFill>
                  </a:tcPr>
                </a:tc>
                <a:tc>
                  <a:txBody>
                    <a:bodyPr/>
                    <a:lstStyle/>
                    <a:p>
                      <a:r>
                        <a:rPr sz="1200" b="0">
                          <a:solidFill>
                            <a:srgbClr val="1F233B"/>
                          </a:solidFill>
                          <a:latin typeface="Arial"/>
                        </a:rPr>
                        <a:t>approval</a:t>
                      </a:r>
                    </a:p>
                  </a:txBody>
                  <a:tcPr marL="73152" marR="73152" marT="27432" marB="27432" anchor="ctr">
                    <a:solidFill>
                      <a:srgbClr val="FFFFFF"/>
                    </a:solidFill>
                  </a:tcPr>
                </a:tc>
                <a:tc>
                  <a:txBody>
                    <a:bodyPr/>
                    <a:lstStyle/>
                    <a:p>
                      <a:r>
                        <a:rPr sz="1200" b="0">
                          <a:solidFill>
                            <a:srgbClr val="1F233B"/>
                          </a:solidFill>
                          <a:latin typeface="Arial"/>
                        </a:rPr>
                        <a:t>no confirm / confirm on one branch only</a:t>
                      </a:r>
                    </a:p>
                  </a:txBody>
                  <a:tcPr marL="73152" marR="73152" marT="27432" marB="27432" anchor="ctr">
                    <a:solidFill>
                      <a:srgbClr val="FFFFFF"/>
                    </a:solidFill>
                  </a:tcPr>
                </a:tc>
                <a:tc>
                  <a:txBody>
                    <a:bodyPr/>
                    <a:lstStyle/>
                    <a:p>
                      <a:r>
                        <a:rPr sz="1200" b="0">
                          <a:solidFill>
                            <a:srgbClr val="1F233B"/>
                          </a:solidFill>
                          <a:latin typeface="Courier New"/>
                        </a:rPr>
                        <a:t>approval_missing / approval_one_branch</a:t>
                      </a:r>
                    </a:p>
                  </a:txBody>
                  <a:tcPr marL="73152" marR="73152" marT="27432" marB="27432" anchor="ctr">
                    <a:solidFill>
                      <a:srgbClr val="FFFFFF"/>
                    </a:solidFill>
                  </a:tcPr>
                </a:tc>
                <a:tc>
                  <a:txBody>
                    <a:bodyPr/>
                    <a:lstStyle/>
                    <a:p>
                      <a:r>
                        <a:rPr sz="1200" b="0">
                          <a:solidFill>
                            <a:srgbClr val="1F233B"/>
                          </a:solidFill>
                          <a:latin typeface="Courier New"/>
                        </a:rPr>
                        <a:t>7:14 / 9:12</a:t>
                      </a:r>
                    </a:p>
                  </a:txBody>
                  <a:tcPr marL="73152" marR="73152" marT="27432" marB="27432" anchor="ctr">
                    <a:solidFill>
                      <a:srgbClr val="FFFFFF"/>
                    </a:solidFill>
                  </a:tcPr>
                </a:tc>
                <a:extLst>
                  <a:ext uri="{0D108BD9-81ED-4DB2-BD59-A6C34878D82A}">
                    <a16:rowId xmlns:a16="http://schemas.microsoft.com/office/drawing/2014/main" val="10007"/>
                  </a:ext>
                </a:extLst>
              </a:tr>
              <a:tr h="402336">
                <a:tc>
                  <a:txBody>
                    <a:bodyPr/>
                    <a:lstStyle/>
                    <a:p>
                      <a:r>
                        <a:rPr sz="1200" b="0">
                          <a:solidFill>
                            <a:srgbClr val="1F233B"/>
                          </a:solidFill>
                          <a:latin typeface="Courier New"/>
                        </a:rPr>
                        <a:t>W306 + E601</a:t>
                      </a:r>
                    </a:p>
                  </a:txBody>
                  <a:tcPr marL="73152" marR="73152" marT="27432" marB="27432" anchor="ctr">
                    <a:solidFill>
                      <a:srgbClr val="F4F5F9"/>
                    </a:solidFill>
                  </a:tcPr>
                </a:tc>
                <a:tc>
                  <a:txBody>
                    <a:bodyPr/>
                    <a:lstStyle/>
                    <a:p>
                      <a:r>
                        <a:rPr sz="1200" b="0">
                          <a:solidFill>
                            <a:srgbClr val="1F233B"/>
                          </a:solidFill>
                          <a:latin typeface="Arial"/>
                        </a:rPr>
                        <a:t>runtime</a:t>
                      </a:r>
                    </a:p>
                  </a:txBody>
                  <a:tcPr marL="73152" marR="73152" marT="27432" marB="27432" anchor="ctr">
                    <a:solidFill>
                      <a:srgbClr val="F4F5F9"/>
                    </a:solidFill>
                  </a:tcPr>
                </a:tc>
                <a:tc>
                  <a:txBody>
                    <a:bodyPr/>
                    <a:lstStyle/>
                    <a:p>
                      <a:r>
                        <a:rPr sz="1200" b="0">
                          <a:solidFill>
                            <a:srgbClr val="1F233B"/>
                          </a:solidFill>
                          <a:latin typeface="Arial"/>
                        </a:rPr>
                        <a:t>runtime budget guard</a:t>
                      </a:r>
                    </a:p>
                  </a:txBody>
                  <a:tcPr marL="73152" marR="73152" marT="27432" marB="27432" anchor="ctr">
                    <a:solidFill>
                      <a:srgbClr val="F4F5F9"/>
                    </a:solidFill>
                  </a:tcPr>
                </a:tc>
                <a:tc>
                  <a:txBody>
                    <a:bodyPr/>
                    <a:lstStyle/>
                    <a:p>
                      <a:r>
                        <a:rPr sz="1200" b="0">
                          <a:solidFill>
                            <a:srgbClr val="1F233B"/>
                          </a:solidFill>
                          <a:latin typeface="Courier New"/>
                        </a:rPr>
                        <a:t>runtime_budget (times = 5)</a:t>
                      </a:r>
                    </a:p>
                  </a:txBody>
                  <a:tcPr marL="73152" marR="73152" marT="27432" marB="27432" anchor="ctr">
                    <a:solidFill>
                      <a:srgbClr val="F4F5F9"/>
                    </a:solidFill>
                  </a:tcPr>
                </a:tc>
                <a:tc>
                  <a:txBody>
                    <a:bodyPr/>
                    <a:lstStyle/>
                    <a:p>
                      <a:r>
                        <a:rPr sz="1200" b="0">
                          <a:solidFill>
                            <a:srgbClr val="1F233B"/>
                          </a:solidFill>
                          <a:latin typeface="Courier New"/>
                        </a:rPr>
                        <a:t>6:12 / 7:15</a:t>
                      </a:r>
                    </a:p>
                  </a:txBody>
                  <a:tcPr marL="73152" marR="73152" marT="27432" marB="27432" anchor="ctr">
                    <a:solidFill>
                      <a:srgbClr val="F4F5F9"/>
                    </a:solidFill>
                  </a:tcPr>
                </a:tc>
                <a:extLst>
                  <a:ext uri="{0D108BD9-81ED-4DB2-BD59-A6C34878D82A}">
                    <a16:rowId xmlns:a16="http://schemas.microsoft.com/office/drawing/2014/main" val="10008"/>
                  </a:ext>
                </a:extLst>
              </a:tr>
              <a:tr h="402336">
                <a:tc>
                  <a:txBody>
                    <a:bodyPr/>
                    <a:lstStyle/>
                    <a:p>
                      <a:r>
                        <a:rPr sz="1200" b="0">
                          <a:solidFill>
                            <a:srgbClr val="1F233B"/>
                          </a:solidFill>
                          <a:latin typeface="Courier New"/>
                        </a:rPr>
                        <a:t>E603</a:t>
                      </a:r>
                    </a:p>
                  </a:txBody>
                  <a:tcPr marL="73152" marR="73152" marT="27432" marB="27432" anchor="ctr">
                    <a:solidFill>
                      <a:srgbClr val="FFFFFF"/>
                    </a:solidFill>
                  </a:tcPr>
                </a:tc>
                <a:tc>
                  <a:txBody>
                    <a:bodyPr/>
                    <a:lstStyle/>
                    <a:p>
                      <a:r>
                        <a:rPr sz="1200" b="0">
                          <a:solidFill>
                            <a:srgbClr val="1F233B"/>
                          </a:solidFill>
                          <a:latin typeface="Arial"/>
                        </a:rPr>
                        <a:t>runtime</a:t>
                      </a:r>
                    </a:p>
                  </a:txBody>
                  <a:tcPr marL="73152" marR="73152" marT="27432" marB="27432" anchor="ctr">
                    <a:solidFill>
                      <a:srgbClr val="FFFFFF"/>
                    </a:solidFill>
                  </a:tcPr>
                </a:tc>
                <a:tc>
                  <a:txBody>
                    <a:bodyPr/>
                    <a:lstStyle/>
                    <a:p>
                      <a:r>
                        <a:rPr sz="1200" b="0">
                          <a:solidFill>
                            <a:srgbClr val="1F233B"/>
                          </a:solidFill>
                          <a:latin typeface="Arial"/>
                        </a:rPr>
                        <a:t>index out of range</a:t>
                      </a:r>
                    </a:p>
                  </a:txBody>
                  <a:tcPr marL="73152" marR="73152" marT="27432" marB="27432" anchor="ctr">
                    <a:solidFill>
                      <a:srgbClr val="FFFFFF"/>
                    </a:solidFill>
                  </a:tcPr>
                </a:tc>
                <a:tc>
                  <a:txBody>
                    <a:bodyPr/>
                    <a:lstStyle/>
                    <a:p>
                      <a:r>
                        <a:rPr sz="1200" b="0">
                          <a:solidFill>
                            <a:srgbClr val="1F233B"/>
                          </a:solidFill>
                          <a:latin typeface="Courier New"/>
                        </a:rPr>
                        <a:t>runtime_index</a:t>
                      </a:r>
                    </a:p>
                  </a:txBody>
                  <a:tcPr marL="73152" marR="73152" marT="27432" marB="27432" anchor="ctr">
                    <a:solidFill>
                      <a:srgbClr val="FFFFFF"/>
                    </a:solidFill>
                  </a:tcPr>
                </a:tc>
                <a:tc>
                  <a:txBody>
                    <a:bodyPr/>
                    <a:lstStyle/>
                    <a:p>
                      <a:r>
                        <a:rPr sz="1200" b="0">
                          <a:solidFill>
                            <a:srgbClr val="1F233B"/>
                          </a:solidFill>
                          <a:latin typeface="Courier New"/>
                        </a:rPr>
                        <a:t>7:19</a:t>
                      </a:r>
                    </a:p>
                  </a:txBody>
                  <a:tcPr marL="73152" marR="73152" marT="27432" marB="27432" anchor="ctr">
                    <a:solidFill>
                      <a:srgbClr val="FFFFFF"/>
                    </a:solidFill>
                  </a:tcPr>
                </a:tc>
                <a:extLst>
                  <a:ext uri="{0D108BD9-81ED-4DB2-BD59-A6C34878D82A}">
                    <a16:rowId xmlns:a16="http://schemas.microsoft.com/office/drawing/2014/main" val="10009"/>
                  </a:ext>
                </a:extLst>
              </a:tr>
            </a:tbl>
          </a:graphicData>
        </a:graphic>
      </p:graphicFrame>
      <p:sp>
        <p:nvSpPr>
          <p:cNvPr id="6" name="TextBox 5"/>
          <p:cNvSpPr txBox="1"/>
          <p:nvPr/>
        </p:nvSpPr>
        <p:spPr>
          <a:xfrm>
            <a:off x="548640" y="5760720"/>
            <a:ext cx="11064240" cy="411480"/>
          </a:xfrm>
          <a:prstGeom prst="rect">
            <a:avLst/>
          </a:prstGeom>
          <a:noFill/>
        </p:spPr>
        <p:txBody>
          <a:bodyPr wrap="square" lIns="0" tIns="0" rIns="0" bIns="0" anchor="t">
            <a:spAutoFit/>
          </a:bodyPr>
          <a:lstStyle/>
          <a:p>
            <a:pPr algn="l"/>
            <a:r>
              <a:rPr sz="1300" b="0" i="0">
                <a:solidFill>
                  <a:srgbClr val="5E6480"/>
                </a:solidFill>
                <a:latin typeface="Arial"/>
              </a:rPr>
              <a:t>Target was at least 8 distinct error types: 14 error codes have their own failing program (E602 and E604 are covered by tests).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19</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TESTING</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Results: every metric met</a:t>
            </a:r>
          </a:p>
        </p:txBody>
      </p:sp>
      <p:sp>
        <p:nvSpPr>
          <p:cNvPr id="5" name="Rounded Rectangle 4"/>
          <p:cNvSpPr/>
          <p:nvPr/>
        </p:nvSpPr>
        <p:spPr>
          <a:xfrm>
            <a:off x="548640" y="1691640"/>
            <a:ext cx="2331720" cy="1554480"/>
          </a:xfrm>
          <a:prstGeom prst="roundRect">
            <a:avLst>
              <a:gd name="adj" fmla="val 7058"/>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874520"/>
            <a:ext cx="2331720" cy="777240"/>
          </a:xfrm>
          <a:prstGeom prst="rect">
            <a:avLst/>
          </a:prstGeom>
          <a:noFill/>
        </p:spPr>
        <p:txBody>
          <a:bodyPr wrap="square" lIns="0" tIns="0" rIns="0" bIns="0" anchor="t">
            <a:spAutoFit/>
          </a:bodyPr>
          <a:lstStyle/>
          <a:p>
            <a:pPr algn="ctr"/>
            <a:r>
              <a:rPr sz="3600" b="1" i="0">
                <a:solidFill>
                  <a:srgbClr val="14172E"/>
                </a:solidFill>
                <a:latin typeface="Arial"/>
              </a:rPr>
              <a:t>941</a:t>
            </a:r>
          </a:p>
        </p:txBody>
      </p:sp>
      <p:sp>
        <p:nvSpPr>
          <p:cNvPr id="7" name="TextBox 6"/>
          <p:cNvSpPr txBox="1"/>
          <p:nvPr/>
        </p:nvSpPr>
        <p:spPr>
          <a:xfrm>
            <a:off x="548640" y="2679192"/>
            <a:ext cx="2331720" cy="365760"/>
          </a:xfrm>
          <a:prstGeom prst="rect">
            <a:avLst/>
          </a:prstGeom>
          <a:noFill/>
        </p:spPr>
        <p:txBody>
          <a:bodyPr wrap="square" lIns="0" tIns="0" rIns="0" bIns="0" anchor="t">
            <a:spAutoFit/>
          </a:bodyPr>
          <a:lstStyle/>
          <a:p>
            <a:pPr algn="ctr"/>
            <a:r>
              <a:rPr sz="1300" b="0" i="0">
                <a:solidFill>
                  <a:srgbClr val="5E6480"/>
                </a:solidFill>
                <a:latin typeface="Arial"/>
              </a:rPr>
              <a:t>tests passing</a:t>
            </a:r>
          </a:p>
        </p:txBody>
      </p:sp>
      <p:sp>
        <p:nvSpPr>
          <p:cNvPr id="8" name="Rounded Rectangle 7"/>
          <p:cNvSpPr/>
          <p:nvPr/>
        </p:nvSpPr>
        <p:spPr>
          <a:xfrm>
            <a:off x="3063240" y="1691640"/>
            <a:ext cx="2331720" cy="1554480"/>
          </a:xfrm>
          <a:prstGeom prst="roundRect">
            <a:avLst>
              <a:gd name="adj" fmla="val 7058"/>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063240" y="1874520"/>
            <a:ext cx="2331720" cy="777240"/>
          </a:xfrm>
          <a:prstGeom prst="rect">
            <a:avLst/>
          </a:prstGeom>
          <a:noFill/>
        </p:spPr>
        <p:txBody>
          <a:bodyPr wrap="square" lIns="0" tIns="0" rIns="0" bIns="0" anchor="t">
            <a:spAutoFit/>
          </a:bodyPr>
          <a:lstStyle/>
          <a:p>
            <a:pPr algn="ctr"/>
            <a:r>
              <a:rPr sz="3600" b="1" i="0">
                <a:solidFill>
                  <a:srgbClr val="14172E"/>
                </a:solidFill>
                <a:latin typeface="Arial"/>
              </a:rPr>
              <a:t>10 / 10</a:t>
            </a:r>
          </a:p>
        </p:txBody>
      </p:sp>
      <p:sp>
        <p:nvSpPr>
          <p:cNvPr id="10" name="TextBox 9"/>
          <p:cNvSpPr txBox="1"/>
          <p:nvPr/>
        </p:nvSpPr>
        <p:spPr>
          <a:xfrm>
            <a:off x="3063240" y="2679192"/>
            <a:ext cx="2331720" cy="365760"/>
          </a:xfrm>
          <a:prstGeom prst="rect">
            <a:avLst/>
          </a:prstGeom>
          <a:noFill/>
        </p:spPr>
        <p:txBody>
          <a:bodyPr wrap="square" lIns="0" tIns="0" rIns="0" bIns="0" anchor="t">
            <a:spAutoFit/>
          </a:bodyPr>
          <a:lstStyle/>
          <a:p>
            <a:pPr algn="ctr"/>
            <a:r>
              <a:rPr sz="1300" b="0" i="0">
                <a:solidFill>
                  <a:srgbClr val="5E6480"/>
                </a:solidFill>
                <a:latin typeface="Arial"/>
              </a:rPr>
              <a:t>stages in the editor</a:t>
            </a:r>
          </a:p>
        </p:txBody>
      </p:sp>
      <p:sp>
        <p:nvSpPr>
          <p:cNvPr id="11" name="Rounded Rectangle 10"/>
          <p:cNvSpPr/>
          <p:nvPr/>
        </p:nvSpPr>
        <p:spPr>
          <a:xfrm>
            <a:off x="548640" y="3429000"/>
            <a:ext cx="2331720" cy="1554480"/>
          </a:xfrm>
          <a:prstGeom prst="roundRect">
            <a:avLst>
              <a:gd name="adj" fmla="val 7058"/>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640" y="3611880"/>
            <a:ext cx="2331720" cy="777240"/>
          </a:xfrm>
          <a:prstGeom prst="rect">
            <a:avLst/>
          </a:prstGeom>
          <a:noFill/>
        </p:spPr>
        <p:txBody>
          <a:bodyPr wrap="square" lIns="0" tIns="0" rIns="0" bIns="0" anchor="t">
            <a:spAutoFit/>
          </a:bodyPr>
          <a:lstStyle/>
          <a:p>
            <a:pPr algn="ctr"/>
            <a:r>
              <a:rPr sz="3600" b="1" i="0">
                <a:solidFill>
                  <a:srgbClr val="14172E"/>
                </a:solidFill>
                <a:latin typeface="Arial"/>
              </a:rPr>
              <a:t>14</a:t>
            </a:r>
          </a:p>
        </p:txBody>
      </p:sp>
      <p:sp>
        <p:nvSpPr>
          <p:cNvPr id="13" name="TextBox 12"/>
          <p:cNvSpPr txBox="1"/>
          <p:nvPr/>
        </p:nvSpPr>
        <p:spPr>
          <a:xfrm>
            <a:off x="548640" y="4416552"/>
            <a:ext cx="2331720" cy="365760"/>
          </a:xfrm>
          <a:prstGeom prst="rect">
            <a:avLst/>
          </a:prstGeom>
          <a:noFill/>
        </p:spPr>
        <p:txBody>
          <a:bodyPr wrap="square" lIns="0" tIns="0" rIns="0" bIns="0" anchor="t">
            <a:spAutoFit/>
          </a:bodyPr>
          <a:lstStyle/>
          <a:p>
            <a:pPr algn="ctr"/>
            <a:r>
              <a:rPr sz="1300" b="0" i="0">
                <a:solidFill>
                  <a:srgbClr val="5E6480"/>
                </a:solidFill>
                <a:latin typeface="Arial"/>
              </a:rPr>
              <a:t>error codes demoed</a:t>
            </a:r>
          </a:p>
        </p:txBody>
      </p:sp>
      <p:sp>
        <p:nvSpPr>
          <p:cNvPr id="14" name="Rounded Rectangle 13"/>
          <p:cNvSpPr/>
          <p:nvPr/>
        </p:nvSpPr>
        <p:spPr>
          <a:xfrm>
            <a:off x="3063240" y="3429000"/>
            <a:ext cx="2331720" cy="1554480"/>
          </a:xfrm>
          <a:prstGeom prst="roundRect">
            <a:avLst>
              <a:gd name="adj" fmla="val 7058"/>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063240" y="3611880"/>
            <a:ext cx="2331720" cy="777240"/>
          </a:xfrm>
          <a:prstGeom prst="rect">
            <a:avLst/>
          </a:prstGeom>
          <a:noFill/>
        </p:spPr>
        <p:txBody>
          <a:bodyPr wrap="square" lIns="0" tIns="0" rIns="0" bIns="0" anchor="t">
            <a:spAutoFit/>
          </a:bodyPr>
          <a:lstStyle/>
          <a:p>
            <a:pPr algn="ctr"/>
            <a:r>
              <a:rPr sz="3600" b="1" i="0">
                <a:solidFill>
                  <a:srgbClr val="14172E"/>
                </a:solidFill>
                <a:latin typeface="Arial"/>
              </a:rPr>
              <a:t>18</a:t>
            </a:r>
          </a:p>
        </p:txBody>
      </p:sp>
      <p:sp>
        <p:nvSpPr>
          <p:cNvPr id="16" name="TextBox 15"/>
          <p:cNvSpPr txBox="1"/>
          <p:nvPr/>
        </p:nvSpPr>
        <p:spPr>
          <a:xfrm>
            <a:off x="3063240" y="4416552"/>
            <a:ext cx="2331720" cy="365760"/>
          </a:xfrm>
          <a:prstGeom prst="rect">
            <a:avLst/>
          </a:prstGeom>
          <a:noFill/>
        </p:spPr>
        <p:txBody>
          <a:bodyPr wrap="square" lIns="0" tIns="0" rIns="0" bIns="0" anchor="t">
            <a:spAutoFit/>
          </a:bodyPr>
          <a:lstStyle/>
          <a:p>
            <a:pPr algn="ctr"/>
            <a:r>
              <a:rPr sz="1300" b="0" i="0">
                <a:solidFill>
                  <a:srgbClr val="5E6480"/>
                </a:solidFill>
                <a:latin typeface="Arial"/>
              </a:rPr>
              <a:t>example programs</a:t>
            </a:r>
          </a:p>
        </p:txBody>
      </p:sp>
      <p:graphicFrame>
        <p:nvGraphicFramePr>
          <p:cNvPr id="17" name="Chart 16"/>
          <p:cNvGraphicFramePr>
            <a:graphicFrameLocks noGrp="1"/>
          </p:cNvGraphicFramePr>
          <p:nvPr/>
        </p:nvGraphicFramePr>
        <p:xfrm>
          <a:off x="5760720" y="1554480"/>
          <a:ext cx="58521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548640" y="5212080"/>
            <a:ext cx="4937760" cy="914400"/>
          </a:xfrm>
          <a:prstGeom prst="rect">
            <a:avLst/>
          </a:prstGeom>
          <a:noFill/>
        </p:spPr>
        <p:txBody>
          <a:bodyPr wrap="square" lIns="0" tIns="0" rIns="0" bIns="0" anchor="t">
            <a:spAutoFit/>
          </a:bodyPr>
          <a:lstStyle/>
          <a:p>
            <a:pPr algn="l"/>
            <a:r>
              <a:rPr sz="1300" b="0" i="0">
                <a:solidFill>
                  <a:srgbClr val="5E6480"/>
                </a:solidFill>
                <a:latin typeface="Arial"/>
              </a:rPr>
              <a:t>Unit tests per phase · golden output for every example · one negative test per error row · optimizer before/after counts · API and CLI end to end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20</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DESIGN TRADE-OFFS</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Limitations, stated openly</a:t>
            </a:r>
          </a:p>
        </p:txBody>
      </p:sp>
      <p:sp>
        <p:nvSpPr>
          <p:cNvPr id="5" name="Rounded Rectangle 4"/>
          <p:cNvSpPr/>
          <p:nvPr/>
        </p:nvSpPr>
        <p:spPr>
          <a:xfrm>
            <a:off x="548640" y="1691640"/>
            <a:ext cx="5394960" cy="1920240"/>
          </a:xfrm>
          <a:prstGeom prst="roundRect">
            <a:avLst>
              <a:gd name="adj" fmla="val 571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22959" y="1965960"/>
            <a:ext cx="502920" cy="502920"/>
          </a:xfrm>
          <a:prstGeom prst="ellipse">
            <a:avLst/>
          </a:prstGeom>
          <a:solidFill>
            <a:srgbClr val="23284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T</a:t>
            </a:r>
          </a:p>
        </p:txBody>
      </p:sp>
      <p:sp>
        <p:nvSpPr>
          <p:cNvPr id="7" name="TextBox 6"/>
          <p:cNvSpPr txBox="1"/>
          <p:nvPr/>
        </p:nvSpPr>
        <p:spPr>
          <a:xfrm>
            <a:off x="1508760" y="2020824"/>
            <a:ext cx="4114800" cy="411480"/>
          </a:xfrm>
          <a:prstGeom prst="rect">
            <a:avLst/>
          </a:prstGeom>
          <a:noFill/>
        </p:spPr>
        <p:txBody>
          <a:bodyPr wrap="square" lIns="0" tIns="0" rIns="0" bIns="0" anchor="t">
            <a:spAutoFit/>
          </a:bodyPr>
          <a:lstStyle/>
          <a:p>
            <a:pPr algn="l"/>
            <a:r>
              <a:rPr sz="1800" b="1" i="0">
                <a:solidFill>
                  <a:srgbClr val="1F233B"/>
                </a:solidFill>
                <a:latin typeface="Arial"/>
              </a:rPr>
              <a:t>Taint</a:t>
            </a:r>
          </a:p>
        </p:txBody>
      </p:sp>
      <p:sp>
        <p:nvSpPr>
          <p:cNvPr id="8" name="TextBox 7"/>
          <p:cNvSpPr txBox="1"/>
          <p:nvPr/>
        </p:nvSpPr>
        <p:spPr>
          <a:xfrm>
            <a:off x="822959" y="2606040"/>
            <a:ext cx="4892040" cy="960120"/>
          </a:xfrm>
          <a:prstGeom prst="rect">
            <a:avLst/>
          </a:prstGeom>
          <a:noFill/>
        </p:spPr>
        <p:txBody>
          <a:bodyPr wrap="square" lIns="0" tIns="0" rIns="0" bIns="0" anchor="t">
            <a:spAutoFit/>
          </a:bodyPr>
          <a:lstStyle/>
          <a:p>
            <a:pPr algn="l"/>
            <a:r>
              <a:rPr sz="1300" b="0" i="0">
                <a:solidFill>
                  <a:srgbClr val="5E6480"/>
                </a:solidFill>
                <a:latin typeface="Arial"/>
              </a:rPr>
              <a:t>Explicit flows only (no implicit flow through if); one label per list; parameters are trusted; the LLM may launder text, so llm output stays tainted until sanitize.</a:t>
            </a:r>
          </a:p>
        </p:txBody>
      </p:sp>
      <p:sp>
        <p:nvSpPr>
          <p:cNvPr id="9" name="Rounded Rectangle 8"/>
          <p:cNvSpPr/>
          <p:nvPr/>
        </p:nvSpPr>
        <p:spPr>
          <a:xfrm>
            <a:off x="6172200" y="1691640"/>
            <a:ext cx="5394960" cy="1920240"/>
          </a:xfrm>
          <a:prstGeom prst="roundRect">
            <a:avLst>
              <a:gd name="adj" fmla="val 571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446520" y="1965960"/>
            <a:ext cx="502920" cy="502920"/>
          </a:xfrm>
          <a:prstGeom prst="ellipse">
            <a:avLst/>
          </a:prstGeom>
          <a:solidFill>
            <a:srgbClr val="23284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A</a:t>
            </a:r>
          </a:p>
        </p:txBody>
      </p:sp>
      <p:sp>
        <p:nvSpPr>
          <p:cNvPr id="11" name="TextBox 10"/>
          <p:cNvSpPr txBox="1"/>
          <p:nvPr/>
        </p:nvSpPr>
        <p:spPr>
          <a:xfrm>
            <a:off x="7132320" y="2020824"/>
            <a:ext cx="4114800" cy="411480"/>
          </a:xfrm>
          <a:prstGeom prst="rect">
            <a:avLst/>
          </a:prstGeom>
          <a:noFill/>
        </p:spPr>
        <p:txBody>
          <a:bodyPr wrap="square" lIns="0" tIns="0" rIns="0" bIns="0" anchor="t">
            <a:spAutoFit/>
          </a:bodyPr>
          <a:lstStyle/>
          <a:p>
            <a:pPr algn="l"/>
            <a:r>
              <a:rPr sz="1800" b="1" i="0">
                <a:solidFill>
                  <a:srgbClr val="1F233B"/>
                </a:solidFill>
                <a:latin typeface="Arial"/>
              </a:rPr>
              <a:t>Approval</a:t>
            </a:r>
          </a:p>
        </p:txBody>
      </p:sp>
      <p:sp>
        <p:nvSpPr>
          <p:cNvPr id="12" name="TextBox 11"/>
          <p:cNvSpPr txBox="1"/>
          <p:nvPr/>
        </p:nvSpPr>
        <p:spPr>
          <a:xfrm>
            <a:off x="6446520" y="2606040"/>
            <a:ext cx="4892040" cy="960120"/>
          </a:xfrm>
          <a:prstGeom prst="rect">
            <a:avLst/>
          </a:prstGeom>
          <a:noFill/>
        </p:spPr>
        <p:txBody>
          <a:bodyPr wrap="square" lIns="0" tIns="0" rIns="0" bIns="0" anchor="t">
            <a:spAutoFit/>
          </a:bodyPr>
          <a:lstStyle/>
          <a:p>
            <a:pPr algn="l"/>
            <a:r>
              <a:rPr sz="1300" b="0" i="0">
                <a:solidFill>
                  <a:srgbClr val="5E6480"/>
                </a:solidFill>
                <a:latin typeface="Arial"/>
              </a:rPr>
              <a:t>One confirm must dominate the call: two confirms on two branches before a join are rejected; confirm(..) == true is not accepted.</a:t>
            </a:r>
          </a:p>
        </p:txBody>
      </p:sp>
      <p:sp>
        <p:nvSpPr>
          <p:cNvPr id="13" name="Rounded Rectangle 12"/>
          <p:cNvSpPr/>
          <p:nvPr/>
        </p:nvSpPr>
        <p:spPr>
          <a:xfrm>
            <a:off x="548640" y="3840480"/>
            <a:ext cx="5394960" cy="1920240"/>
          </a:xfrm>
          <a:prstGeom prst="roundRect">
            <a:avLst>
              <a:gd name="adj" fmla="val 571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59" y="4114800"/>
            <a:ext cx="502920" cy="502920"/>
          </a:xfrm>
          <a:prstGeom prst="ellipse">
            <a:avLst/>
          </a:prstGeom>
          <a:solidFill>
            <a:srgbClr val="23284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B</a:t>
            </a:r>
          </a:p>
        </p:txBody>
      </p:sp>
      <p:sp>
        <p:nvSpPr>
          <p:cNvPr id="15" name="TextBox 14"/>
          <p:cNvSpPr txBox="1"/>
          <p:nvPr/>
        </p:nvSpPr>
        <p:spPr>
          <a:xfrm>
            <a:off x="1508760" y="4169664"/>
            <a:ext cx="4114800" cy="411480"/>
          </a:xfrm>
          <a:prstGeom prst="rect">
            <a:avLst/>
          </a:prstGeom>
          <a:noFill/>
        </p:spPr>
        <p:txBody>
          <a:bodyPr wrap="square" lIns="0" tIns="0" rIns="0" bIns="0" anchor="t">
            <a:spAutoFit/>
          </a:bodyPr>
          <a:lstStyle/>
          <a:p>
            <a:pPr algn="l"/>
            <a:r>
              <a:rPr sz="1800" b="1" i="0">
                <a:solidFill>
                  <a:srgbClr val="1F233B"/>
                </a:solidFill>
                <a:latin typeface="Arial"/>
              </a:rPr>
              <a:t>Budget</a:t>
            </a:r>
          </a:p>
        </p:txBody>
      </p:sp>
      <p:sp>
        <p:nvSpPr>
          <p:cNvPr id="16" name="TextBox 15"/>
          <p:cNvSpPr txBox="1"/>
          <p:nvPr/>
        </p:nvSpPr>
        <p:spPr>
          <a:xfrm>
            <a:off x="822959" y="4754880"/>
            <a:ext cx="4892040" cy="960120"/>
          </a:xfrm>
          <a:prstGeom prst="rect">
            <a:avLst/>
          </a:prstGeom>
          <a:noFill/>
        </p:spPr>
        <p:txBody>
          <a:bodyPr wrap="square" lIns="0" tIns="0" rIns="0" bIns="0" anchor="t">
            <a:spAutoFit/>
          </a:bodyPr>
          <a:lstStyle/>
          <a:p>
            <a:pPr algn="l"/>
            <a:r>
              <a:rPr sz="1300" b="0" i="0">
                <a:solidFill>
                  <a:srgbClr val="5E6480"/>
                </a:solidFill>
                <a:latin typeface="Arial"/>
              </a:rPr>
              <a:t>Exact for literal loop bounds; repeat over a variable gives warning W306 and is enforced by the VM.</a:t>
            </a:r>
          </a:p>
        </p:txBody>
      </p:sp>
      <p:sp>
        <p:nvSpPr>
          <p:cNvPr id="17" name="Rounded Rectangle 16"/>
          <p:cNvSpPr/>
          <p:nvPr/>
        </p:nvSpPr>
        <p:spPr>
          <a:xfrm>
            <a:off x="6172200" y="3840480"/>
            <a:ext cx="5394960" cy="1920240"/>
          </a:xfrm>
          <a:prstGeom prst="roundRect">
            <a:avLst>
              <a:gd name="adj" fmla="val 5714"/>
            </a:avLst>
          </a:prstGeom>
          <a:solidFill>
            <a:srgbClr val="F4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46520" y="4114800"/>
            <a:ext cx="502920" cy="502920"/>
          </a:xfrm>
          <a:prstGeom prst="ellipse">
            <a:avLst/>
          </a:prstGeom>
          <a:solidFill>
            <a:srgbClr val="23284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rial"/>
              </a:rPr>
              <a:t>S</a:t>
            </a:r>
          </a:p>
        </p:txBody>
      </p:sp>
      <p:sp>
        <p:nvSpPr>
          <p:cNvPr id="19" name="TextBox 18"/>
          <p:cNvSpPr txBox="1"/>
          <p:nvPr/>
        </p:nvSpPr>
        <p:spPr>
          <a:xfrm>
            <a:off x="7132320" y="4169664"/>
            <a:ext cx="4114800" cy="411480"/>
          </a:xfrm>
          <a:prstGeom prst="rect">
            <a:avLst/>
          </a:prstGeom>
          <a:noFill/>
        </p:spPr>
        <p:txBody>
          <a:bodyPr wrap="square" lIns="0" tIns="0" rIns="0" bIns="0" anchor="t">
            <a:spAutoFit/>
          </a:bodyPr>
          <a:lstStyle/>
          <a:p>
            <a:pPr algn="l"/>
            <a:r>
              <a:rPr sz="1800" b="1" i="0">
                <a:solidFill>
                  <a:srgbClr val="1F233B"/>
                </a:solidFill>
                <a:latin typeface="Arial"/>
              </a:rPr>
              <a:t>Scope</a:t>
            </a:r>
          </a:p>
        </p:txBody>
      </p:sp>
      <p:sp>
        <p:nvSpPr>
          <p:cNvPr id="20" name="TextBox 19"/>
          <p:cNvSpPr txBox="1"/>
          <p:nvPr/>
        </p:nvSpPr>
        <p:spPr>
          <a:xfrm>
            <a:off x="6446520" y="4754880"/>
            <a:ext cx="4892040" cy="960120"/>
          </a:xfrm>
          <a:prstGeom prst="rect">
            <a:avLst/>
          </a:prstGeom>
          <a:noFill/>
        </p:spPr>
        <p:txBody>
          <a:bodyPr wrap="square" lIns="0" tIns="0" rIns="0" bIns="0" anchor="t">
            <a:spAutoFit/>
          </a:bodyPr>
          <a:lstStyle/>
          <a:p>
            <a:pPr algn="l"/>
            <a:r>
              <a:rPr sz="1300" b="0" i="0">
                <a:solidFill>
                  <a:srgbClr val="5E6480"/>
                </a:solidFill>
                <a:latin typeface="Arial"/>
              </a:rPr>
              <a:t>No error recovery (first syntax error only); mock tools by default; sanitize is trusted by definition.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172E"/>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5486400" cy="365760"/>
          </a:xfrm>
          <a:prstGeom prst="rect">
            <a:avLst/>
          </a:prstGeom>
          <a:noFill/>
        </p:spPr>
        <p:txBody>
          <a:bodyPr wrap="square" lIns="0" tIns="0" rIns="0" bIns="0" anchor="t">
            <a:spAutoFit/>
          </a:bodyPr>
          <a:lstStyle/>
          <a:p>
            <a:pPr algn="l"/>
            <a:r>
              <a:rPr sz="1400" b="1" i="0">
                <a:solidFill>
                  <a:srgbClr val="F2A01B"/>
                </a:solidFill>
                <a:latin typeface="Arial"/>
              </a:rPr>
              <a:t>LIVE DEMO</a:t>
            </a:r>
          </a:p>
        </p:txBody>
      </p:sp>
      <p:sp>
        <p:nvSpPr>
          <p:cNvPr id="3" name="TextBox 2"/>
          <p:cNvSpPr txBox="1"/>
          <p:nvPr/>
        </p:nvSpPr>
        <p:spPr>
          <a:xfrm>
            <a:off x="731520" y="1097280"/>
            <a:ext cx="7315200" cy="822960"/>
          </a:xfrm>
          <a:prstGeom prst="rect">
            <a:avLst/>
          </a:prstGeom>
          <a:noFill/>
        </p:spPr>
        <p:txBody>
          <a:bodyPr wrap="square" lIns="0" tIns="0" rIns="0" bIns="0" anchor="t">
            <a:spAutoFit/>
          </a:bodyPr>
          <a:lstStyle/>
          <a:p>
            <a:pPr algn="l"/>
            <a:r>
              <a:rPr sz="4000" b="1" i="0">
                <a:solidFill>
                  <a:srgbClr val="FFFFFF"/>
                </a:solidFill>
                <a:latin typeface="Arial"/>
              </a:rPr>
              <a:t>Run it yourself</a:t>
            </a:r>
          </a:p>
        </p:txBody>
      </p:sp>
      <p:sp>
        <p:nvSpPr>
          <p:cNvPr id="4" name="Rounded Rectangle 3"/>
          <p:cNvSpPr/>
          <p:nvPr/>
        </p:nvSpPr>
        <p:spPr>
          <a:xfrm>
            <a:off x="731520" y="2148840"/>
            <a:ext cx="6766560" cy="1600200"/>
          </a:xfrm>
          <a:prstGeom prst="roundRect">
            <a:avLst>
              <a:gd name="adj" fmla="val 6857"/>
            </a:avLst>
          </a:prstGeom>
          <a:solidFill>
            <a:srgbClr val="1C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60120" y="2313432"/>
            <a:ext cx="6309360" cy="1298448"/>
          </a:xfrm>
          <a:prstGeom prst="rect">
            <a:avLst/>
          </a:prstGeom>
          <a:noFill/>
        </p:spPr>
        <p:txBody>
          <a:bodyPr wrap="square" lIns="0" tIns="0" rIns="0" bIns="0" anchor="t">
            <a:spAutoFit/>
          </a:bodyPr>
          <a:lstStyle/>
          <a:p>
            <a:pPr algn="l"/>
            <a:r>
              <a:rPr sz="1400" b="0" i="0">
                <a:solidFill>
                  <a:srgbClr val="E6E8F2"/>
                </a:solidFill>
                <a:latin typeface="Courier New"/>
              </a:rPr>
              <a:t>$ python -m venv .venv</a:t>
            </a:r>
          </a:p>
          <a:p>
            <a:pPr algn="l"/>
            <a:r>
              <a:rPr sz="1400" b="0" i="0">
                <a:solidFill>
                  <a:srgbClr val="E6E8F2"/>
                </a:solidFill>
                <a:latin typeface="Courier New"/>
              </a:rPr>
              <a:t>$ .venv/bin/pip install -r requirements.txt</a:t>
            </a:r>
          </a:p>
          <a:p>
            <a:pPr algn="l"/>
            <a:r>
              <a:rPr sz="1400" b="0" i="0">
                <a:solidFill>
                  <a:srgbClr val="8FE3BC"/>
                </a:solidFill>
                <a:latin typeface="Courier New"/>
              </a:rPr>
              <a:t>$ .venv/bin/pytest -q          # 941 passed</a:t>
            </a:r>
          </a:p>
          <a:p>
            <a:pPr algn="l"/>
            <a:r>
              <a:rPr sz="1400" b="0" i="0">
                <a:solidFill>
                  <a:srgbClr val="F2A01B"/>
                </a:solidFill>
                <a:latin typeface="Courier New"/>
              </a:rPr>
              <a:t>$ .venv/bin/python -m agentscript serve --port 8000</a:t>
            </a:r>
          </a:p>
          <a:p>
            <a:pPr algn="l"/>
            <a:r>
              <a:rPr sz="1400" b="0" i="0">
                <a:solidFill>
                  <a:srgbClr val="E6E8F2"/>
                </a:solidFill>
                <a:latin typeface="Courier New"/>
              </a:rPr>
              <a:t>  open http://127.0.0.1:8000</a:t>
            </a:r>
          </a:p>
        </p:txBody>
      </p:sp>
      <p:sp>
        <p:nvSpPr>
          <p:cNvPr id="6" name="Oval 5"/>
          <p:cNvSpPr/>
          <p:nvPr/>
        </p:nvSpPr>
        <p:spPr>
          <a:xfrm>
            <a:off x="8138160" y="1188720"/>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1</a:t>
            </a:r>
          </a:p>
        </p:txBody>
      </p:sp>
      <p:sp>
        <p:nvSpPr>
          <p:cNvPr id="7" name="TextBox 6"/>
          <p:cNvSpPr txBox="1"/>
          <p:nvPr/>
        </p:nvSpPr>
        <p:spPr>
          <a:xfrm>
            <a:off x="8732520" y="1261872"/>
            <a:ext cx="3108960" cy="457200"/>
          </a:xfrm>
          <a:prstGeom prst="rect">
            <a:avLst/>
          </a:prstGeom>
          <a:noFill/>
        </p:spPr>
        <p:txBody>
          <a:bodyPr wrap="square" lIns="0" tIns="0" rIns="0" bIns="0" anchor="t">
            <a:spAutoFit/>
          </a:bodyPr>
          <a:lstStyle/>
          <a:p>
            <a:pPr algn="l"/>
            <a:r>
              <a:rPr sz="1400" b="0" i="0">
                <a:solidFill>
                  <a:srgbClr val="FFFFFF"/>
                </a:solidFill>
                <a:latin typeface="Arial"/>
              </a:rPr>
              <a:t>valid_report.as: run, 5 of 5 calls</a:t>
            </a:r>
          </a:p>
        </p:txBody>
      </p:sp>
      <p:sp>
        <p:nvSpPr>
          <p:cNvPr id="8" name="Oval 7"/>
          <p:cNvSpPr/>
          <p:nvPr/>
        </p:nvSpPr>
        <p:spPr>
          <a:xfrm>
            <a:off x="8138160" y="1847088"/>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2</a:t>
            </a:r>
          </a:p>
        </p:txBody>
      </p:sp>
      <p:sp>
        <p:nvSpPr>
          <p:cNvPr id="9" name="TextBox 8"/>
          <p:cNvSpPr txBox="1"/>
          <p:nvPr/>
        </p:nvSpPr>
        <p:spPr>
          <a:xfrm>
            <a:off x="8732520" y="1920240"/>
            <a:ext cx="3108960" cy="457200"/>
          </a:xfrm>
          <a:prstGeom prst="rect">
            <a:avLst/>
          </a:prstGeom>
          <a:noFill/>
        </p:spPr>
        <p:txBody>
          <a:bodyPr wrap="square" lIns="0" tIns="0" rIns="0" bIns="0" anchor="t">
            <a:spAutoFit/>
          </a:bodyPr>
          <a:lstStyle/>
          <a:p>
            <a:pPr algn="l"/>
            <a:r>
              <a:rPr sz="1400" b="0" i="0">
                <a:solidFill>
                  <a:srgbClr val="FFFFFF"/>
                </a:solidFill>
                <a:latin typeface="Arial"/>
              </a:rPr>
              <a:t>front-end errors: lex, syntax, semantic</a:t>
            </a:r>
          </a:p>
        </p:txBody>
      </p:sp>
      <p:sp>
        <p:nvSpPr>
          <p:cNvPr id="10" name="Oval 9"/>
          <p:cNvSpPr/>
          <p:nvPr/>
        </p:nvSpPr>
        <p:spPr>
          <a:xfrm>
            <a:off x="8138160" y="2505456"/>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3</a:t>
            </a:r>
          </a:p>
        </p:txBody>
      </p:sp>
      <p:sp>
        <p:nvSpPr>
          <p:cNvPr id="11" name="TextBox 10"/>
          <p:cNvSpPr txBox="1"/>
          <p:nvPr/>
        </p:nvSpPr>
        <p:spPr>
          <a:xfrm>
            <a:off x="8732520" y="2578608"/>
            <a:ext cx="3108960" cy="457200"/>
          </a:xfrm>
          <a:prstGeom prst="rect">
            <a:avLst/>
          </a:prstGeom>
          <a:noFill/>
        </p:spPr>
        <p:txBody>
          <a:bodyPr wrap="square" lIns="0" tIns="0" rIns="0" bIns="0" anchor="t">
            <a:spAutoFit/>
          </a:bodyPr>
          <a:lstStyle/>
          <a:p>
            <a:pPr algn="l"/>
            <a:r>
              <a:rPr sz="1400" b="0" i="0">
                <a:solidFill>
                  <a:srgbClr val="FFFFFF"/>
                </a:solidFill>
                <a:latin typeface="Arial"/>
              </a:rPr>
              <a:t>taint_injection.as: E401 with path</a:t>
            </a:r>
          </a:p>
        </p:txBody>
      </p:sp>
      <p:sp>
        <p:nvSpPr>
          <p:cNvPr id="12" name="Oval 11"/>
          <p:cNvSpPr/>
          <p:nvPr/>
        </p:nvSpPr>
        <p:spPr>
          <a:xfrm>
            <a:off x="8138160" y="3163824"/>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4</a:t>
            </a:r>
          </a:p>
        </p:txBody>
      </p:sp>
      <p:sp>
        <p:nvSpPr>
          <p:cNvPr id="13" name="TextBox 12"/>
          <p:cNvSpPr txBox="1"/>
          <p:nvPr/>
        </p:nvSpPr>
        <p:spPr>
          <a:xfrm>
            <a:off x="8732520" y="3236976"/>
            <a:ext cx="3108960" cy="457200"/>
          </a:xfrm>
          <a:prstGeom prst="rect">
            <a:avLst/>
          </a:prstGeom>
          <a:noFill/>
        </p:spPr>
        <p:txBody>
          <a:bodyPr wrap="square" lIns="0" tIns="0" rIns="0" bIns="0" anchor="t">
            <a:spAutoFit/>
          </a:bodyPr>
          <a:lstStyle/>
          <a:p>
            <a:pPr algn="l"/>
            <a:r>
              <a:rPr sz="1400" b="0" i="0">
                <a:solidFill>
                  <a:srgbClr val="FFFFFF"/>
                </a:solidFill>
                <a:latin typeface="Arial"/>
              </a:rPr>
              <a:t>approval examples: E501, E502</a:t>
            </a:r>
          </a:p>
        </p:txBody>
      </p:sp>
      <p:sp>
        <p:nvSpPr>
          <p:cNvPr id="14" name="Oval 13"/>
          <p:cNvSpPr/>
          <p:nvPr/>
        </p:nvSpPr>
        <p:spPr>
          <a:xfrm>
            <a:off x="8138160" y="3822191"/>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5</a:t>
            </a:r>
          </a:p>
        </p:txBody>
      </p:sp>
      <p:sp>
        <p:nvSpPr>
          <p:cNvPr id="15" name="TextBox 14"/>
          <p:cNvSpPr txBox="1"/>
          <p:nvPr/>
        </p:nvSpPr>
        <p:spPr>
          <a:xfrm>
            <a:off x="8732520" y="3895344"/>
            <a:ext cx="3108960" cy="457200"/>
          </a:xfrm>
          <a:prstGeom prst="rect">
            <a:avLst/>
          </a:prstGeom>
          <a:noFill/>
        </p:spPr>
        <p:txBody>
          <a:bodyPr wrap="square" lIns="0" tIns="0" rIns="0" bIns="0" anchor="t">
            <a:spAutoFit/>
          </a:bodyPr>
          <a:lstStyle/>
          <a:p>
            <a:pPr algn="l"/>
            <a:r>
              <a:rPr sz="1400" b="0" i="0">
                <a:solidFill>
                  <a:srgbClr val="FFFFFF"/>
                </a:solidFill>
                <a:latin typeface="Arial"/>
              </a:rPr>
              <a:t>optimize_demo.as: calls 4 -&gt; 2</a:t>
            </a:r>
          </a:p>
        </p:txBody>
      </p:sp>
      <p:sp>
        <p:nvSpPr>
          <p:cNvPr id="16" name="Oval 15"/>
          <p:cNvSpPr/>
          <p:nvPr/>
        </p:nvSpPr>
        <p:spPr>
          <a:xfrm>
            <a:off x="8138160" y="4480559"/>
            <a:ext cx="438912" cy="438912"/>
          </a:xfrm>
          <a:prstGeom prst="ellipse">
            <a:avLst/>
          </a:prstGeom>
          <a:solidFill>
            <a:srgbClr val="F2A01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4172E"/>
                </a:solidFill>
                <a:latin typeface="Arial"/>
              </a:rPr>
              <a:t>6</a:t>
            </a:r>
          </a:p>
        </p:txBody>
      </p:sp>
      <p:sp>
        <p:nvSpPr>
          <p:cNvPr id="17" name="TextBox 16"/>
          <p:cNvSpPr txBox="1"/>
          <p:nvPr/>
        </p:nvSpPr>
        <p:spPr>
          <a:xfrm>
            <a:off x="8732520" y="4553712"/>
            <a:ext cx="3108960" cy="457200"/>
          </a:xfrm>
          <a:prstGeom prst="rect">
            <a:avLst/>
          </a:prstGeom>
          <a:noFill/>
        </p:spPr>
        <p:txBody>
          <a:bodyPr wrap="square" lIns="0" tIns="0" rIns="0" bIns="0" anchor="t">
            <a:spAutoFit/>
          </a:bodyPr>
          <a:lstStyle/>
          <a:p>
            <a:pPr algn="l"/>
            <a:r>
              <a:rPr sz="1400" b="0" i="0">
                <a:solidFill>
                  <a:srgbClr val="FFFFFF"/>
                </a:solidFill>
                <a:latin typeface="Arial"/>
              </a:rPr>
              <a:t>parallel_demo.as: rounds 4 -&gt; 2</a:t>
            </a:r>
          </a:p>
        </p:txBody>
      </p:sp>
      <p:sp>
        <p:nvSpPr>
          <p:cNvPr id="18" name="TextBox 17"/>
          <p:cNvSpPr txBox="1"/>
          <p:nvPr/>
        </p:nvSpPr>
        <p:spPr>
          <a:xfrm>
            <a:off x="731520" y="4023360"/>
            <a:ext cx="6766560" cy="365760"/>
          </a:xfrm>
          <a:prstGeom prst="rect">
            <a:avLst/>
          </a:prstGeom>
          <a:noFill/>
        </p:spPr>
        <p:txBody>
          <a:bodyPr wrap="square" lIns="0" tIns="0" rIns="0" bIns="0" anchor="t">
            <a:spAutoFit/>
          </a:bodyPr>
          <a:lstStyle/>
          <a:p>
            <a:pPr algn="l"/>
            <a:r>
              <a:rPr sz="1300" b="0" i="0">
                <a:solidFill>
                  <a:srgbClr val="9AA0C0"/>
                </a:solidFill>
                <a:latin typeface="Arial"/>
              </a:rPr>
              <a:t>Docs: docs/README.md  ·  PRD: docs/PRD.md  ·  How it works: docs/how-it-works/</a:t>
            </a:r>
          </a:p>
        </p:txBody>
      </p:sp>
      <p:sp>
        <p:nvSpPr>
          <p:cNvPr id="19" name="TextBox 18"/>
          <p:cNvSpPr txBox="1"/>
          <p:nvPr/>
        </p:nvSpPr>
        <p:spPr>
          <a:xfrm>
            <a:off x="731520" y="5669280"/>
            <a:ext cx="7315200" cy="548640"/>
          </a:xfrm>
          <a:prstGeom prst="rect">
            <a:avLst/>
          </a:prstGeom>
          <a:noFill/>
        </p:spPr>
        <p:txBody>
          <a:bodyPr wrap="square" lIns="0" tIns="0" rIns="0" bIns="0" anchor="t">
            <a:spAutoFit/>
          </a:bodyPr>
          <a:lstStyle/>
          <a:p>
            <a:pPr algn="l"/>
            <a:r>
              <a:rPr sz="2400" b="1" i="0">
                <a:solidFill>
                  <a:srgbClr val="FFFFFF"/>
                </a:solidFill>
                <a:latin typeface="Arial"/>
              </a:rPr>
              <a:t>Thank you  ·  Questions?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22</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REFERENCES</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References [1]–[10]</a:t>
            </a:r>
          </a:p>
        </p:txBody>
      </p:sp>
      <p:sp>
        <p:nvSpPr>
          <p:cNvPr id="8" name="TextBox 7"/>
          <p:cNvSpPr txBox="1"/>
          <p:nvPr/>
        </p:nvSpPr>
        <p:spPr>
          <a:xfrm>
            <a:off x="548640" y="1463040"/>
            <a:ext cx="11064240" cy="4846320"/>
          </a:xfrm>
          <a:prstGeom prst="rect">
            <a:avLst/>
          </a:prstGeom>
          <a:noFill/>
        </p:spPr>
        <p:txBody>
          <a:bodyPr wrap="square" lIns="0" tIns="0" rIns="0" bIns="0" anchor="t">
            <a:spAutoFit/>
          </a:bodyPr>
          <a:lstStyle/>
          <a:p>
            <a:pPr marL="411480" indent="-411480" algn="l">
              <a:spcAft>
                <a:spcPts val="500"/>
              </a:spcAft>
              <a:tabLst>
                <a:tab pos="411480" algn="l"/>
              </a:tabLst>
            </a:pPr>
            <a:r>
              <a:rPr sz="1400" b="1" i="0">
                <a:solidFill>
                  <a:srgbClr val="1F233B"/>
                </a:solidFill>
                <a:latin typeface="Arial"/>
              </a:rPr>
              <a:t>[1]</a:t>
            </a:r>
            <a:r>
              <a:rPr sz="1400" b="0" i="0">
                <a:solidFill>
                  <a:srgbClr val="1F233B"/>
                </a:solidFill>
                <a:latin typeface="Arial"/>
              </a:rPr>
              <a:t>	K. Greshake, S. Abdelnabi, S. Mishra, C. Endres, T. Holz, and M. Fritz, “Not what you've signed up for: Compromising real-world LLM-integrated applications with indirect prompt injection,” in </a:t>
            </a:r>
            <a:r>
              <a:rPr sz="1400" b="0" i="1">
                <a:solidFill>
                  <a:srgbClr val="1F233B"/>
                </a:solidFill>
                <a:latin typeface="Arial"/>
              </a:rPr>
              <a:t>Proc. 16th ACM Workshop Artif. Intell. Secur. (AISec)</a:t>
            </a:r>
            <a:r>
              <a:rPr sz="1400" b="0" i="0">
                <a:solidFill>
                  <a:srgbClr val="1F233B"/>
                </a:solidFill>
                <a:latin typeface="Arial"/>
              </a:rPr>
              <a:t>, 2023, pp. 79–90.</a:t>
            </a:r>
          </a:p>
          <a:p>
            <a:pPr marL="411480" indent="-411480" algn="l">
              <a:spcAft>
                <a:spcPts val="500"/>
              </a:spcAft>
              <a:tabLst>
                <a:tab pos="411480" algn="l"/>
              </a:tabLst>
            </a:pPr>
            <a:r>
              <a:rPr sz="1400" b="1" i="0">
                <a:solidFill>
                  <a:srgbClr val="1F233B"/>
                </a:solidFill>
                <a:latin typeface="Arial"/>
              </a:rPr>
              <a:t>[2]</a:t>
            </a:r>
            <a:r>
              <a:rPr sz="1400" b="0" i="0">
                <a:solidFill>
                  <a:srgbClr val="1F233B"/>
                </a:solidFill>
                <a:latin typeface="Arial"/>
              </a:rPr>
              <a:t>	OWASP Foundation, “OWASP Top 10 for large language model applications,” 2023. [Online]. Available: https://owasp.org/www-project-top-10-for-large-language-model-applications/</a:t>
            </a:r>
          </a:p>
          <a:p>
            <a:pPr marL="411480" indent="-411480" algn="l">
              <a:spcAft>
                <a:spcPts val="500"/>
              </a:spcAft>
              <a:tabLst>
                <a:tab pos="411480" algn="l"/>
              </a:tabLst>
            </a:pPr>
            <a:r>
              <a:rPr sz="1400" b="1" i="0">
                <a:solidFill>
                  <a:srgbClr val="1F233B"/>
                </a:solidFill>
                <a:latin typeface="Arial"/>
              </a:rPr>
              <a:t>[3]</a:t>
            </a:r>
            <a:r>
              <a:rPr sz="1400" b="0" i="0">
                <a:solidFill>
                  <a:srgbClr val="1F233B"/>
                </a:solidFill>
                <a:latin typeface="Arial"/>
              </a:rPr>
              <a:t>	A. V. Aho, M. S. Lam, R. Sethi, and J. D. Ullman, </a:t>
            </a:r>
            <a:r>
              <a:rPr sz="1400" b="0" i="1">
                <a:solidFill>
                  <a:srgbClr val="1F233B"/>
                </a:solidFill>
                <a:latin typeface="Arial"/>
              </a:rPr>
              <a:t>Compilers: Principles, Techniques, and Tools</a:t>
            </a:r>
            <a:r>
              <a:rPr sz="1400" b="0" i="0">
                <a:solidFill>
                  <a:srgbClr val="1F233B"/>
                </a:solidFill>
                <a:latin typeface="Arial"/>
              </a:rPr>
              <a:t>, 2nd ed. Boston, MA, USA: Addison-Wesley, 2006.</a:t>
            </a:r>
          </a:p>
          <a:p>
            <a:pPr marL="411480" indent="-411480" algn="l">
              <a:spcAft>
                <a:spcPts val="500"/>
              </a:spcAft>
              <a:tabLst>
                <a:tab pos="411480" algn="l"/>
              </a:tabLst>
            </a:pPr>
            <a:r>
              <a:rPr sz="1400" b="1" i="0">
                <a:solidFill>
                  <a:srgbClr val="1F233B"/>
                </a:solidFill>
                <a:latin typeface="Arial"/>
              </a:rPr>
              <a:t>[4]</a:t>
            </a:r>
            <a:r>
              <a:rPr sz="1400" b="0" i="0">
                <a:solidFill>
                  <a:srgbClr val="1F233B"/>
                </a:solidFill>
                <a:latin typeface="Arial"/>
              </a:rPr>
              <a:t>	O. Khattab </a:t>
            </a:r>
            <a:r>
              <a:rPr sz="1400" b="0" i="1">
                <a:solidFill>
                  <a:srgbClr val="1F233B"/>
                </a:solidFill>
                <a:latin typeface="Arial"/>
              </a:rPr>
              <a:t>et al.</a:t>
            </a:r>
            <a:r>
              <a:rPr sz="1400" b="0" i="0">
                <a:solidFill>
                  <a:srgbClr val="1F233B"/>
                </a:solidFill>
                <a:latin typeface="Arial"/>
              </a:rPr>
              <a:t>, “DSPy: Compiling declarative language model calls into self-improving pipelines,” in </a:t>
            </a:r>
            <a:r>
              <a:rPr sz="1400" b="0" i="1">
                <a:solidFill>
                  <a:srgbClr val="1F233B"/>
                </a:solidFill>
                <a:latin typeface="Arial"/>
              </a:rPr>
              <a:t>Proc. Int. Conf. Learn. Represent. (ICLR)</a:t>
            </a:r>
            <a:r>
              <a:rPr sz="1400" b="0" i="0">
                <a:solidFill>
                  <a:srgbClr val="1F233B"/>
                </a:solidFill>
                <a:latin typeface="Arial"/>
              </a:rPr>
              <a:t>, 2024.</a:t>
            </a:r>
          </a:p>
          <a:p>
            <a:pPr marL="411480" indent="-411480" algn="l">
              <a:spcAft>
                <a:spcPts val="500"/>
              </a:spcAft>
              <a:tabLst>
                <a:tab pos="411480" algn="l"/>
              </a:tabLst>
            </a:pPr>
            <a:r>
              <a:rPr sz="1400" b="1" i="0">
                <a:solidFill>
                  <a:srgbClr val="1F233B"/>
                </a:solidFill>
                <a:latin typeface="Arial"/>
              </a:rPr>
              <a:t>[5]</a:t>
            </a:r>
            <a:r>
              <a:rPr sz="1400" b="0" i="0">
                <a:solidFill>
                  <a:srgbClr val="1F233B"/>
                </a:solidFill>
                <a:latin typeface="Arial"/>
              </a:rPr>
              <a:t>	L. Beurer-Kellner, M. Fischer, and M. Vechev, “Prompting is programming: A query language for large language models,” </a:t>
            </a:r>
            <a:r>
              <a:rPr sz="1400" b="0" i="1">
                <a:solidFill>
                  <a:srgbClr val="1F233B"/>
                </a:solidFill>
                <a:latin typeface="Arial"/>
              </a:rPr>
              <a:t>Proc. ACM Program. Lang.</a:t>
            </a:r>
            <a:r>
              <a:rPr sz="1400" b="0" i="0">
                <a:solidFill>
                  <a:srgbClr val="1F233B"/>
                </a:solidFill>
                <a:latin typeface="Arial"/>
              </a:rPr>
              <a:t>, vol. 7, no. PLDI, 2023, Art. no. 186.</a:t>
            </a:r>
          </a:p>
          <a:p>
            <a:pPr marL="411480" indent="-411480" algn="l">
              <a:spcAft>
                <a:spcPts val="500"/>
              </a:spcAft>
              <a:tabLst>
                <a:tab pos="411480" algn="l"/>
              </a:tabLst>
            </a:pPr>
            <a:r>
              <a:rPr sz="1400" b="1" i="0">
                <a:solidFill>
                  <a:srgbClr val="1F233B"/>
                </a:solidFill>
                <a:latin typeface="Arial"/>
              </a:rPr>
              <a:t>[6]</a:t>
            </a:r>
            <a:r>
              <a:rPr sz="1400" b="0" i="0">
                <a:solidFill>
                  <a:srgbClr val="1F233B"/>
                </a:solidFill>
                <a:latin typeface="Arial"/>
              </a:rPr>
              <a:t>	Guidance contributors, “Guidance: A guidance language for controlling large language models,” GitHub repository. [Online]. Available: https://github.com/guidance-ai/guidance</a:t>
            </a:r>
          </a:p>
          <a:p>
            <a:pPr marL="411480" indent="-411480" algn="l">
              <a:spcAft>
                <a:spcPts val="500"/>
              </a:spcAft>
              <a:tabLst>
                <a:tab pos="411480" algn="l"/>
              </a:tabLst>
            </a:pPr>
            <a:r>
              <a:rPr sz="1400" b="1" i="0">
                <a:solidFill>
                  <a:srgbClr val="1F233B"/>
                </a:solidFill>
                <a:latin typeface="Arial"/>
              </a:rPr>
              <a:t>[7]</a:t>
            </a:r>
            <a:r>
              <a:rPr sz="1400" b="0" i="0">
                <a:solidFill>
                  <a:srgbClr val="1F233B"/>
                </a:solidFill>
                <a:latin typeface="Arial"/>
              </a:rPr>
              <a:t>	Boundary, “BAML: A domain-specific language for structured LLM functions,” GitHub repository. [Online]. Available: https://github.com/BoundaryML/baml</a:t>
            </a:r>
          </a:p>
          <a:p>
            <a:pPr marL="411480" indent="-411480" algn="l">
              <a:spcAft>
                <a:spcPts val="500"/>
              </a:spcAft>
              <a:tabLst>
                <a:tab pos="411480" algn="l"/>
              </a:tabLst>
            </a:pPr>
            <a:r>
              <a:rPr sz="1400" b="1" i="0">
                <a:solidFill>
                  <a:srgbClr val="1F233B"/>
                </a:solidFill>
                <a:latin typeface="Arial"/>
              </a:rPr>
              <a:t>[8]</a:t>
            </a:r>
            <a:r>
              <a:rPr sz="1400" b="0" i="0">
                <a:solidFill>
                  <a:srgbClr val="1F233B"/>
                </a:solidFill>
                <a:latin typeface="Arial"/>
              </a:rPr>
              <a:t>	E. Debenedetti </a:t>
            </a:r>
            <a:r>
              <a:rPr sz="1400" b="0" i="1">
                <a:solidFill>
                  <a:srgbClr val="1F233B"/>
                </a:solidFill>
                <a:latin typeface="Arial"/>
              </a:rPr>
              <a:t>et al.</a:t>
            </a:r>
            <a:r>
              <a:rPr sz="1400" b="0" i="0">
                <a:solidFill>
                  <a:srgbClr val="1F233B"/>
                </a:solidFill>
                <a:latin typeface="Arial"/>
              </a:rPr>
              <a:t>, “Defeating prompt injections by design,” 2025, </a:t>
            </a:r>
            <a:r>
              <a:rPr sz="1400" b="0" i="1">
                <a:solidFill>
                  <a:srgbClr val="1F233B"/>
                </a:solidFill>
                <a:latin typeface="Arial"/>
              </a:rPr>
              <a:t>arXiv:2503.18813</a:t>
            </a:r>
            <a:r>
              <a:rPr sz="1400" b="0" i="0">
                <a:solidFill>
                  <a:srgbClr val="1F233B"/>
                </a:solidFill>
                <a:latin typeface="Arial"/>
              </a:rPr>
              <a:t>.</a:t>
            </a:r>
          </a:p>
          <a:p>
            <a:pPr marL="411480" indent="-411480" algn="l">
              <a:spcAft>
                <a:spcPts val="500"/>
              </a:spcAft>
              <a:tabLst>
                <a:tab pos="411480" algn="l"/>
              </a:tabLst>
            </a:pPr>
            <a:r>
              <a:rPr sz="1400" b="1" i="0">
                <a:solidFill>
                  <a:srgbClr val="1F233B"/>
                </a:solidFill>
                <a:latin typeface="Arial"/>
              </a:rPr>
              <a:t>[9]</a:t>
            </a:r>
            <a:r>
              <a:rPr sz="1400" b="0" i="0">
                <a:solidFill>
                  <a:srgbClr val="1F233B"/>
                </a:solidFill>
                <a:latin typeface="Arial"/>
              </a:rPr>
              <a:t>	D. E. Denning, “A lattice model of secure information flow,” </a:t>
            </a:r>
            <a:r>
              <a:rPr sz="1400" b="0" i="1">
                <a:solidFill>
                  <a:srgbClr val="1F233B"/>
                </a:solidFill>
                <a:latin typeface="Arial"/>
              </a:rPr>
              <a:t>Commun. ACM</a:t>
            </a:r>
            <a:r>
              <a:rPr sz="1400" b="0" i="0">
                <a:solidFill>
                  <a:srgbClr val="1F233B"/>
                </a:solidFill>
                <a:latin typeface="Arial"/>
              </a:rPr>
              <a:t>, vol. 19, no. 5, pp. 236–243, May 1976.</a:t>
            </a:r>
          </a:p>
          <a:p>
            <a:pPr marL="411480" indent="-411480" algn="l">
              <a:spcAft>
                <a:spcPts val="500"/>
              </a:spcAft>
              <a:tabLst>
                <a:tab pos="411480" algn="l"/>
              </a:tabLst>
            </a:pPr>
            <a:r>
              <a:rPr sz="1400" b="1" i="0">
                <a:solidFill>
                  <a:srgbClr val="1F233B"/>
                </a:solidFill>
                <a:latin typeface="Arial"/>
              </a:rPr>
              <a:t>[10]</a:t>
            </a:r>
            <a:r>
              <a:rPr sz="1400" b="0" i="0">
                <a:solidFill>
                  <a:srgbClr val="1F233B"/>
                </a:solidFill>
                <a:latin typeface="Arial"/>
              </a:rPr>
              <a:t>	A. Sabelfeld and A. C. Myers, “Language-based information-flow security,” </a:t>
            </a:r>
            <a:r>
              <a:rPr sz="1400" b="0" i="1">
                <a:solidFill>
                  <a:srgbClr val="1F233B"/>
                </a:solidFill>
                <a:latin typeface="Arial"/>
              </a:rPr>
              <a:t>IEEE J. Sel. Areas Commun.</a:t>
            </a:r>
            <a:r>
              <a:rPr sz="1400" b="0" i="0">
                <a:solidFill>
                  <a:srgbClr val="1F233B"/>
                </a:solidFill>
                <a:latin typeface="Arial"/>
              </a:rPr>
              <a:t>, vol. 21, no. 1, pp. 5–19, Jan. 2003.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39935" y="6446520"/>
            <a:ext cx="2194560" cy="274320"/>
          </a:xfrm>
          <a:prstGeom prst="rect">
            <a:avLst/>
          </a:prstGeom>
          <a:noFill/>
        </p:spPr>
        <p:txBody>
          <a:bodyPr wrap="square" lIns="0" tIns="0" rIns="0" bIns="0" anchor="t">
            <a:spAutoFit/>
          </a:bodyPr>
          <a:lstStyle/>
          <a:p>
            <a:pPr algn="r"/>
            <a:r>
              <a:rPr sz="1000" b="0" i="0">
                <a:solidFill>
                  <a:srgbClr val="5E6480"/>
                </a:solidFill>
                <a:latin typeface="Arial"/>
              </a:rPr>
              <a:t>AgentScript  ·  23</a:t>
            </a:r>
          </a:p>
        </p:txBody>
      </p:sp>
      <p:sp>
        <p:nvSpPr>
          <p:cNvPr id="3" name="TextBox 2"/>
          <p:cNvSpPr txBox="1"/>
          <p:nvPr/>
        </p:nvSpPr>
        <p:spPr>
          <a:xfrm>
            <a:off x="548640" y="384048"/>
            <a:ext cx="8229600" cy="274320"/>
          </a:xfrm>
          <a:prstGeom prst="rect">
            <a:avLst/>
          </a:prstGeom>
          <a:noFill/>
        </p:spPr>
        <p:txBody>
          <a:bodyPr wrap="square" lIns="0" tIns="0" rIns="0" bIns="0" anchor="t">
            <a:spAutoFit/>
          </a:bodyPr>
          <a:lstStyle/>
          <a:p>
            <a:pPr algn="l"/>
            <a:r>
              <a:rPr sz="1200" b="1" i="0">
                <a:solidFill>
                  <a:srgbClr val="F2A01B"/>
                </a:solidFill>
                <a:latin typeface="Arial"/>
              </a:rPr>
              <a:t>REFERENCES</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200" b="1" i="0">
                <a:solidFill>
                  <a:srgbClr val="1F233B"/>
                </a:solidFill>
                <a:latin typeface="Arial"/>
              </a:rPr>
              <a:t>References [11]–[20]</a:t>
            </a:r>
          </a:p>
        </p:txBody>
      </p:sp>
      <p:sp>
        <p:nvSpPr>
          <p:cNvPr id="8" name="TextBox 7"/>
          <p:cNvSpPr txBox="1"/>
          <p:nvPr/>
        </p:nvSpPr>
        <p:spPr>
          <a:xfrm>
            <a:off x="548640" y="1463040"/>
            <a:ext cx="11064240" cy="4846320"/>
          </a:xfrm>
          <a:prstGeom prst="rect">
            <a:avLst/>
          </a:prstGeom>
          <a:noFill/>
        </p:spPr>
        <p:txBody>
          <a:bodyPr wrap="square" lIns="0" tIns="0" rIns="0" bIns="0" anchor="t">
            <a:spAutoFit/>
          </a:bodyPr>
          <a:lstStyle/>
          <a:p>
            <a:pPr marL="411480" indent="-411480" algn="l">
              <a:spcAft>
                <a:spcPts val="500"/>
              </a:spcAft>
              <a:tabLst>
                <a:tab pos="411480" algn="l"/>
              </a:tabLst>
            </a:pPr>
            <a:r>
              <a:rPr sz="1400" b="1" i="0">
                <a:solidFill>
                  <a:srgbClr val="1F233B"/>
                </a:solidFill>
                <a:latin typeface="Arial"/>
              </a:rPr>
              <a:t>[11]</a:t>
            </a:r>
            <a:r>
              <a:rPr sz="1400" b="0" i="0">
                <a:solidFill>
                  <a:srgbClr val="1F233B"/>
                </a:solidFill>
                <a:latin typeface="Arial"/>
              </a:rPr>
              <a:t>	A. C. Myers, “JFlow: Practical mostly-static information flow control,” in </a:t>
            </a:r>
            <a:r>
              <a:rPr sz="1400" b="0" i="1">
                <a:solidFill>
                  <a:srgbClr val="1F233B"/>
                </a:solidFill>
                <a:latin typeface="Arial"/>
              </a:rPr>
              <a:t>Proc. 26th ACM SIGPLAN-SIGACT Symp. Princ. Program. Lang. (POPL)</a:t>
            </a:r>
            <a:r>
              <a:rPr sz="1400" b="0" i="0">
                <a:solidFill>
                  <a:srgbClr val="1F233B"/>
                </a:solidFill>
                <a:latin typeface="Arial"/>
              </a:rPr>
              <a:t>, 1999, pp. 228–241.</a:t>
            </a:r>
          </a:p>
          <a:p>
            <a:pPr marL="411480" indent="-411480" algn="l">
              <a:spcAft>
                <a:spcPts val="500"/>
              </a:spcAft>
              <a:tabLst>
                <a:tab pos="411480" algn="l"/>
              </a:tabLst>
            </a:pPr>
            <a:r>
              <a:rPr sz="1400" b="1" i="0">
                <a:solidFill>
                  <a:srgbClr val="1F233B"/>
                </a:solidFill>
                <a:latin typeface="Arial"/>
              </a:rPr>
              <a:t>[12]</a:t>
            </a:r>
            <a:r>
              <a:rPr sz="1400" b="0" i="0">
                <a:solidFill>
                  <a:srgbClr val="1F233B"/>
                </a:solidFill>
                <a:latin typeface="Arial"/>
              </a:rPr>
              <a:t>	V. B. Livshits and M. S. Lam, “Finding security vulnerabilities in Java applications with static analysis,” in </a:t>
            </a:r>
            <a:r>
              <a:rPr sz="1400" b="0" i="1">
                <a:solidFill>
                  <a:srgbClr val="1F233B"/>
                </a:solidFill>
                <a:latin typeface="Arial"/>
              </a:rPr>
              <a:t>Proc. 14th USENIX Secur. Symp.</a:t>
            </a:r>
            <a:r>
              <a:rPr sz="1400" b="0" i="0">
                <a:solidFill>
                  <a:srgbClr val="1F233B"/>
                </a:solidFill>
                <a:latin typeface="Arial"/>
              </a:rPr>
              <a:t>, 2005, pp. 271–286.</a:t>
            </a:r>
          </a:p>
          <a:p>
            <a:pPr marL="411480" indent="-411480" algn="l">
              <a:spcAft>
                <a:spcPts val="500"/>
              </a:spcAft>
              <a:tabLst>
                <a:tab pos="411480" algn="l"/>
              </a:tabLst>
            </a:pPr>
            <a:r>
              <a:rPr sz="1400" b="1" i="0">
                <a:solidFill>
                  <a:srgbClr val="1F233B"/>
                </a:solidFill>
                <a:latin typeface="Arial"/>
              </a:rPr>
              <a:t>[13]</a:t>
            </a:r>
            <a:r>
              <a:rPr sz="1400" b="0" i="0">
                <a:solidFill>
                  <a:srgbClr val="1F233B"/>
                </a:solidFill>
                <a:latin typeface="Arial"/>
              </a:rPr>
              <a:t>	F. E. Allen, “Control flow analysis,” </a:t>
            </a:r>
            <a:r>
              <a:rPr sz="1400" b="0" i="1">
                <a:solidFill>
                  <a:srgbClr val="1F233B"/>
                </a:solidFill>
                <a:latin typeface="Arial"/>
              </a:rPr>
              <a:t>ACM SIGPLAN Notices</a:t>
            </a:r>
            <a:r>
              <a:rPr sz="1400" b="0" i="0">
                <a:solidFill>
                  <a:srgbClr val="1F233B"/>
                </a:solidFill>
                <a:latin typeface="Arial"/>
              </a:rPr>
              <a:t>, vol. 5, no. 7, pp. 1–19, Jul. 1970.</a:t>
            </a:r>
          </a:p>
          <a:p>
            <a:pPr marL="411480" indent="-411480" algn="l">
              <a:spcAft>
                <a:spcPts val="500"/>
              </a:spcAft>
              <a:tabLst>
                <a:tab pos="411480" algn="l"/>
              </a:tabLst>
            </a:pPr>
            <a:r>
              <a:rPr sz="1400" b="1" i="0">
                <a:solidFill>
                  <a:srgbClr val="1F233B"/>
                </a:solidFill>
                <a:latin typeface="Arial"/>
              </a:rPr>
              <a:t>[14]</a:t>
            </a:r>
            <a:r>
              <a:rPr sz="1400" b="0" i="0">
                <a:solidFill>
                  <a:srgbClr val="1F233B"/>
                </a:solidFill>
                <a:latin typeface="Arial"/>
              </a:rPr>
              <a:t>	G. A. Kildall, “A unified approach to global program optimization,” in </a:t>
            </a:r>
            <a:r>
              <a:rPr sz="1400" b="0" i="1">
                <a:solidFill>
                  <a:srgbClr val="1F233B"/>
                </a:solidFill>
                <a:latin typeface="Arial"/>
              </a:rPr>
              <a:t>Proc. 1st ACM SIGACT-SIGPLAN Symp. Princ. Program. Lang. (POPL)</a:t>
            </a:r>
            <a:r>
              <a:rPr sz="1400" b="0" i="0">
                <a:solidFill>
                  <a:srgbClr val="1F233B"/>
                </a:solidFill>
                <a:latin typeface="Arial"/>
              </a:rPr>
              <a:t>, 1973, pp. 194–206.</a:t>
            </a:r>
          </a:p>
          <a:p>
            <a:pPr marL="411480" indent="-411480" algn="l">
              <a:spcAft>
                <a:spcPts val="500"/>
              </a:spcAft>
              <a:tabLst>
                <a:tab pos="411480" algn="l"/>
              </a:tabLst>
            </a:pPr>
            <a:r>
              <a:rPr sz="1400" b="1" i="0">
                <a:solidFill>
                  <a:srgbClr val="1F233B"/>
                </a:solidFill>
                <a:latin typeface="Arial"/>
              </a:rPr>
              <a:t>[15]</a:t>
            </a:r>
            <a:r>
              <a:rPr sz="1400" b="0" i="0">
                <a:solidFill>
                  <a:srgbClr val="1F233B"/>
                </a:solidFill>
                <a:latin typeface="Arial"/>
              </a:rPr>
              <a:t>	T. Lengauer and R. E. Tarjan, “A fast algorithm for finding dominators in a flowgraph,” </a:t>
            </a:r>
            <a:r>
              <a:rPr sz="1400" b="0" i="1">
                <a:solidFill>
                  <a:srgbClr val="1F233B"/>
                </a:solidFill>
                <a:latin typeface="Arial"/>
              </a:rPr>
              <a:t>ACM Trans. Program. Lang. Syst.</a:t>
            </a:r>
            <a:r>
              <a:rPr sz="1400" b="0" i="0">
                <a:solidFill>
                  <a:srgbClr val="1F233B"/>
                </a:solidFill>
                <a:latin typeface="Arial"/>
              </a:rPr>
              <a:t>, vol. 1, no. 1, pp. 121–141, Jul. 1979.</a:t>
            </a:r>
          </a:p>
          <a:p>
            <a:pPr marL="411480" indent="-411480" algn="l">
              <a:spcAft>
                <a:spcPts val="500"/>
              </a:spcAft>
              <a:tabLst>
                <a:tab pos="411480" algn="l"/>
              </a:tabLst>
            </a:pPr>
            <a:r>
              <a:rPr sz="1400" b="1" i="0">
                <a:solidFill>
                  <a:srgbClr val="1F233B"/>
                </a:solidFill>
                <a:latin typeface="Arial"/>
              </a:rPr>
              <a:t>[16]</a:t>
            </a:r>
            <a:r>
              <a:rPr sz="1400" b="0" i="0">
                <a:solidFill>
                  <a:srgbClr val="1F233B"/>
                </a:solidFill>
                <a:latin typeface="Arial"/>
              </a:rPr>
              <a:t>	K. D. Cooper, T. J. Harvey, and K. Kennedy, “A simple, fast dominance algorithm,” Dept. Comput. Sci., Rice Univ., Houston, TX, USA, Tech. Rep., 2001.</a:t>
            </a:r>
          </a:p>
          <a:p>
            <a:pPr marL="411480" indent="-411480" algn="l">
              <a:spcAft>
                <a:spcPts val="500"/>
              </a:spcAft>
              <a:tabLst>
                <a:tab pos="411480" algn="l"/>
              </a:tabLst>
            </a:pPr>
            <a:r>
              <a:rPr sz="1400" b="1" i="0">
                <a:solidFill>
                  <a:srgbClr val="1F233B"/>
                </a:solidFill>
                <a:latin typeface="Arial"/>
              </a:rPr>
              <a:t>[17]</a:t>
            </a:r>
            <a:r>
              <a:rPr sz="1400" b="0" i="0">
                <a:solidFill>
                  <a:srgbClr val="1F233B"/>
                </a:solidFill>
                <a:latin typeface="Arial"/>
              </a:rPr>
              <a:t>	J. B. Dennis and E. C. Van Horn, “Programming semantics for multiprogrammed computations,” </a:t>
            </a:r>
            <a:r>
              <a:rPr sz="1400" b="0" i="1">
                <a:solidFill>
                  <a:srgbClr val="1F233B"/>
                </a:solidFill>
                <a:latin typeface="Arial"/>
              </a:rPr>
              <a:t>Commun. ACM</a:t>
            </a:r>
            <a:r>
              <a:rPr sz="1400" b="0" i="0">
                <a:solidFill>
                  <a:srgbClr val="1F233B"/>
                </a:solidFill>
                <a:latin typeface="Arial"/>
              </a:rPr>
              <a:t>, vol. 9, no. 3, pp. 143–155, Mar. 1966.</a:t>
            </a:r>
          </a:p>
          <a:p>
            <a:pPr marL="411480" indent="-411480" algn="l">
              <a:spcAft>
                <a:spcPts val="500"/>
              </a:spcAft>
              <a:tabLst>
                <a:tab pos="411480" algn="l"/>
              </a:tabLst>
            </a:pPr>
            <a:r>
              <a:rPr sz="1400" b="1" i="0">
                <a:solidFill>
                  <a:srgbClr val="1F233B"/>
                </a:solidFill>
                <a:latin typeface="Arial"/>
              </a:rPr>
              <a:t>[18]</a:t>
            </a:r>
            <a:r>
              <a:rPr sz="1400" b="0" i="0">
                <a:solidFill>
                  <a:srgbClr val="1F233B"/>
                </a:solidFill>
                <a:latin typeface="Arial"/>
              </a:rPr>
              <a:t>	M. S. Miller, “Robust composition: Towards a unified approach to access control and concurrency control,” Ph.D. dissertation, Johns Hopkins Univ., Baltimore, MD, USA, 2006.</a:t>
            </a:r>
          </a:p>
          <a:p>
            <a:pPr marL="411480" indent="-411480" algn="l">
              <a:spcAft>
                <a:spcPts val="500"/>
              </a:spcAft>
              <a:tabLst>
                <a:tab pos="411480" algn="l"/>
              </a:tabLst>
            </a:pPr>
            <a:r>
              <a:rPr sz="1400" b="1" i="0">
                <a:solidFill>
                  <a:srgbClr val="1F233B"/>
                </a:solidFill>
                <a:latin typeface="Arial"/>
              </a:rPr>
              <a:t>[19]</a:t>
            </a:r>
            <a:r>
              <a:rPr sz="1400" b="0" i="0">
                <a:solidFill>
                  <a:srgbClr val="1F233B"/>
                </a:solidFill>
                <a:latin typeface="Arial"/>
              </a:rPr>
              <a:t>	J. M. Lucassen and D. K. Gifford, “Polymorphic effect systems,” in </a:t>
            </a:r>
            <a:r>
              <a:rPr sz="1400" b="0" i="1">
                <a:solidFill>
                  <a:srgbClr val="1F233B"/>
                </a:solidFill>
                <a:latin typeface="Arial"/>
              </a:rPr>
              <a:t>Proc. 15th ACM SIGPLAN-SIGACT Symp. Princ. Program. Lang. (POPL)</a:t>
            </a:r>
            <a:r>
              <a:rPr sz="1400" b="0" i="0">
                <a:solidFill>
                  <a:srgbClr val="1F233B"/>
                </a:solidFill>
                <a:latin typeface="Arial"/>
              </a:rPr>
              <a:t>, 1988, pp. 47–57.</a:t>
            </a:r>
          </a:p>
          <a:p>
            <a:pPr marL="411480" indent="-411480" algn="l">
              <a:spcAft>
                <a:spcPts val="500"/>
              </a:spcAft>
              <a:tabLst>
                <a:tab pos="411480" algn="l"/>
              </a:tabLst>
            </a:pPr>
            <a:r>
              <a:rPr sz="1400" b="1" i="0">
                <a:solidFill>
                  <a:srgbClr val="1F233B"/>
                </a:solidFill>
                <a:latin typeface="Arial"/>
              </a:rPr>
              <a:t>[20]</a:t>
            </a:r>
            <a:r>
              <a:rPr sz="1400" b="0" i="0">
                <a:solidFill>
                  <a:srgbClr val="1F233B"/>
                </a:solidFill>
                <a:latin typeface="Arial"/>
              </a:rPr>
              <a:t>	S. Ramírez, “FastAPI,” [Online]. Available: https://fastapi.tiangolo.com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4642</Words>
  <Application>Microsoft Office PowerPoint</Application>
  <PresentationFormat>Widescreen</PresentationFormat>
  <Paragraphs>569</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Ashwin Raj</cp:lastModifiedBy>
  <cp:revision>6</cp:revision>
  <dcterms:created xsi:type="dcterms:W3CDTF">2013-01-27T09:14:16Z</dcterms:created>
  <dcterms:modified xsi:type="dcterms:W3CDTF">2026-10-26T17:32:15Z</dcterms:modified>
  <cp:category/>
</cp:coreProperties>
</file>