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1F233B"/>
                </a:solidFill>
              </a:rPr>
              <a:t>Tests per file (pytest --co)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23284A"/>
            </a:solidFill>
          </c:spPr>
          <c:cat>
            <c:strRef>
              <c:f>Sheet1!$A$2:$A$17</c:f>
              <c:strCache>
                <c:ptCount val="16"/>
                <c:pt idx="0">
                  <c:v>parser</c:v>
                </c:pt>
                <c:pt idx="1">
                  <c:v>semantic</c:v>
                </c:pt>
                <c:pt idx="2">
                  <c:v>pipeline</c:v>
                </c:pt>
                <c:pt idx="3">
                  <c:v>vm</c:v>
                </c:pt>
                <c:pt idx="4">
                  <c:v>lexer</c:v>
                </c:pt>
                <c:pt idx="5">
                  <c:v>optimizer</c:v>
                </c:pt>
                <c:pt idx="6">
                  <c:v>codegen</c:v>
                </c:pt>
                <c:pt idx="7">
                  <c:v>irgen</c:v>
                </c:pt>
                <c:pt idx="8">
                  <c:v>approval</c:v>
                </c:pt>
                <c:pt idx="9">
                  <c:v>taint</c:v>
                </c:pt>
                <c:pt idx="10">
                  <c:v>cfg</c:v>
                </c:pt>
                <c:pt idx="11">
                  <c:v>scheduler</c:v>
                </c:pt>
                <c:pt idx="12">
                  <c:v>api</c:v>
                </c:pt>
                <c:pt idx="13">
                  <c:v>golden</c:v>
                </c:pt>
                <c:pt idx="14">
                  <c:v>cli</c:v>
                </c:pt>
                <c:pt idx="15">
                  <c:v>registry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107</c:v>
                </c:pt>
                <c:pt idx="1">
                  <c:v>105</c:v>
                </c:pt>
                <c:pt idx="2">
                  <c:v>105</c:v>
                </c:pt>
                <c:pt idx="3">
                  <c:v>97</c:v>
                </c:pt>
                <c:pt idx="4">
                  <c:v>74</c:v>
                </c:pt>
                <c:pt idx="5">
                  <c:v>61</c:v>
                </c:pt>
                <c:pt idx="6">
                  <c:v>55</c:v>
                </c:pt>
                <c:pt idx="7">
                  <c:v>48</c:v>
                </c:pt>
                <c:pt idx="8">
                  <c:v>44</c:v>
                </c:pt>
                <c:pt idx="9">
                  <c:v>43</c:v>
                </c:pt>
                <c:pt idx="10">
                  <c:v>43</c:v>
                </c:pt>
                <c:pt idx="11">
                  <c:v>41</c:v>
                </c:pt>
                <c:pt idx="12">
                  <c:v>39</c:v>
                </c:pt>
                <c:pt idx="13">
                  <c:v>37</c:v>
                </c:pt>
                <c:pt idx="14">
                  <c:v>27</c:v>
                </c:pt>
                <c:pt idx="15">
                  <c:v>26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5E648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8E3"/>
            </a:solidFill>
          </a:ln>
        </c:spPr>
        <c:txPr>
          <a:bodyPr/>
          <a:lstStyle/>
          <a:p>
            <a:pPr>
              <a:defRPr sz="1000">
                <a:solidFill>
                  <a:srgbClr val="5E648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AgentScript: a tiny language whose compiler refuses unsafe AI-agent programs before they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 frameworks check safety at runtime, if at all. Three failure modes matter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headline guarantees, plus permissions and budgets.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PRD's example, line by line: permit list, budget, a task, search, sanitize, summarize, confirm, send.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Annotations are a fixed built-in table, not syntax. Each flag drives one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stages. Each hands a printable artifact (text + JSON) to the next; the editor shows every one. Safety analyses run before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Front end, middle end, back end as Python modules; the editor and CLI drive the same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Hand-written scanner, recursive descent parser with one function per rule, scoped symbol table and type checker.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Three-address code, split into basic blocks. The block after the confirm branch's true edge is the guard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feature 1. Remove sanitize and the search result flows through llm into send_email: rejected with the full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feature 2. Dominance by the confirm call is not enough because confirm can return false; the call must be dominated by the TRUE successor.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Runs only after every safety check passes. optimize_demo.as: 14 -&gt; 10 instructions, 4 -&gt; 2 tool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Stack bytecode, a VM loop with runtime permission and budget guards, and a deterministic mock tool registry.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Stretch goal M7, built. Independent calls in one basic block run concurrently; barrier tools are never reordered.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static page, CodeMirror and Mermaid from a CDN, FastAPI backend. A Compile click runs every phase and fills every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phase owns a class of errors; each has its own failing demo program in examples/.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941 tests: unit tests per phase, golden tests for every example, negative tests for every error row, API and CLI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Documented limitations instead of a soundness proof; each has a viva answer in docs/presentation/viva-notes.md.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order follows docs/presentation/demo-script.md.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17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A01B"/>
                </a:solidFill>
                <a:latin typeface="Arial"/>
              </a:rPr>
              <a:t>COMPILER LAB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Arial"/>
              </a:rPr>
              <a:t>AgentScript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71800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C9CDE0"/>
                </a:solidFill>
                <a:latin typeface="Arial"/>
              </a:rPr>
              <a:t>A tiny language and compiler that rejects unsafe AI-agent programs before they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5196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AA0C0"/>
                </a:solidFill>
                <a:latin typeface="Arial"/>
              </a:rPr>
              <a:t>Taint tracking  ·  Approval-path checking  ·  Call budgets  ·  10-stage pipeline  ·  Web editor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0" y="914400"/>
            <a:ext cx="2651760" cy="384048"/>
          </a:xfrm>
          <a:prstGeom prst="roundRect">
            <a:avLst>
              <a:gd name="adj" fmla="val 18000"/>
            </a:avLst>
          </a:prstGeom>
          <a:solidFill>
            <a:srgbClr val="23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Lexer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104120" y="1298448"/>
            <a:ext cx="0" cy="100584"/>
          </a:xfrm>
          <a:prstGeom prst="line">
            <a:avLst/>
          </a:prstGeom>
          <a:ln w="15875">
            <a:solidFill>
              <a:srgbClr val="6B72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778240" y="1399032"/>
            <a:ext cx="2651760" cy="384048"/>
          </a:xfrm>
          <a:prstGeom prst="roundRect">
            <a:avLst>
              <a:gd name="adj" fmla="val 18000"/>
            </a:avLst>
          </a:prstGeom>
          <a:solidFill>
            <a:srgbClr val="23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Parser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104120" y="1783080"/>
            <a:ext cx="0" cy="100584"/>
          </a:xfrm>
          <a:prstGeom prst="line">
            <a:avLst/>
          </a:prstGeom>
          <a:ln w="15875">
            <a:solidFill>
              <a:srgbClr val="6B72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778240" y="1883664"/>
            <a:ext cx="2651760" cy="384048"/>
          </a:xfrm>
          <a:prstGeom prst="roundRect">
            <a:avLst>
              <a:gd name="adj" fmla="val 18000"/>
            </a:avLst>
          </a:prstGeom>
          <a:solidFill>
            <a:srgbClr val="23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Semantic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104120" y="2267712"/>
            <a:ext cx="0" cy="100584"/>
          </a:xfrm>
          <a:prstGeom prst="line">
            <a:avLst/>
          </a:prstGeom>
          <a:ln w="15875">
            <a:solidFill>
              <a:srgbClr val="6B72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778240" y="2368296"/>
            <a:ext cx="2651760" cy="384048"/>
          </a:xfrm>
          <a:prstGeom prst="roundRect">
            <a:avLst>
              <a:gd name="adj" fmla="val 18000"/>
            </a:avLst>
          </a:prstGeom>
          <a:solidFill>
            <a:srgbClr val="23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IR + CFG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104120" y="2752344"/>
            <a:ext cx="0" cy="100584"/>
          </a:xfrm>
          <a:prstGeom prst="line">
            <a:avLst/>
          </a:prstGeom>
          <a:ln w="15875">
            <a:solidFill>
              <a:srgbClr val="6B72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78240" y="2852928"/>
            <a:ext cx="2651760" cy="384048"/>
          </a:xfrm>
          <a:prstGeom prst="roundRect">
            <a:avLst>
              <a:gd name="adj" fmla="val 18000"/>
            </a:avLst>
          </a:prstGeom>
          <a:solidFill>
            <a:srgbClr val="F2A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4172E"/>
                </a:solidFill>
                <a:latin typeface="Arial"/>
              </a:rPr>
              <a:t>Taint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104120" y="3236976"/>
            <a:ext cx="0" cy="100584"/>
          </a:xfrm>
          <a:prstGeom prst="line">
            <a:avLst/>
          </a:prstGeom>
          <a:ln w="15875">
            <a:solidFill>
              <a:srgbClr val="6B72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778240" y="3337560"/>
            <a:ext cx="2651760" cy="384048"/>
          </a:xfrm>
          <a:prstGeom prst="roundRect">
            <a:avLst>
              <a:gd name="adj" fmla="val 18000"/>
            </a:avLst>
          </a:prstGeom>
          <a:solidFill>
            <a:srgbClr val="F2A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4172E"/>
                </a:solidFill>
                <a:latin typeface="Arial"/>
              </a:rPr>
              <a:t>Approval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104120" y="3721608"/>
            <a:ext cx="0" cy="100584"/>
          </a:xfrm>
          <a:prstGeom prst="line">
            <a:avLst/>
          </a:prstGeom>
          <a:ln w="15875">
            <a:solidFill>
              <a:srgbClr val="6B72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778240" y="3822191"/>
            <a:ext cx="2651760" cy="384048"/>
          </a:xfrm>
          <a:prstGeom prst="roundRect">
            <a:avLst>
              <a:gd name="adj" fmla="val 18000"/>
            </a:avLst>
          </a:prstGeom>
          <a:solidFill>
            <a:srgbClr val="23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Optimizer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104120" y="4206240"/>
            <a:ext cx="0" cy="100584"/>
          </a:xfrm>
          <a:prstGeom prst="line">
            <a:avLst/>
          </a:prstGeom>
          <a:ln w="15875">
            <a:solidFill>
              <a:srgbClr val="6B72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778240" y="4306824"/>
            <a:ext cx="2651760" cy="384048"/>
          </a:xfrm>
          <a:prstGeom prst="roundRect">
            <a:avLst>
              <a:gd name="adj" fmla="val 18000"/>
            </a:avLst>
          </a:prstGeom>
          <a:solidFill>
            <a:srgbClr val="23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Scheduler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104120" y="4690872"/>
            <a:ext cx="0" cy="100584"/>
          </a:xfrm>
          <a:prstGeom prst="line">
            <a:avLst/>
          </a:prstGeom>
          <a:ln w="15875">
            <a:solidFill>
              <a:srgbClr val="6B72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778240" y="4791456"/>
            <a:ext cx="2651760" cy="384048"/>
          </a:xfrm>
          <a:prstGeom prst="roundRect">
            <a:avLst>
              <a:gd name="adj" fmla="val 18000"/>
            </a:avLst>
          </a:prstGeom>
          <a:solidFill>
            <a:srgbClr val="23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Codegen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104120" y="5175504"/>
            <a:ext cx="0" cy="100584"/>
          </a:xfrm>
          <a:prstGeom prst="line">
            <a:avLst/>
          </a:prstGeom>
          <a:ln w="15875">
            <a:solidFill>
              <a:srgbClr val="6B72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778240" y="5276088"/>
            <a:ext cx="2651760" cy="384048"/>
          </a:xfrm>
          <a:prstGeom prst="roundRect">
            <a:avLst>
              <a:gd name="adj" fmla="val 18000"/>
            </a:avLst>
          </a:prstGeom>
          <a:solidFill>
            <a:srgbClr val="23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VM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39935" y="64465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E6480"/>
                </a:solidFill>
                <a:latin typeface="Arial"/>
              </a:rPr>
              <a:t>AgentScript  · 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A01B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33B"/>
                </a:solidFill>
                <a:latin typeface="Arial"/>
              </a:rPr>
              <a:t>Agents fail after the tool has already fired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FB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68680" y="2011680"/>
            <a:ext cx="566928" cy="566928"/>
          </a:xfrm>
          <a:prstGeom prst="ellipse">
            <a:avLst/>
          </a:prstGeom>
          <a:solidFill>
            <a:srgbClr val="D63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233B"/>
                </a:solidFill>
                <a:latin typeface="Arial"/>
              </a:rPr>
              <a:t>Prompt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28803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E6480"/>
                </a:solidFill>
                <a:latin typeface="Arial"/>
              </a:rPr>
              <a:t>Text fetched from the web or a file carries instructions, and the agent pipes it into send_email or run_shell.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73736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617719" y="2011680"/>
            <a:ext cx="566928" cy="566928"/>
          </a:xfrm>
          <a:prstGeom prst="ellipse">
            <a:avLst/>
          </a:prstGeom>
          <a:solidFill>
            <a:srgbClr val="F2A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19" y="27889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233B"/>
                </a:solidFill>
                <a:latin typeface="Arial"/>
              </a:rPr>
              <a:t>Irreversible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3291840"/>
            <a:ext cx="28803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E6480"/>
                </a:solidFill>
                <a:latin typeface="Arial"/>
              </a:rPr>
              <a:t>The agent deletes a file without asking a human first. There is no undo.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73736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366759" y="2011680"/>
            <a:ext cx="566928" cy="566928"/>
          </a:xfrm>
          <a:prstGeom prst="ellipse">
            <a:avLst/>
          </a:prstGeom>
          <a:solidFill>
            <a:srgbClr val="23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59" y="27889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233B"/>
                </a:solidFill>
                <a:latin typeface="Arial"/>
              </a:rPr>
              <a:t>Unbounded tool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3291840"/>
            <a:ext cx="28803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E6480"/>
                </a:solidFill>
                <a:latin typeface="Arial"/>
              </a:rPr>
              <a:t>The agent loops or repeats identical calls, wasting money and hitting rate limits.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49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233B"/>
                </a:solidFill>
                <a:latin typeface="Arial"/>
              </a:rPr>
              <a:t>Idea: </a:t>
            </a:r>
            <a:r>
              <a:rPr sz="1600" b="0" i="0">
                <a:solidFill>
                  <a:srgbClr val="1F233B"/>
                </a:solidFill>
                <a:latin typeface="Arial"/>
              </a:rPr>
              <a:t>a compiler can catch the first two with data-flow and control-flow analysis, and limit the third with permits, budgets and duplicate-call elimination, before anything runs.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39935" y="64465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E6480"/>
                </a:solidFill>
                <a:latin typeface="Arial"/>
              </a:rPr>
              <a:t>AgentScript  · 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A01B"/>
                </a:solidFill>
                <a:latin typeface="Arial"/>
              </a:rPr>
              <a:t>WHAT THE COMPILER PROVES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33B"/>
                </a:solidFill>
                <a:latin typeface="Arial"/>
              </a:rPr>
              <a:t>Two guarantees, proven at compile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94960" cy="2651760"/>
          </a:xfrm>
          <a:prstGeom prst="roundRect">
            <a:avLst>
              <a:gd name="adj" fmla="val 4137"/>
            </a:avLst>
          </a:prstGeom>
          <a:solidFill>
            <a:srgbClr val="DF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68680" y="1965960"/>
            <a:ext cx="566928" cy="566928"/>
          </a:xfrm>
          <a:prstGeom prst="ellipse">
            <a:avLst/>
          </a:prstGeom>
          <a:solidFill>
            <a:srgbClr val="1F9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02996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233B"/>
                </a:solidFill>
                <a:latin typeface="Arial"/>
              </a:rPr>
              <a:t>No unsanitized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F233B"/>
                </a:solidFill>
                <a:latin typeface="Arial"/>
              </a:rPr>
              <a:t>Untrusted data (web_search, read_file) never reaches a privileged tool (send_email, delete_file) unless it passes through sanitize.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947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9D6B"/>
                </a:solidFill>
                <a:latin typeface="Arial"/>
              </a:rPr>
              <a:t>E401 · forward data-flow taint analysis on the CFG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91640"/>
            <a:ext cx="5394960" cy="2651760"/>
          </a:xfrm>
          <a:prstGeom prst="roundRect">
            <a:avLst>
              <a:gd name="adj" fmla="val 4137"/>
            </a:avLst>
          </a:prstGeom>
          <a:solidFill>
            <a:srgbClr val="DF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92240" y="1965960"/>
            <a:ext cx="566928" cy="566928"/>
          </a:xfrm>
          <a:prstGeom prst="ellipse">
            <a:avLst/>
          </a:prstGeom>
          <a:solidFill>
            <a:srgbClr val="1F9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02996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233B"/>
                </a:solidFill>
                <a:latin typeface="Arial"/>
              </a:rPr>
              <a:t>No unapproved irreversible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97480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F233B"/>
                </a:solidFill>
                <a:latin typeface="Arial"/>
              </a:rPr>
              <a:t>Every delete_file call is dominated by the true branch of a confirm(...) result.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7947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9D6B"/>
                </a:solidFill>
                <a:latin typeface="Arial"/>
              </a:rPr>
              <a:t>E501 / E502 · dominator analysis on the CFG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17720"/>
            <a:ext cx="3474720" cy="1417320"/>
          </a:xfrm>
          <a:prstGeom prst="roundRect">
            <a:avLst>
              <a:gd name="adj" fmla="val 7741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59" y="477316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2A01B"/>
                </a:solidFill>
                <a:latin typeface="Courier New"/>
              </a:rPr>
              <a:t>permit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138928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E6480"/>
                </a:solidFill>
                <a:latin typeface="Arial"/>
              </a:rPr>
              <a:t>Calling a tool outside the permit list is E305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4617720"/>
            <a:ext cx="3474720" cy="1417320"/>
          </a:xfrm>
          <a:prstGeom prst="roundRect">
            <a:avLst>
              <a:gd name="adj" fmla="val 7741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71999" y="477316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2A01B"/>
                </a:solidFill>
                <a:latin typeface="Courier New"/>
              </a:rPr>
              <a:t>budget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999" y="5138928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E6480"/>
                </a:solidFill>
                <a:latin typeface="Arial"/>
              </a:rPr>
              <a:t>Worst-path call count above the budget is E306; the VM re-checks at runtime (E601)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4617720"/>
            <a:ext cx="3474720" cy="1417320"/>
          </a:xfrm>
          <a:prstGeom prst="roundRect">
            <a:avLst>
              <a:gd name="adj" fmla="val 7741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321040" y="477316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2A01B"/>
                </a:solidFill>
                <a:latin typeface="Courier New"/>
              </a:rPr>
              <a:t>types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5138928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E6480"/>
                </a:solidFill>
                <a:latin typeface="Arial"/>
              </a:rPr>
              <a:t>Scoped symbol table and type checker (E301 to E304)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39935" y="64465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E6480"/>
                </a:solidFill>
                <a:latin typeface="Arial"/>
              </a:rPr>
              <a:t>AgentScript  · 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A01B"/>
                </a:solidFill>
                <a:latin typeface="Arial"/>
              </a:rPr>
              <a:t>AGENTSCRIPT IN ONE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33B"/>
                </a:solidFill>
                <a:latin typeface="Arial"/>
              </a:rPr>
              <a:t>The language: agents, permits, budgets, tasks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6492240" cy="4526280"/>
          </a:xfrm>
          <a:prstGeom prst="roundRect">
            <a:avLst>
              <a:gd name="adj" fmla="val 2424"/>
            </a:avLst>
          </a:prstGeom>
          <a:solidFill>
            <a:srgbClr val="1C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01B"/>
                </a:solidFill>
                <a:latin typeface="Arial"/>
              </a:rPr>
              <a:t>examples/valid_report.as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60350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6E8F2"/>
                </a:solidFill>
                <a:latin typeface="Courier New"/>
              </a:rPr>
              <a:t>agent Assistant {</a:t>
            </a:r>
          </a:p>
          <a:p>
            <a:pPr algn="l"/>
            <a:r>
              <a:rPr sz="1400" b="0" i="0">
                <a:solidFill>
                  <a:srgbClr val="F2A01B"/>
                </a:solidFill>
                <a:latin typeface="Courier New"/>
              </a:rPr>
              <a:t>  permit web_search, llm, sanitize,</a:t>
            </a:r>
          </a:p>
          <a:p>
            <a:pPr algn="l"/>
            <a:r>
              <a:rPr sz="1400" b="0" i="0">
                <a:solidFill>
                  <a:srgbClr val="F2A01B"/>
                </a:solidFill>
                <a:latin typeface="Courier New"/>
              </a:rPr>
              <a:t>         send_email, confirm;</a:t>
            </a:r>
          </a:p>
          <a:p>
            <a:pPr algn="l"/>
            <a:r>
              <a:rPr sz="1400" b="0" i="0">
                <a:solidFill>
                  <a:srgbClr val="F2A01B"/>
                </a:solidFill>
                <a:latin typeface="Courier New"/>
              </a:rPr>
              <a:t>  budget calls = 5;</a:t>
            </a:r>
          </a:p>
          <a:p>
            <a:pPr algn="l"/>
            <a:r>
              <a:rPr sz="1400" b="0" i="0">
                <a:solidFill>
                  <a:srgbClr val="E6E8F2"/>
                </a:solidFill>
                <a:latin typeface="Courier New"/>
              </a:rPr>
              <a:t/>
            </a:r>
          </a:p>
          <a:p>
            <a:pPr algn="l"/>
            <a:r>
              <a:rPr sz="1400" b="0" i="0">
                <a:solidFill>
                  <a:srgbClr val="E6E8F2"/>
                </a:solidFill>
                <a:latin typeface="Courier New"/>
              </a:rPr>
              <a:t>  task report(topic: string) -&gt; bool {</a:t>
            </a:r>
          </a:p>
          <a:p>
            <a:pPr algn="l"/>
            <a:r>
              <a:rPr sz="1400" b="0" i="0">
                <a:solidFill>
                  <a:srgbClr val="FF9A9F"/>
                </a:solidFill>
                <a:latin typeface="Courier New"/>
              </a:rPr>
              <a:t>    let raw = web_search(topic);</a:t>
            </a:r>
          </a:p>
          <a:p>
            <a:pPr algn="l"/>
            <a:r>
              <a:rPr sz="1400" b="0" i="0">
                <a:solidFill>
                  <a:srgbClr val="8FE3BC"/>
                </a:solidFill>
                <a:latin typeface="Courier New"/>
              </a:rPr>
              <a:t>    let clean = sanitize(raw[0]);</a:t>
            </a:r>
          </a:p>
          <a:p>
            <a:pPr algn="l"/>
            <a:r>
              <a:rPr sz="1400" b="0" i="0">
                <a:solidFill>
                  <a:srgbClr val="E6E8F2"/>
                </a:solidFill>
                <a:latin typeface="Courier New"/>
              </a:rPr>
              <a:t>    let summary = llm("Summarize: " + clean);</a:t>
            </a:r>
          </a:p>
          <a:p>
            <a:pPr algn="l"/>
            <a:r>
              <a:rPr sz="1400" b="0" i="0">
                <a:solidFill>
                  <a:srgbClr val="8FE3BC"/>
                </a:solidFill>
                <a:latin typeface="Courier New"/>
              </a:rPr>
              <a:t>    if (confirm("Send report?")) {</a:t>
            </a:r>
          </a:p>
          <a:p>
            <a:pPr algn="l"/>
            <a:r>
              <a:rPr sz="1400" b="0" i="0">
                <a:solidFill>
                  <a:srgbClr val="E6E8F2"/>
                </a:solidFill>
                <a:latin typeface="Courier New"/>
              </a:rPr>
              <a:t>      return send_email("me@example.com", summary);</a:t>
            </a:r>
          </a:p>
          <a:p>
            <a:pPr algn="l"/>
            <a:r>
              <a:rPr sz="1400" b="0" i="0">
                <a:solidFill>
                  <a:srgbClr val="E6E8F2"/>
                </a:solidFill>
                <a:latin typeface="Courier New"/>
              </a:rPr>
              <a:t>    }</a:t>
            </a:r>
          </a:p>
          <a:p>
            <a:pPr algn="l"/>
            <a:r>
              <a:rPr sz="1400" b="0" i="0">
                <a:solidFill>
                  <a:srgbClr val="E6E8F2"/>
                </a:solidFill>
                <a:latin typeface="Courier New"/>
              </a:rPr>
              <a:t>    return false;</a:t>
            </a:r>
          </a:p>
          <a:p>
            <a:pPr algn="l"/>
            <a:r>
              <a:rPr sz="1400" b="0" i="0">
                <a:solidFill>
                  <a:srgbClr val="E6E8F2"/>
                </a:solidFill>
                <a:latin typeface="Courier New"/>
              </a:rPr>
              <a:t>  }</a:t>
            </a:r>
          </a:p>
          <a:p>
            <a:pPr algn="l"/>
            <a:r>
              <a:rPr sz="1400" b="0" i="0">
                <a:solidFill>
                  <a:srgbClr val="E6E8F2"/>
                </a:solidFill>
                <a:latin typeface="Courier New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64592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33B"/>
                </a:solidFill>
                <a:latin typeface="Arial"/>
              </a:rPr>
              <a:t>permit / 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975104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E6480"/>
                </a:solidFill>
                <a:latin typeface="Arial"/>
              </a:rPr>
              <a:t>which tools the agent may call, and how many calls one task run may make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54203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33B"/>
                </a:solidFill>
                <a:latin typeface="Arial"/>
              </a:rPr>
              <a:t>web_search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871216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E6480"/>
                </a:solidFill>
                <a:latin typeface="Arial"/>
              </a:rPr>
              <a:t>returns untrusted data: a taint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3438144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33B"/>
                </a:solidFill>
                <a:latin typeface="Arial"/>
              </a:rPr>
              <a:t>sanitize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3767328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E6480"/>
                </a:solidFill>
                <a:latin typeface="Arial"/>
              </a:rPr>
              <a:t>clears taint; its output is trusted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4334256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33B"/>
                </a:solidFill>
                <a:latin typeface="Arial"/>
              </a:rPr>
              <a:t>confirm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466344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E6480"/>
                </a:solidFill>
                <a:latin typeface="Arial"/>
              </a:rPr>
              <a:t>human approval; branching on it creates a guard block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523036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33B"/>
                </a:solidFill>
                <a:latin typeface="Arial"/>
              </a:rPr>
              <a:t>Types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5559552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E6480"/>
                </a:solidFill>
                <a:latin typeface="Arial"/>
              </a:rPr>
              <a:t>string, int, bool, list&lt;T&gt;; let is immutable, plus one bounded loop: repeat N { 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39935" y="64465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E6480"/>
                </a:solidFill>
                <a:latin typeface="Arial"/>
              </a:rPr>
              <a:t>AgentScript  · 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A01B"/>
                </a:solidFill>
                <a:latin typeface="Arial"/>
              </a:rPr>
              <a:t>A FIXED TABLE, NOT USER SYNTAX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33B"/>
                </a:solidFill>
                <a:latin typeface="Arial"/>
              </a:rPr>
              <a:t>Built-in tools and their safety annotations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240280"/>
                <a:gridCol w="1188720"/>
                <a:gridCol w="1005840"/>
                <a:gridCol w="960120"/>
                <a:gridCol w="1234440"/>
                <a:gridCol w="1097280"/>
                <a:gridCol w="914400"/>
                <a:gridCol w="10972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Tool</a:t>
                      </a:r>
                    </a:p>
                  </a:txBody>
                  <a:tcPr marL="73152" marR="73152" marT="27432" marB="27432" anchor="ctr">
                    <a:solidFill>
                      <a:srgbClr val="1417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Signature</a:t>
                      </a:r>
                    </a:p>
                  </a:txBody>
                  <a:tcPr marL="73152" marR="73152" marT="27432" marB="27432" anchor="ctr">
                    <a:solidFill>
                      <a:srgbClr val="1417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Untrusted result</a:t>
                      </a:r>
                    </a:p>
                  </a:txBody>
                  <a:tcPr marL="73152" marR="73152" marT="27432" marB="27432" anchor="ctr">
                    <a:solidFill>
                      <a:srgbClr val="1417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Propagates</a:t>
                      </a:r>
                    </a:p>
                  </a:txBody>
                  <a:tcPr marL="73152" marR="73152" marT="27432" marB="27432" anchor="ctr">
                    <a:solidFill>
                      <a:srgbClr val="1417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Sanitizer</a:t>
                      </a:r>
                    </a:p>
                  </a:txBody>
                  <a:tcPr marL="73152" marR="73152" marT="27432" marB="27432" anchor="ctr">
                    <a:solidFill>
                      <a:srgbClr val="1417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Privileged sink</a:t>
                      </a:r>
                    </a:p>
                  </a:txBody>
                  <a:tcPr marL="73152" marR="73152" marT="27432" marB="27432" anchor="ctr">
                    <a:solidFill>
                      <a:srgbClr val="1417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Irreversible</a:t>
                      </a:r>
                    </a:p>
                  </a:txBody>
                  <a:tcPr marL="73152" marR="73152" marT="27432" marB="27432" anchor="ctr">
                    <a:solidFill>
                      <a:srgbClr val="1417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Approval</a:t>
                      </a:r>
                    </a:p>
                  </a:txBody>
                  <a:tcPr marL="73152" marR="73152" marT="27432" marB="27432" anchor="ctr">
                    <a:solidFill>
                      <a:srgbClr val="1417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Mergeable</a:t>
                      </a:r>
                    </a:p>
                  </a:txBody>
                  <a:tcPr marL="73152" marR="73152" marT="27432" marB="27432" anchor="ctr">
                    <a:solidFill>
                      <a:srgbClr val="14172E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Courier New"/>
                        </a:rPr>
                        <a:t>web_search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Courier New"/>
                        </a:rPr>
                        <a:t>string -&gt; list&lt;string&gt;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9D6B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9D6B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Courier New"/>
                        </a:rPr>
                        <a:t>read_file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Courier New"/>
                        </a:rPr>
                        <a:t>string -&gt; string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9D6B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9D6B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Courier New"/>
                        </a:rPr>
                        <a:t>llm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Courier New"/>
                        </a:rPr>
                        <a:t>string -&gt; string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9D6B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9D6B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Courier New"/>
                        </a:rPr>
                        <a:t>send_email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Courier New"/>
                        </a:rPr>
                        <a:t>(string, string) -&gt; bool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9D6B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Courier New"/>
                        </a:rPr>
                        <a:t>delete_file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Courier New"/>
                        </a:rPr>
                        <a:t>string -&gt; bool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9D6B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9D6B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Courier New"/>
                        </a:rPr>
                        <a:t>sanitize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Courier New"/>
                        </a:rPr>
                        <a:t>string -&gt; string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9D6B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9D6B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Courier New"/>
                        </a:rPr>
                        <a:t>confirm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Courier New"/>
                        </a:rPr>
                        <a:t>string -&gt; bool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9D6B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3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1663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E6480"/>
                </a:solidFill>
                <a:latin typeface="Arial"/>
              </a:rPr>
              <a:t>Used by:  </a:t>
            </a:r>
            <a:r>
              <a:rPr sz="1400" b="0" i="0">
                <a:solidFill>
                  <a:srgbClr val="5E6480"/>
                </a:solidFill>
                <a:latin typeface="Arial"/>
              </a:rPr>
              <a:t>taint analysis (untrusted, propagates, sanitizer, privileged)  ·  approval analysis (irreversible, approval)  ·  optimizer (mergeable)  ·  scheduler (privileged, irreversible and approval tools are barriers)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39935" y="64465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E6480"/>
                </a:solidFill>
                <a:latin typeface="Arial"/>
              </a:rPr>
              <a:t>AgentScript  · 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A01B"/>
                </a:solidFill>
                <a:latin typeface="Arial"/>
              </a:rPr>
              <a:t>COMPILER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33B"/>
                </a:solidFill>
                <a:latin typeface="Arial"/>
              </a:rPr>
              <a:t>Architecture: a 10-stage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938528" cy="1143000"/>
          </a:xfrm>
          <a:prstGeom prst="roundRect">
            <a:avLst>
              <a:gd name="adj" fmla="val 9600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1F233B"/>
                </a:solidFill>
                <a:latin typeface="Arial"/>
              </a:rPr>
              <a:t>Lexer</a:t>
            </a:r>
          </a:p>
          <a:p>
            <a:pPr algn="ctr"/>
            <a:r>
              <a:rPr sz="1200">
                <a:solidFill>
                  <a:srgbClr val="5E6480"/>
                </a:solidFill>
                <a:latin typeface="Arial"/>
              </a:rPr>
              <a:t>source -&gt; tokens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99232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D63E47"/>
                </a:solidFill>
                <a:latin typeface="Courier New"/>
              </a:rPr>
              <a:t>E101 E102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3744" y="2354580"/>
            <a:ext cx="265176" cy="0"/>
          </a:xfrm>
          <a:prstGeom prst="line">
            <a:avLst/>
          </a:prstGeom>
          <a:ln w="22225">
            <a:solidFill>
              <a:srgbClr val="5E6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25496" y="1783080"/>
            <a:ext cx="1938528" cy="1143000"/>
          </a:xfrm>
          <a:prstGeom prst="roundRect">
            <a:avLst>
              <a:gd name="adj" fmla="val 9600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1F233B"/>
                </a:solidFill>
                <a:latin typeface="Arial"/>
              </a:rPr>
              <a:t>Parser</a:t>
            </a:r>
          </a:p>
          <a:p>
            <a:pPr algn="ctr"/>
            <a:r>
              <a:rPr sz="1200">
                <a:solidFill>
                  <a:srgbClr val="5E6480"/>
                </a:solidFill>
                <a:latin typeface="Arial"/>
              </a:rPr>
              <a:t>tokens -&gt; 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25496" y="2999232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D63E47"/>
                </a:solidFill>
                <a:latin typeface="Courier New"/>
              </a:rPr>
              <a:t>E201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00600" y="2354580"/>
            <a:ext cx="265176" cy="0"/>
          </a:xfrm>
          <a:prstGeom prst="line">
            <a:avLst/>
          </a:prstGeom>
          <a:ln w="22225">
            <a:solidFill>
              <a:srgbClr val="5E6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02352" y="1783080"/>
            <a:ext cx="1938528" cy="1143000"/>
          </a:xfrm>
          <a:prstGeom prst="roundRect">
            <a:avLst>
              <a:gd name="adj" fmla="val 9600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1F233B"/>
                </a:solidFill>
                <a:latin typeface="Arial"/>
              </a:rPr>
              <a:t>Semantic</a:t>
            </a:r>
          </a:p>
          <a:p>
            <a:pPr algn="ctr"/>
            <a:r>
              <a:rPr sz="1200">
                <a:solidFill>
                  <a:srgbClr val="5E6480"/>
                </a:solidFill>
                <a:latin typeface="Arial"/>
              </a:rPr>
              <a:t>symbols, types, permit, 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2352" y="2999232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D63E47"/>
                </a:solidFill>
                <a:latin typeface="Courier New"/>
              </a:rPr>
              <a:t>E301-E306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77456" y="2354580"/>
            <a:ext cx="265176" cy="0"/>
          </a:xfrm>
          <a:prstGeom prst="line">
            <a:avLst/>
          </a:prstGeom>
          <a:ln w="22225">
            <a:solidFill>
              <a:srgbClr val="5E6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79208" y="1783080"/>
            <a:ext cx="1938528" cy="1143000"/>
          </a:xfrm>
          <a:prstGeom prst="roundRect">
            <a:avLst>
              <a:gd name="adj" fmla="val 9600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1F233B"/>
                </a:solidFill>
                <a:latin typeface="Arial"/>
              </a:rPr>
              <a:t>IR + CFG</a:t>
            </a:r>
          </a:p>
          <a:p>
            <a:pPr algn="ctr"/>
            <a:r>
              <a:rPr sz="1200">
                <a:solidFill>
                  <a:srgbClr val="5E6480"/>
                </a:solidFill>
                <a:latin typeface="Arial"/>
              </a:rPr>
              <a:t>3-address code, blocks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54312" y="2354580"/>
            <a:ext cx="265176" cy="0"/>
          </a:xfrm>
          <a:prstGeom prst="line">
            <a:avLst/>
          </a:prstGeom>
          <a:ln w="22225">
            <a:solidFill>
              <a:srgbClr val="5E6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56064" y="1783080"/>
            <a:ext cx="1938528" cy="1143000"/>
          </a:xfrm>
          <a:prstGeom prst="roundRect">
            <a:avLst>
              <a:gd name="adj" fmla="val 9600"/>
            </a:avLst>
          </a:prstGeom>
          <a:solidFill>
            <a:srgbClr val="FDF1DC"/>
          </a:solidFill>
          <a:ln w="19050">
            <a:solidFill>
              <a:srgbClr val="F2A0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1F233B"/>
                </a:solidFill>
                <a:latin typeface="Arial"/>
              </a:rPr>
              <a:t>Taint</a:t>
            </a:r>
          </a:p>
          <a:p>
            <a:pPr algn="ctr"/>
            <a:r>
              <a:rPr sz="1200">
                <a:solidFill>
                  <a:srgbClr val="5E6480"/>
                </a:solidFill>
                <a:latin typeface="Arial"/>
              </a:rPr>
              <a:t>data-flow fixed 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6064" y="2999232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D63E47"/>
                </a:solidFill>
                <a:latin typeface="Courier New"/>
              </a:rPr>
              <a:t>E401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49039"/>
            <a:ext cx="1938528" cy="1143000"/>
          </a:xfrm>
          <a:prstGeom prst="roundRect">
            <a:avLst>
              <a:gd name="adj" fmla="val 9600"/>
            </a:avLst>
          </a:prstGeom>
          <a:solidFill>
            <a:srgbClr val="FDF1DC"/>
          </a:solidFill>
          <a:ln w="19050">
            <a:solidFill>
              <a:srgbClr val="F2A0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1F233B"/>
                </a:solidFill>
                <a:latin typeface="Arial"/>
              </a:rPr>
              <a:t>Approval</a:t>
            </a:r>
          </a:p>
          <a:p>
            <a:pPr algn="ctr"/>
            <a:r>
              <a:rPr sz="1200">
                <a:solidFill>
                  <a:srgbClr val="5E6480"/>
                </a:solidFill>
                <a:latin typeface="Arial"/>
              </a:rPr>
              <a:t>dominators, guards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65192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D63E47"/>
                </a:solidFill>
                <a:latin typeface="Courier New"/>
              </a:rPr>
              <a:t>E501 E502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523744" y="4320540"/>
            <a:ext cx="265176" cy="0"/>
          </a:xfrm>
          <a:prstGeom prst="line">
            <a:avLst/>
          </a:prstGeom>
          <a:ln w="22225">
            <a:solidFill>
              <a:srgbClr val="5E6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25496" y="3749039"/>
            <a:ext cx="1938528" cy="1143000"/>
          </a:xfrm>
          <a:prstGeom prst="roundRect">
            <a:avLst>
              <a:gd name="adj" fmla="val 9600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1F233B"/>
                </a:solidFill>
                <a:latin typeface="Arial"/>
              </a:rPr>
              <a:t>Optimizer</a:t>
            </a:r>
          </a:p>
          <a:p>
            <a:pPr algn="ctr"/>
            <a:r>
              <a:rPr sz="1200">
                <a:solidFill>
                  <a:srgbClr val="5E6480"/>
                </a:solidFill>
                <a:latin typeface="Arial"/>
              </a:rPr>
              <a:t>fold, DCE, dedupe calls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00600" y="4320540"/>
            <a:ext cx="265176" cy="0"/>
          </a:xfrm>
          <a:prstGeom prst="line">
            <a:avLst/>
          </a:prstGeom>
          <a:ln w="22225">
            <a:solidFill>
              <a:srgbClr val="5E6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102352" y="3749039"/>
            <a:ext cx="1938528" cy="1143000"/>
          </a:xfrm>
          <a:prstGeom prst="roundRect">
            <a:avLst>
              <a:gd name="adj" fmla="val 9600"/>
            </a:avLst>
          </a:prstGeom>
          <a:solidFill>
            <a:srgbClr val="F4F5F9"/>
          </a:solidFill>
          <a:ln w="19050">
            <a:solidFill>
              <a:srgbClr val="5E648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1F233B"/>
                </a:solidFill>
                <a:latin typeface="Arial"/>
              </a:rPr>
              <a:t>Scheduler</a:t>
            </a:r>
          </a:p>
          <a:p>
            <a:pPr algn="ctr"/>
            <a:r>
              <a:rPr sz="1200">
                <a:solidFill>
                  <a:srgbClr val="5E6480"/>
                </a:solidFill>
                <a:latin typeface="Arial"/>
              </a:rPr>
              <a:t>parallel rounds (stretch)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7456" y="4320540"/>
            <a:ext cx="265176" cy="0"/>
          </a:xfrm>
          <a:prstGeom prst="line">
            <a:avLst/>
          </a:prstGeom>
          <a:ln w="22225">
            <a:solidFill>
              <a:srgbClr val="5E6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3749039"/>
            <a:ext cx="1938528" cy="1143000"/>
          </a:xfrm>
          <a:prstGeom prst="roundRect">
            <a:avLst>
              <a:gd name="adj" fmla="val 9600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1F233B"/>
                </a:solidFill>
                <a:latin typeface="Arial"/>
              </a:rPr>
              <a:t>Codegen</a:t>
            </a:r>
          </a:p>
          <a:p>
            <a:pPr algn="ctr"/>
            <a:r>
              <a:rPr sz="1200">
                <a:solidFill>
                  <a:srgbClr val="5E6480"/>
                </a:solidFill>
                <a:latin typeface="Arial"/>
              </a:rPr>
              <a:t>IR -&gt; stack bytecode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54312" y="4320540"/>
            <a:ext cx="265176" cy="0"/>
          </a:xfrm>
          <a:prstGeom prst="line">
            <a:avLst/>
          </a:prstGeom>
          <a:ln w="22225">
            <a:solidFill>
              <a:srgbClr val="5E6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656064" y="3749039"/>
            <a:ext cx="1938528" cy="1143000"/>
          </a:xfrm>
          <a:prstGeom prst="roundRect">
            <a:avLst>
              <a:gd name="adj" fmla="val 9600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1F233B"/>
                </a:solidFill>
                <a:latin typeface="Arial"/>
              </a:rPr>
              <a:t>VM</a:t>
            </a:r>
          </a:p>
          <a:p>
            <a:pPr algn="ctr"/>
            <a:r>
              <a:rPr sz="1200">
                <a:solidFill>
                  <a:srgbClr val="5E6480"/>
                </a:solidFill>
                <a:latin typeface="Arial"/>
              </a:rPr>
              <a:t>tool registry, guards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6064" y="4965192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D63E47"/>
                </a:solidFill>
                <a:latin typeface="Courier New"/>
              </a:rPr>
              <a:t>E601-E604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625328" y="3310128"/>
            <a:ext cx="0" cy="182880"/>
          </a:xfrm>
          <a:prstGeom prst="line">
            <a:avLst/>
          </a:prstGeom>
          <a:ln w="22225">
            <a:solidFill>
              <a:srgbClr val="5E6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563624" y="3520440"/>
            <a:ext cx="9015984" cy="0"/>
          </a:xfrm>
          <a:prstGeom prst="line">
            <a:avLst/>
          </a:prstGeom>
          <a:ln w="22225">
            <a:solidFill>
              <a:srgbClr val="5E6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517904" y="3520440"/>
            <a:ext cx="0" cy="210312"/>
          </a:xfrm>
          <a:prstGeom prst="line">
            <a:avLst/>
          </a:prstGeom>
          <a:ln w="22225">
            <a:solidFill>
              <a:srgbClr val="5E6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48640" y="5486400"/>
            <a:ext cx="11064240" cy="658368"/>
          </a:xfrm>
          <a:prstGeom prst="roundRect">
            <a:avLst>
              <a:gd name="adj" fmla="val 16666"/>
            </a:avLst>
          </a:prstGeom>
          <a:solidFill>
            <a:srgbClr val="14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7240" y="557784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2A01B"/>
                </a:solidFill>
                <a:latin typeface="Arial"/>
              </a:rPr>
              <a:t>Ordering rule  </a:t>
            </a:r>
            <a:r>
              <a:rPr sz="1400" b="0" i="0">
                <a:solidFill>
                  <a:srgbClr val="FFFFFF"/>
                </a:solidFill>
                <a:latin typeface="Arial"/>
              </a:rPr>
              <a:t>Safety analyses (permission, budget, taint, approval) run on the unoptimized program, so a guarantee never depends on what the optimizer removes.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39935" y="64465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E6480"/>
                </a:solidFill>
                <a:latin typeface="Arial"/>
              </a:rPr>
              <a:t>AgentScript  · 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A01B"/>
                </a:solidFill>
                <a:latin typeface="Arial"/>
              </a:rPr>
              <a:t>HOW THE CODE IS ORGANISED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33B"/>
                </a:solidFill>
                <a:latin typeface="Arial"/>
              </a:rPr>
              <a:t>System architecture: modules and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2468880" cy="3840480"/>
          </a:xfrm>
          <a:prstGeom prst="roundRect">
            <a:avLst>
              <a:gd name="adj" fmla="val 4444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233B"/>
                </a:solidFill>
                <a:latin typeface="Arial"/>
              </a:rPr>
              <a:t>Front 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201168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233B"/>
                </a:solidFill>
                <a:latin typeface="Courier New"/>
              </a:rPr>
              <a:t>lexer.py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15768"/>
            <a:ext cx="201168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233B"/>
                </a:solidFill>
                <a:latin typeface="Courier New"/>
              </a:rPr>
              <a:t>parser.py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145536"/>
            <a:ext cx="201168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233B"/>
                </a:solidFill>
                <a:latin typeface="Courier New"/>
              </a:rPr>
              <a:t>ast_nodes.py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575304"/>
            <a:ext cx="201168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233B"/>
                </a:solidFill>
                <a:latin typeface="Courier New"/>
              </a:rPr>
              <a:t>semantic.py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7492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A01B"/>
                </a:solidFill>
                <a:latin typeface="Arial"/>
              </a:rPr>
              <a:t>Tokens · AST · Symbols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35808" y="3611880"/>
            <a:ext cx="237744" cy="0"/>
          </a:xfrm>
          <a:prstGeom prst="line">
            <a:avLst/>
          </a:prstGeom>
          <a:ln w="22225">
            <a:solidFill>
              <a:srgbClr val="5E6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291840" y="1691640"/>
            <a:ext cx="2468880" cy="3840480"/>
          </a:xfrm>
          <a:prstGeom prst="roundRect">
            <a:avLst>
              <a:gd name="adj" fmla="val 4444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20440" y="18288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233B"/>
                </a:solidFill>
                <a:latin typeface="Arial"/>
              </a:rPr>
              <a:t>Middle 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2286000"/>
            <a:ext cx="201168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233B"/>
                </a:solidFill>
                <a:latin typeface="Courier New"/>
              </a:rPr>
              <a:t>irgen.py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2715768"/>
            <a:ext cx="201168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233B"/>
                </a:solidFill>
                <a:latin typeface="Courier New"/>
              </a:rPr>
              <a:t>cfg.py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0440" y="3145536"/>
            <a:ext cx="201168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233B"/>
                </a:solidFill>
                <a:latin typeface="Courier New"/>
              </a:rPr>
              <a:t>taint.py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3575304"/>
            <a:ext cx="201168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233B"/>
                </a:solidFill>
                <a:latin typeface="Courier New"/>
              </a:rPr>
              <a:t>approval.py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4005072"/>
            <a:ext cx="201168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233B"/>
                </a:solidFill>
                <a:latin typeface="Courier New"/>
              </a:rPr>
              <a:t>optimizer.py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4434840"/>
            <a:ext cx="201168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233B"/>
                </a:solidFill>
                <a:latin typeface="Courier New"/>
              </a:rPr>
              <a:t>scheduler.py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507492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A01B"/>
                </a:solidFill>
                <a:latin typeface="Arial"/>
              </a:rPr>
              <a:t>IR · CFG · Reports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779008" y="3611880"/>
            <a:ext cx="237744" cy="0"/>
          </a:xfrm>
          <a:prstGeom prst="line">
            <a:avLst/>
          </a:prstGeom>
          <a:ln w="22225">
            <a:solidFill>
              <a:srgbClr val="5E6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035040" y="1691640"/>
            <a:ext cx="2468880" cy="3840480"/>
          </a:xfrm>
          <a:prstGeom prst="roundRect">
            <a:avLst>
              <a:gd name="adj" fmla="val 4444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63640" y="18288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233B"/>
                </a:solidFill>
                <a:latin typeface="Arial"/>
              </a:rPr>
              <a:t>Back end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286000"/>
            <a:ext cx="201168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233B"/>
                </a:solidFill>
                <a:latin typeface="Courier New"/>
              </a:rPr>
              <a:t>codegen.py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2715768"/>
            <a:ext cx="201168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233B"/>
                </a:solidFill>
                <a:latin typeface="Courier New"/>
              </a:rPr>
              <a:t>bytecode.py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145536"/>
            <a:ext cx="201168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233B"/>
                </a:solidFill>
                <a:latin typeface="Courier New"/>
              </a:rPr>
              <a:t>vm.py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575304"/>
            <a:ext cx="201168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233B"/>
                </a:solidFill>
                <a:latin typeface="Courier New"/>
              </a:rPr>
              <a:t>registry.py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507492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A01B"/>
                </a:solidFill>
                <a:latin typeface="Arial"/>
              </a:rPr>
              <a:t>Bytecode · Call log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15400" y="1691640"/>
            <a:ext cx="2697480" cy="685800"/>
          </a:xfrm>
          <a:prstGeom prst="roundRect">
            <a:avLst>
              <a:gd name="adj" fmla="val 16000"/>
            </a:avLst>
          </a:prstGeom>
          <a:solidFill>
            <a:srgbClr val="14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ourier New"/>
              </a:rPr>
              <a:t>pipeline.py</a:t>
            </a:r>
          </a:p>
          <a:p>
            <a:pPr algn="ctr"/>
            <a:r>
              <a:rPr sz="1100">
                <a:solidFill>
                  <a:srgbClr val="F2A01B"/>
                </a:solidFill>
                <a:latin typeface="Arial"/>
              </a:rPr>
              <a:t>compile_source · run_source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2788920"/>
            <a:ext cx="2697480" cy="685800"/>
          </a:xfrm>
          <a:prstGeom prst="roundRect">
            <a:avLst>
              <a:gd name="adj" fmla="val 16000"/>
            </a:avLst>
          </a:prstGeom>
          <a:solidFill>
            <a:srgbClr val="23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ourier New"/>
              </a:rPr>
              <a:t>api.py  (FastAPI)</a:t>
            </a:r>
          </a:p>
          <a:p>
            <a:pPr algn="ctr"/>
            <a:r>
              <a:rPr sz="1100">
                <a:solidFill>
                  <a:srgbClr val="C9CDE0"/>
                </a:solidFill>
                <a:latin typeface="Arial"/>
              </a:rPr>
              <a:t>/compile  /run  /examples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15400" y="3886200"/>
            <a:ext cx="2697480" cy="6858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F233B"/>
                </a:solidFill>
                <a:latin typeface="Courier New"/>
              </a:rPr>
              <a:t>web/  editor</a:t>
            </a:r>
          </a:p>
          <a:p>
            <a:pPr algn="ctr"/>
            <a:r>
              <a:rPr sz="1100">
                <a:solidFill>
                  <a:srgbClr val="5E6480"/>
                </a:solidFill>
                <a:latin typeface="Arial"/>
              </a:rPr>
              <a:t>CodeMirror · Mermaid · tabs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15400" y="4846320"/>
            <a:ext cx="2697480" cy="685800"/>
          </a:xfrm>
          <a:prstGeom prst="roundRect">
            <a:avLst>
              <a:gd name="adj" fmla="val 16000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F233B"/>
                </a:solidFill>
                <a:latin typeface="Courier New"/>
              </a:rPr>
              <a:t>__main__.py  CLI</a:t>
            </a:r>
          </a:p>
          <a:p>
            <a:pPr algn="ctr"/>
            <a:r>
              <a:rPr sz="1100">
                <a:solidFill>
                  <a:srgbClr val="5E6480"/>
                </a:solidFill>
                <a:latin typeface="Arial"/>
              </a:rPr>
              <a:t>compile · run · serve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10259568" y="2395728"/>
            <a:ext cx="0" cy="393192"/>
          </a:xfrm>
          <a:prstGeom prst="line">
            <a:avLst/>
          </a:prstGeom>
          <a:ln w="22225">
            <a:solidFill>
              <a:srgbClr val="5E6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0259568" y="3493008"/>
            <a:ext cx="0" cy="393192"/>
          </a:xfrm>
          <a:prstGeom prst="line">
            <a:avLst/>
          </a:prstGeom>
          <a:ln w="22225">
            <a:solidFill>
              <a:srgbClr val="5E6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8229600" y="2029968"/>
            <a:ext cx="667512" cy="0"/>
          </a:xfrm>
          <a:prstGeom prst="line">
            <a:avLst/>
          </a:prstGeom>
          <a:ln w="22225">
            <a:solidFill>
              <a:srgbClr val="5E6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E6480"/>
                </a:solidFill>
                <a:latin typeface="Arial"/>
              </a:rPr>
              <a:t>Shared: diagnostics.py (one diagnostic format for CLI, API and squiggles) · tools.py (annotation table) · ir.py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39935" y="64465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E6480"/>
                </a:solidFill>
                <a:latin typeface="Arial"/>
              </a:rPr>
              <a:t>AgentScript  · 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A01B"/>
                </a:solidFill>
                <a:latin typeface="Arial"/>
              </a:rPr>
              <a:t>STAGES 1 TO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33B"/>
                </a:solidFill>
                <a:latin typeface="Arial"/>
              </a:rPr>
              <a:t>Front end: lexer, parser, semantic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1064240" cy="1965960"/>
          </a:xfrm>
          <a:prstGeom prst="roundRect">
            <a:avLst>
              <a:gd name="adj" fmla="val 5581"/>
            </a:avLst>
          </a:prstGeom>
          <a:solidFill>
            <a:srgbClr val="1C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01B"/>
                </a:solidFill>
                <a:latin typeface="Arial"/>
              </a:rPr>
              <a:t>Grammar excerpt (full EBNF in docs/PRD.md)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8F2"/>
                </a:solidFill>
                <a:latin typeface="Courier New"/>
              </a:rPr>
              <a:t>program   = "agent" IDENT "{" { permit } budget task { task } "}" ;</a:t>
            </a:r>
          </a:p>
          <a:p>
            <a:pPr algn="l"/>
            <a:r>
              <a:rPr sz="1300" b="0" i="0">
                <a:solidFill>
                  <a:srgbClr val="E6E8F2"/>
                </a:solidFill>
                <a:latin typeface="Courier New"/>
              </a:rPr>
              <a:t>statement = let | if | repeat | return | expr ";" ;</a:t>
            </a:r>
          </a:p>
          <a:p>
            <a:pPr algn="l"/>
            <a:r>
              <a:rPr sz="1300" b="0" i="0">
                <a:solidFill>
                  <a:srgbClr val="F2A01B"/>
                </a:solidFill>
                <a:latin typeface="Courier New"/>
              </a:rPr>
              <a:t>repeat    = "repeat" ( INT | IDENT ) block ;</a:t>
            </a:r>
          </a:p>
          <a:p>
            <a:pPr algn="l"/>
            <a:r>
              <a:rPr sz="1300" b="0" i="0">
                <a:solidFill>
                  <a:srgbClr val="E6E8F2"/>
                </a:solidFill>
                <a:latin typeface="Courier New"/>
              </a:rPr>
              <a:t>equality  = relational { ("==" | "!=") relational } ;</a:t>
            </a:r>
          </a:p>
          <a:p>
            <a:pPr algn="l"/>
            <a:r>
              <a:rPr sz="1300" b="0" i="0">
                <a:solidFill>
                  <a:srgbClr val="E6E8F2"/>
                </a:solidFill>
                <a:latin typeface="Courier New"/>
              </a:rPr>
              <a:t>additive  = term { ("+" | "-") term } ;</a:t>
            </a:r>
          </a:p>
          <a:p>
            <a:pPr algn="l"/>
            <a:r>
              <a:rPr sz="1300" b="0" i="0">
                <a:solidFill>
                  <a:srgbClr val="E6E8F2"/>
                </a:solidFill>
                <a:latin typeface="Courier New"/>
              </a:rPr>
              <a:t>postfix   = primary { "[" expr "]" } 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794760"/>
          <a:ext cx="1106424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051560"/>
                <a:gridCol w="2971800"/>
                <a:gridCol w="621792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Code</a:t>
                      </a:r>
                    </a:p>
                  </a:txBody>
                  <a:tcPr marL="73152" marR="73152" marT="27432" marB="27432" anchor="ctr">
                    <a:solidFill>
                      <a:srgbClr val="1417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 marL="73152" marR="73152" marT="27432" marB="27432" anchor="ctr">
                    <a:solidFill>
                      <a:srgbClr val="1417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Demo program</a:t>
                      </a:r>
                    </a:p>
                  </a:txBody>
                  <a:tcPr marL="73152" marR="73152" marT="27432" marB="27432" anchor="ctr">
                    <a:solidFill>
                      <a:srgbClr val="1417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Real diagnostic</a:t>
                      </a:r>
                    </a:p>
                  </a:txBody>
                  <a:tcPr marL="73152" marR="73152" marT="27432" marB="27432" anchor="ctr">
                    <a:solidFill>
                      <a:srgbClr val="14172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33B"/>
                          </a:solidFill>
                          <a:latin typeface="Courier New"/>
                        </a:rPr>
                        <a:t>E101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33B"/>
                          </a:solidFill>
                          <a:latin typeface="Arial"/>
                        </a:rPr>
                        <a:t>lexer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33B"/>
                          </a:solidFill>
                          <a:latin typeface="Courier New"/>
                        </a:rPr>
                        <a:t>lex_unterminated.as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33B"/>
                          </a:solidFill>
                          <a:latin typeface="Arial"/>
                        </a:rPr>
                        <a:t>6:13  unterminated string: missing closing '"' before end of 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33B"/>
                          </a:solidFill>
                          <a:latin typeface="Courier New"/>
                        </a:rPr>
                        <a:t>E201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33B"/>
                          </a:solidFill>
                          <a:latin typeface="Arial"/>
                        </a:rPr>
                        <a:t>parser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33B"/>
                          </a:solidFill>
                          <a:latin typeface="Courier New"/>
                        </a:rPr>
                        <a:t>syntax_missing_semicolon.as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33B"/>
                          </a:solidFill>
                          <a:latin typeface="Arial"/>
                        </a:rPr>
                        <a:t>6:30  expected ';', found 'return'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33B"/>
                          </a:solidFill>
                          <a:latin typeface="Courier New"/>
                        </a:rPr>
                        <a:t>E301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33B"/>
                          </a:solidFill>
                          <a:latin typeface="Arial"/>
                        </a:rPr>
                        <a:t>semantic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33B"/>
                          </a:solidFill>
                          <a:latin typeface="Courier New"/>
                        </a:rPr>
                        <a:t>sem_undeclared.as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33B"/>
                          </a:solidFill>
                          <a:latin typeface="Arial"/>
                        </a:rPr>
                        <a:t>6:12  undeclared variable 'x'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33B"/>
                          </a:solidFill>
                          <a:latin typeface="Courier New"/>
                        </a:rPr>
                        <a:t>E303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33B"/>
                          </a:solidFill>
                          <a:latin typeface="Arial"/>
                        </a:rPr>
                        <a:t>semantic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33B"/>
                          </a:solidFill>
                          <a:latin typeface="Courier New"/>
                        </a:rPr>
                        <a:t>sem_type_mismatch.as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33B"/>
                          </a:solidFill>
                          <a:latin typeface="Arial"/>
                        </a:rPr>
                        <a:t>6:23  argument 1 of web_search must be string, found int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33B"/>
                          </a:solidFill>
                          <a:latin typeface="Courier New"/>
                        </a:rPr>
                        <a:t>E305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33B"/>
                          </a:solidFill>
                          <a:latin typeface="Arial"/>
                        </a:rPr>
                        <a:t>semantic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33B"/>
                          </a:solidFill>
                          <a:latin typeface="Courier New"/>
                        </a:rPr>
                        <a:t>sem_not_permitted.as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33B"/>
                          </a:solidFill>
                          <a:latin typeface="Arial"/>
                        </a:rPr>
                        <a:t>6:16  tool 'read_file' is not permitted; add it to a permit declaration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33B"/>
                          </a:solidFill>
                          <a:latin typeface="Courier New"/>
                        </a:rPr>
                        <a:t>E306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33B"/>
                          </a:solidFill>
                          <a:latin typeface="Arial"/>
                        </a:rPr>
                        <a:t>semantic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33B"/>
                          </a:solidFill>
                          <a:latin typeface="Courier New"/>
                        </a:rPr>
                        <a:t>sem_budget.as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33B"/>
                          </a:solidFill>
                          <a:latin typeface="Arial"/>
                        </a:rPr>
                        <a:t>9:12  task 'dig' may make 4 tool calls on its worst path, but the budget is 3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39935" y="64465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E6480"/>
                </a:solidFill>
                <a:latin typeface="Arial"/>
              </a:rPr>
              <a:t>AgentScript  · 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A01B"/>
                </a:solidFill>
                <a:latin typeface="Arial"/>
              </a:rPr>
              <a:t>STAGE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33B"/>
                </a:solidFill>
                <a:latin typeface="Arial"/>
              </a:rPr>
              <a:t>IR and control-flow graph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669280" cy="4526280"/>
          </a:xfrm>
          <a:prstGeom prst="roundRect">
            <a:avLst>
              <a:gd name="adj" fmla="val 2424"/>
            </a:avLst>
          </a:prstGeom>
          <a:solidFill>
            <a:srgbClr val="1C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01B"/>
                </a:solidFill>
                <a:latin typeface="Arial"/>
              </a:rPr>
              <a:t>compile --phase ir  (valid_report.as, real output)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521208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8F2"/>
                </a:solidFill>
                <a:latin typeface="Courier New"/>
              </a:rPr>
              <a:t>task report(topic: string) -&gt; bool</a:t>
            </a:r>
          </a:p>
          <a:p>
            <a:pPr algn="l"/>
            <a:r>
              <a:rPr sz="1300" b="0" i="0">
                <a:solidFill>
                  <a:srgbClr val="E6E8F2"/>
                </a:solidFill>
                <a:latin typeface="Courier New"/>
              </a:rPr>
              <a:t>    raw = call web_search(topic)</a:t>
            </a:r>
          </a:p>
          <a:p>
            <a:pPr algn="l"/>
            <a:r>
              <a:rPr sz="1300" b="0" i="0">
                <a:solidFill>
                  <a:srgbClr val="E6E8F2"/>
                </a:solidFill>
                <a:latin typeface="Courier New"/>
              </a:rPr>
              <a:t>    t1 = raw[0]</a:t>
            </a:r>
          </a:p>
          <a:p>
            <a:pPr algn="l"/>
            <a:r>
              <a:rPr sz="1300" b="0" i="0">
                <a:solidFill>
                  <a:srgbClr val="E6E8F2"/>
                </a:solidFill>
                <a:latin typeface="Courier New"/>
              </a:rPr>
              <a:t>    clean = call sanitize(t1)</a:t>
            </a:r>
          </a:p>
          <a:p>
            <a:pPr algn="l"/>
            <a:r>
              <a:rPr sz="1300" b="0" i="0">
                <a:solidFill>
                  <a:srgbClr val="E6E8F2"/>
                </a:solidFill>
                <a:latin typeface="Courier New"/>
              </a:rPr>
              <a:t>    t2 = "Summarize: " + clean</a:t>
            </a:r>
          </a:p>
          <a:p>
            <a:pPr algn="l"/>
            <a:r>
              <a:rPr sz="1300" b="0" i="0">
                <a:solidFill>
                  <a:srgbClr val="E6E8F2"/>
                </a:solidFill>
                <a:latin typeface="Courier New"/>
              </a:rPr>
              <a:t>    summary = call llm(t2)</a:t>
            </a:r>
          </a:p>
          <a:p>
            <a:pPr algn="l"/>
            <a:r>
              <a:rPr sz="1300" b="0" i="0">
                <a:solidFill>
                  <a:srgbClr val="E6E8F2"/>
                </a:solidFill>
                <a:latin typeface="Courier New"/>
              </a:rPr>
              <a:t>    t3 = call confirm("Send report?")</a:t>
            </a:r>
          </a:p>
          <a:p>
            <a:pPr algn="l"/>
            <a:r>
              <a:rPr sz="1300" b="0" i="0">
                <a:solidFill>
                  <a:srgbClr val="E6E8F2"/>
                </a:solidFill>
                <a:latin typeface="Courier New"/>
              </a:rPr>
              <a:t>    if t3 goto L1 else L2</a:t>
            </a:r>
          </a:p>
          <a:p>
            <a:pPr algn="l"/>
            <a:r>
              <a:rPr sz="1300" b="0" i="0">
                <a:solidFill>
                  <a:srgbClr val="F2A01B"/>
                </a:solidFill>
                <a:latin typeface="Courier New"/>
              </a:rPr>
              <a:t>  L1:</a:t>
            </a:r>
          </a:p>
          <a:p>
            <a:pPr algn="l"/>
            <a:r>
              <a:rPr sz="1300" b="0" i="0">
                <a:solidFill>
                  <a:srgbClr val="E6E8F2"/>
                </a:solidFill>
                <a:latin typeface="Courier New"/>
              </a:rPr>
              <a:t>    t4 = call send_email("me@...", summary)</a:t>
            </a:r>
          </a:p>
          <a:p>
            <a:pPr algn="l"/>
            <a:r>
              <a:rPr sz="1300" b="0" i="0">
                <a:solidFill>
                  <a:srgbClr val="E6E8F2"/>
                </a:solidFill>
                <a:latin typeface="Courier New"/>
              </a:rPr>
              <a:t>    return t4</a:t>
            </a:r>
          </a:p>
          <a:p>
            <a:pPr algn="l"/>
            <a:r>
              <a:rPr sz="1300" b="0" i="0">
                <a:solidFill>
                  <a:srgbClr val="F2A01B"/>
                </a:solidFill>
                <a:latin typeface="Courier New"/>
              </a:rPr>
              <a:t>  L2:</a:t>
            </a:r>
          </a:p>
          <a:p>
            <a:pPr algn="l"/>
            <a:r>
              <a:rPr sz="1300" b="0" i="0">
                <a:solidFill>
                  <a:srgbClr val="E6E8F2"/>
                </a:solidFill>
                <a:latin typeface="Courier New"/>
              </a:rPr>
              <a:t>    return false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691640"/>
            <a:ext cx="3566160" cy="1417320"/>
          </a:xfrm>
          <a:prstGeom prst="roundRect">
            <a:avLst>
              <a:gd name="adj" fmla="val 7741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F233B"/>
                </a:solidFill>
                <a:latin typeface="Arial"/>
              </a:rPr>
              <a:t>entry</a:t>
            </a:r>
          </a:p>
          <a:p>
            <a:pPr algn="ctr"/>
            <a:r>
              <a:rPr sz="1100">
                <a:solidFill>
                  <a:srgbClr val="5E6480"/>
                </a:solidFill>
                <a:latin typeface="Arial"/>
              </a:rPr>
              <a:t>raw = web_search · t1 = raw[0] · clean = sanitize · summary = llm · t3 = confirm · if t3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886200"/>
            <a:ext cx="2377440" cy="1051560"/>
          </a:xfrm>
          <a:prstGeom prst="roundRect">
            <a:avLst>
              <a:gd name="adj" fmla="val 10434"/>
            </a:avLst>
          </a:prstGeom>
          <a:solidFill>
            <a:srgbClr val="DFF4EA"/>
          </a:solidFill>
          <a:ln w="19050">
            <a:solidFill>
              <a:srgbClr val="1F9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F233B"/>
                </a:solidFill>
                <a:latin typeface="Arial"/>
              </a:rPr>
              <a:t>L1  (guard block)</a:t>
            </a:r>
          </a:p>
          <a:p>
            <a:pPr algn="ctr"/>
            <a:r>
              <a:rPr sz="1100">
                <a:solidFill>
                  <a:srgbClr val="5E6480"/>
                </a:solidFill>
                <a:latin typeface="Arial"/>
              </a:rPr>
              <a:t>t4 = send_email · return t4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3886200"/>
            <a:ext cx="2148840" cy="1051560"/>
          </a:xfrm>
          <a:prstGeom prst="roundRect">
            <a:avLst>
              <a:gd name="adj" fmla="val 10434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F233B"/>
                </a:solidFill>
                <a:latin typeface="Arial"/>
              </a:rPr>
              <a:t>L2</a:t>
            </a:r>
          </a:p>
          <a:p>
            <a:pPr algn="ctr"/>
            <a:r>
              <a:rPr sz="1100">
                <a:solidFill>
                  <a:srgbClr val="5E6480"/>
                </a:solidFill>
                <a:latin typeface="Arial"/>
              </a:rPr>
              <a:t>return false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7863840" y="3127248"/>
            <a:ext cx="640080" cy="731520"/>
          </a:xfrm>
          <a:prstGeom prst="line">
            <a:avLst/>
          </a:prstGeom>
          <a:ln w="25400">
            <a:solidFill>
              <a:srgbClr val="1F9D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966960" y="3127248"/>
            <a:ext cx="548640" cy="731520"/>
          </a:xfrm>
          <a:prstGeom prst="line">
            <a:avLst/>
          </a:prstGeom>
          <a:ln w="25400">
            <a:solidFill>
              <a:srgbClr val="D63E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863840" y="32918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9D6B"/>
                </a:solidFill>
                <a:latin typeface="Arial"/>
              </a:rPr>
              <a:t>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9880" y="32918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63E47"/>
                </a:solidFill>
                <a:latin typeface="Arial"/>
              </a:rPr>
              <a:t>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521208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E6480"/>
                </a:solidFill>
                <a:latin typeface="Arial"/>
              </a:rPr>
              <a:t>Temps t1..tn and labels L1..Ln are numbered per task; every block ends in exactly one jump, branch or return.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39935" y="64465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E6480"/>
                </a:solidFill>
                <a:latin typeface="Arial"/>
              </a:rPr>
              <a:t>AgentScript  · 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A01B"/>
                </a:solidFill>
                <a:latin typeface="Arial"/>
              </a:rPr>
              <a:t>HEADLINE FEATURE 1 · STAGE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33B"/>
                </a:solidFill>
                <a:latin typeface="Arial"/>
              </a:rPr>
              <a:t>Taint analysis catches the prompt injection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965960" cy="960120"/>
          </a:xfrm>
          <a:prstGeom prst="roundRect">
            <a:avLst>
              <a:gd name="adj" fmla="val 11428"/>
            </a:avLst>
          </a:prstGeom>
          <a:solidFill>
            <a:srgbClr val="FB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F233B"/>
                </a:solidFill>
                <a:latin typeface="Courier New"/>
              </a:rPr>
              <a:t>web_search(topic)</a:t>
            </a:r>
          </a:p>
          <a:p>
            <a:pPr algn="ctr"/>
            <a:r>
              <a:rPr sz="1100">
                <a:solidFill>
                  <a:srgbClr val="5E6480"/>
                </a:solidFill>
                <a:latin typeface="Arial"/>
              </a:rPr>
              <a:t>source: untrusted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32888" y="2167128"/>
            <a:ext cx="237744" cy="0"/>
          </a:xfrm>
          <a:prstGeom prst="line">
            <a:avLst/>
          </a:prstGeom>
          <a:ln w="25400">
            <a:solidFill>
              <a:srgbClr val="D63E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88920" y="1691640"/>
            <a:ext cx="1965960" cy="960120"/>
          </a:xfrm>
          <a:prstGeom prst="roundRect">
            <a:avLst>
              <a:gd name="adj" fmla="val 11428"/>
            </a:avLst>
          </a:prstGeom>
          <a:solidFill>
            <a:srgbClr val="FB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F233B"/>
                </a:solidFill>
                <a:latin typeface="Courier New"/>
              </a:rPr>
              <a:t>raw[0]</a:t>
            </a:r>
          </a:p>
          <a:p>
            <a:pPr algn="ctr"/>
            <a:r>
              <a:rPr sz="1100">
                <a:solidFill>
                  <a:srgbClr val="5E6480"/>
                </a:solidFill>
                <a:latin typeface="Arial"/>
              </a:rPr>
              <a:t>index keeps taint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73168" y="2167128"/>
            <a:ext cx="237744" cy="0"/>
          </a:xfrm>
          <a:prstGeom prst="line">
            <a:avLst/>
          </a:prstGeom>
          <a:ln w="25400">
            <a:solidFill>
              <a:srgbClr val="D63E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0" y="1691640"/>
            <a:ext cx="1965960" cy="960120"/>
          </a:xfrm>
          <a:prstGeom prst="roundRect">
            <a:avLst>
              <a:gd name="adj" fmla="val 11428"/>
            </a:avLst>
          </a:prstGeom>
          <a:solidFill>
            <a:srgbClr val="FB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F233B"/>
                </a:solidFill>
                <a:latin typeface="Courier New"/>
              </a:rPr>
              <a:t>"Summarize: " + ...</a:t>
            </a:r>
          </a:p>
          <a:p>
            <a:pPr algn="ctr"/>
            <a:r>
              <a:rPr sz="1100">
                <a:solidFill>
                  <a:srgbClr val="5E6480"/>
                </a:solidFill>
                <a:latin typeface="Arial"/>
              </a:rPr>
              <a:t>concat joins taint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013448" y="2167128"/>
            <a:ext cx="237744" cy="0"/>
          </a:xfrm>
          <a:prstGeom prst="line">
            <a:avLst/>
          </a:prstGeom>
          <a:ln w="25400">
            <a:solidFill>
              <a:srgbClr val="D63E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269480" y="1691640"/>
            <a:ext cx="1965960" cy="960120"/>
          </a:xfrm>
          <a:prstGeom prst="roundRect">
            <a:avLst>
              <a:gd name="adj" fmla="val 11428"/>
            </a:avLst>
          </a:prstGeom>
          <a:solidFill>
            <a:srgbClr val="FB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F233B"/>
                </a:solidFill>
                <a:latin typeface="Courier New"/>
              </a:rPr>
              <a:t>llm(...)</a:t>
            </a:r>
          </a:p>
          <a:p>
            <a:pPr algn="ctr"/>
            <a:r>
              <a:rPr sz="1100">
                <a:solidFill>
                  <a:srgbClr val="5E6480"/>
                </a:solidFill>
                <a:latin typeface="Arial"/>
              </a:rPr>
              <a:t>result inherits taint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253728" y="2167128"/>
            <a:ext cx="237744" cy="0"/>
          </a:xfrm>
          <a:prstGeom prst="line">
            <a:avLst/>
          </a:prstGeom>
          <a:ln w="25400">
            <a:solidFill>
              <a:srgbClr val="D63E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509760" y="1691640"/>
            <a:ext cx="1965960" cy="960120"/>
          </a:xfrm>
          <a:prstGeom prst="roundRect">
            <a:avLst>
              <a:gd name="adj" fmla="val 11428"/>
            </a:avLst>
          </a:prstGeom>
          <a:solidFill>
            <a:srgbClr val="D63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send_email(.., summary)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privileged sink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71800"/>
            <a:ext cx="11064240" cy="2331720"/>
          </a:xfrm>
          <a:prstGeom prst="roundRect">
            <a:avLst>
              <a:gd name="adj" fmla="val 4705"/>
            </a:avLst>
          </a:prstGeom>
          <a:solidFill>
            <a:srgbClr val="1C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310896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01B"/>
                </a:solidFill>
                <a:latin typeface="Arial"/>
              </a:rPr>
              <a:t>compile examples/taint_injection.as  (real output)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2900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9A9F"/>
                </a:solidFill>
                <a:latin typeface="Courier New"/>
              </a:rPr>
              <a:t>E401 [taint] 9:14: untrusted data from web_search (line 6) reaches</a:t>
            </a:r>
          </a:p>
          <a:p>
            <a:pPr algn="l"/>
            <a:r>
              <a:rPr sz="1200" b="0" i="0">
                <a:solidFill>
                  <a:srgbClr val="FF9A9F"/>
                </a:solidFill>
                <a:latin typeface="Courier New"/>
              </a:rPr>
              <a:t>  privileged tool 'send_email' (line 9), argument 2; pass it through sanitize first</a:t>
            </a:r>
          </a:p>
          <a:p>
            <a:pPr algn="l"/>
            <a:r>
              <a:rPr sz="1200" b="0" i="0">
                <a:solidFill>
                  <a:srgbClr val="E6E8F2"/>
                </a:solidFill>
                <a:latin typeface="Courier New"/>
              </a:rPr>
              <a:t>    6:15  raw = call web_search(topic)  &lt;- web_search returns untrusted data</a:t>
            </a:r>
          </a:p>
          <a:p>
            <a:pPr algn="l"/>
            <a:r>
              <a:rPr sz="1200" b="0" i="0">
                <a:solidFill>
                  <a:srgbClr val="E6E8F2"/>
                </a:solidFill>
                <a:latin typeface="Courier New"/>
              </a:rPr>
              <a:t>    7:42  t1 = raw[0]</a:t>
            </a:r>
          </a:p>
          <a:p>
            <a:pPr algn="l"/>
            <a:r>
              <a:rPr sz="1200" b="0" i="0">
                <a:solidFill>
                  <a:srgbClr val="E6E8F2"/>
                </a:solidFill>
                <a:latin typeface="Courier New"/>
              </a:rPr>
              <a:t>    7:37  t2 = "Summarize: " + t1</a:t>
            </a:r>
          </a:p>
          <a:p>
            <a:pPr algn="l"/>
            <a:r>
              <a:rPr sz="1200" b="0" i="0">
                <a:solidFill>
                  <a:srgbClr val="E6E8F2"/>
                </a:solidFill>
                <a:latin typeface="Courier New"/>
              </a:rPr>
              <a:t>    7:19  summary = call llm(t2)</a:t>
            </a:r>
          </a:p>
          <a:p>
            <a:pPr algn="l"/>
            <a:r>
              <a:rPr sz="1200" b="0" i="0">
                <a:solidFill>
                  <a:srgbClr val="E6E8F2"/>
                </a:solidFill>
                <a:latin typeface="Courier New"/>
              </a:rPr>
              <a:t>    9:14  t4 = call send_email("me@example.com", summary)  &lt;- privileged sink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8640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33B"/>
                </a:solidFill>
                <a:latin typeface="Arial"/>
              </a:rPr>
              <a:t>Rule: </a:t>
            </a:r>
            <a:r>
              <a:rPr sz="1400" b="0" i="0">
                <a:solidFill>
                  <a:srgbClr val="5E6480"/>
                </a:solidFill>
                <a:latin typeface="Arial"/>
              </a:rPr>
              <a:t>forward data-flow over the CFG to a fixed point; labels trusted &lt; untrusted; params and literals trusted; sanitize is the only way back to trusted. With sanitize(raw[0]) in place, valid_report.as compiles.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39935" y="64465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E6480"/>
                </a:solidFill>
                <a:latin typeface="Arial"/>
              </a:rPr>
              <a:t>AgentScript  · 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A01B"/>
                </a:solidFill>
                <a:latin typeface="Arial"/>
              </a:rPr>
              <a:t>HEADLINE FEATURE 2 · STAGE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33B"/>
                </a:solidFill>
                <a:latin typeface="Arial"/>
              </a:rPr>
              <a:t>Approval analysis: deletes need a dominating confirm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83080" y="1691640"/>
            <a:ext cx="2194560" cy="640080"/>
          </a:xfrm>
          <a:prstGeom prst="roundRect">
            <a:avLst>
              <a:gd name="adj" fmla="val 17142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F233B"/>
                </a:solidFill>
                <a:latin typeface="Arial"/>
              </a:rPr>
              <a:t>entry</a:t>
            </a:r>
          </a:p>
          <a:p>
            <a:pPr algn="ctr"/>
            <a:r>
              <a:rPr sz="1100">
                <a:solidFill>
                  <a:srgbClr val="5E6480"/>
                </a:solidFill>
                <a:latin typeface="Arial"/>
              </a:rPr>
              <a:t>if (force)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971800"/>
            <a:ext cx="2331720" cy="777240"/>
          </a:xfrm>
          <a:prstGeom prst="roundRect">
            <a:avLst>
              <a:gd name="adj" fmla="val 14117"/>
            </a:avLst>
          </a:prstGeom>
          <a:solidFill>
            <a:srgbClr val="FBE3E4"/>
          </a:solidFill>
          <a:ln w="19050">
            <a:solidFill>
              <a:srgbClr val="D63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F233B"/>
                </a:solidFill>
                <a:latin typeface="Courier New"/>
              </a:rPr>
              <a:t>L1: delete_file(path)</a:t>
            </a:r>
          </a:p>
          <a:p>
            <a:pPr algn="ctr"/>
            <a:r>
              <a:rPr sz="1100">
                <a:solidFill>
                  <a:srgbClr val="D63E47"/>
                </a:solidFill>
                <a:latin typeface="Arial"/>
              </a:rPr>
              <a:t>no confirm on this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2971800"/>
            <a:ext cx="2240280" cy="777240"/>
          </a:xfrm>
          <a:prstGeom prst="roundRect">
            <a:avLst>
              <a:gd name="adj" fmla="val 14117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F233B"/>
                </a:solidFill>
                <a:latin typeface="Courier New"/>
              </a:rPr>
              <a:t>if (confirm(...))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4251960"/>
            <a:ext cx="2240280" cy="777240"/>
          </a:xfrm>
          <a:prstGeom prst="roundRect">
            <a:avLst>
              <a:gd name="adj" fmla="val 14117"/>
            </a:avLst>
          </a:prstGeom>
          <a:solidFill>
            <a:srgbClr val="DFF4EA"/>
          </a:solidFill>
          <a:ln w="19050">
            <a:solidFill>
              <a:srgbClr val="1F9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F233B"/>
                </a:solidFill>
                <a:latin typeface="Courier New"/>
              </a:rPr>
              <a:t>guard: delete_file</a:t>
            </a:r>
          </a:p>
          <a:p>
            <a:pPr algn="ctr"/>
            <a:r>
              <a:rPr sz="1100">
                <a:solidFill>
                  <a:srgbClr val="1F9D6B"/>
                </a:solidFill>
                <a:latin typeface="Arial"/>
              </a:rPr>
              <a:t>dominated by the true edge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737360" y="2350008"/>
            <a:ext cx="640080" cy="594360"/>
          </a:xfrm>
          <a:prstGeom prst="line">
            <a:avLst/>
          </a:prstGeom>
          <a:ln w="25400">
            <a:solidFill>
              <a:srgbClr val="D63E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383280" y="2350008"/>
            <a:ext cx="731520" cy="594360"/>
          </a:xfrm>
          <a:prstGeom prst="line">
            <a:avLst/>
          </a:prstGeom>
          <a:ln w="25400">
            <a:solidFill>
              <a:srgbClr val="5E6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78808" y="3767328"/>
            <a:ext cx="0" cy="457200"/>
          </a:xfrm>
          <a:prstGeom prst="line">
            <a:avLst/>
          </a:prstGeom>
          <a:ln w="25400">
            <a:solidFill>
              <a:srgbClr val="1F9D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24688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63E47"/>
                </a:solidFill>
                <a:latin typeface="Arial"/>
              </a:rPr>
              <a:t>force =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8404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9D6B"/>
                </a:solidFill>
                <a:latin typeface="Arial"/>
              </a:rPr>
              <a:t>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1600200"/>
            <a:ext cx="5897880" cy="3520440"/>
          </a:xfrm>
          <a:prstGeom prst="roundRect">
            <a:avLst>
              <a:gd name="adj" fmla="val 3116"/>
            </a:avLst>
          </a:prstGeom>
          <a:solidFill>
            <a:srgbClr val="1C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43600" y="1737360"/>
            <a:ext cx="5440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01B"/>
                </a:solidFill>
                <a:latin typeface="Arial"/>
              </a:rPr>
              <a:t>approval_missing.as  /  approval_one_branch.as  (real output)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057400"/>
            <a:ext cx="544068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9A9F"/>
                </a:solidFill>
                <a:latin typeface="Courier New"/>
              </a:rPr>
              <a:t>E501 [approval] 7:14: irreversible call to 'delete_file' (line 7)</a:t>
            </a:r>
          </a:p>
          <a:p>
            <a:pPr algn="l"/>
            <a:r>
              <a:rPr sz="1100" b="0" i="0">
                <a:solidFill>
                  <a:srgbClr val="FF9A9F"/>
                </a:solidFill>
                <a:latin typeface="Courier New"/>
              </a:rPr>
              <a:t>  is reachable without confirm</a:t>
            </a:r>
          </a:p>
          <a:p>
            <a:pPr algn="l"/>
            <a:r>
              <a:rPr sz="1100" b="0" i="0">
                <a:solidFill>
                  <a:srgbClr val="E6E8F2"/>
                </a:solidFill>
                <a:latin typeface="Courier New"/>
              </a:rPr>
              <a:t>    6:5   task purge starts (entry)</a:t>
            </a:r>
          </a:p>
          <a:p>
            <a:pPr algn="l"/>
            <a:r>
              <a:rPr sz="1100" b="0" i="0">
                <a:solidFill>
                  <a:srgbClr val="E6E8F2"/>
                </a:solidFill>
                <a:latin typeface="Courier New"/>
              </a:rPr>
              <a:t>    6:5   line 6: if force -&gt; true (L1)</a:t>
            </a:r>
          </a:p>
          <a:p>
            <a:pPr algn="l"/>
            <a:r>
              <a:rPr sz="1100" b="0" i="0">
                <a:solidFill>
                  <a:srgbClr val="E6E8F2"/>
                </a:solidFill>
                <a:latin typeface="Courier New"/>
              </a:rPr>
              <a:t>    7:14  delete_file(...) is irreversible and not guarded</a:t>
            </a:r>
          </a:p>
          <a:p>
            <a:pPr algn="l"/>
            <a:r>
              <a:rPr sz="1100" b="0" i="0">
                <a:solidFill>
                  <a:srgbClr val="E6E8F2"/>
                </a:solidFill>
                <a:latin typeface="Courier New"/>
              </a:rPr>
              <a:t/>
            </a:r>
          </a:p>
          <a:p>
            <a:pPr algn="l"/>
            <a:r>
              <a:rPr sz="1100" b="0" i="0">
                <a:solidFill>
                  <a:srgbClr val="FF9A9F"/>
                </a:solidFill>
                <a:latin typeface="Courier New"/>
              </a:rPr>
              <a:t>E502 [approval] 9:12: ... not guarded by confirm on every</a:t>
            </a:r>
          </a:p>
          <a:p>
            <a:pPr algn="l"/>
            <a:r>
              <a:rPr sz="1100" b="0" i="0">
                <a:solidFill>
                  <a:srgbClr val="FF9A9F"/>
                </a:solidFill>
                <a:latin typeface="Courier New"/>
              </a:rPr>
              <a:t>  path; the confirm on line 7 does not guard it</a:t>
            </a:r>
          </a:p>
          <a:p>
            <a:pPr algn="l"/>
            <a:r>
              <a:rPr sz="1100" b="0" i="0">
                <a:solidFill>
                  <a:srgbClr val="E6E8F2"/>
                </a:solidFill>
                <a:latin typeface="Courier New"/>
              </a:rPr>
              <a:t>    6:5   line 6: if careful -&gt; false (L2)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33B"/>
                </a:solidFill>
                <a:latin typeface="Arial"/>
              </a:rPr>
              <a:t>Rule: </a:t>
            </a:r>
            <a:r>
              <a:rPr sz="1400" b="0" i="0">
                <a:solidFill>
                  <a:srgbClr val="5E6480"/>
                </a:solidFill>
                <a:latin typeface="Arial"/>
              </a:rPr>
              <a:t>a guard block is the true successor of a branch on a confirm value (if (confirm(..)) or let ok = confirm(..); if (ok)). Each irreversible call must sit in a block dominated by a guard. Dominators: simple iterative algorithm.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39935" y="64465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E6480"/>
                </a:solidFill>
                <a:latin typeface="Arial"/>
              </a:rPr>
              <a:t>AgentScript  · 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A01B"/>
                </a:solidFill>
                <a:latin typeface="Arial"/>
              </a:rPr>
              <a:t>STAGE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33B"/>
                </a:solidFill>
                <a:latin typeface="Arial"/>
              </a:rPr>
              <a:t>Optimizer: fewer instructions, fewer paid calls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2606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14172E"/>
                </a:solidFill>
                <a:latin typeface="Arial"/>
              </a:rPr>
              <a:t>14 →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5E6480"/>
                </a:solidFill>
                <a:latin typeface="Arial"/>
              </a:rPr>
              <a:t>IR instructions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9164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383280" y="1874519"/>
            <a:ext cx="2606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14172E"/>
                </a:solidFill>
                <a:latin typeface="Arial"/>
              </a:rPr>
              <a:t>4 →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83464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5E6480"/>
                </a:solidFill>
                <a:latin typeface="Arial"/>
              </a:rPr>
              <a:t>tool calls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94760"/>
            <a:ext cx="54406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000"/>
              </a:spcAft>
              <a:buChar char="•"/>
            </a:pPr>
            <a:r>
              <a:rPr sz="1400" b="1">
                <a:solidFill>
                  <a:srgbClr val="1F233B"/>
                </a:solidFill>
                <a:latin typeface="Arial"/>
              </a:rPr>
              <a:t>Constant folding </a:t>
            </a:r>
            <a:r>
              <a:rPr sz="1400" b="0">
                <a:solidFill>
                  <a:srgbClr val="1F233B"/>
                </a:solidFill>
                <a:latin typeface="Arial"/>
              </a:rPr>
              <a:t>with local propagation; a branch on a constant becomes a jump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400" b="1">
                <a:solidFill>
                  <a:srgbClr val="1F233B"/>
                </a:solidFill>
                <a:latin typeface="Arial"/>
              </a:rPr>
              <a:t>Dead code elimination: </a:t>
            </a:r>
            <a:r>
              <a:rPr sz="1400" b="0">
                <a:solidFill>
                  <a:srgbClr val="1F233B"/>
                </a:solidFill>
                <a:latin typeface="Arial"/>
              </a:rPr>
              <a:t>unreachable blocks and unused assignments (never a Call or Index)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400" b="1">
                <a:solidFill>
                  <a:srgbClr val="1F233B"/>
                </a:solidFill>
                <a:latin typeface="Arial"/>
              </a:rPr>
              <a:t>Duplicate tool-call elimination: </a:t>
            </a:r>
            <a:r>
              <a:rPr sz="1400" b="0">
                <a:solidFill>
                  <a:srgbClr val="1F233B"/>
                </a:solidFill>
                <a:latin typeface="Arial"/>
              </a:rPr>
              <a:t>same read-only tool, same arguments, same block, no call in between; never confirm, send_email or delete_file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600200"/>
            <a:ext cx="5303520" cy="4526280"/>
          </a:xfrm>
          <a:prstGeom prst="roundRect">
            <a:avLst>
              <a:gd name="adj" fmla="val 2424"/>
            </a:avLst>
          </a:prstGeom>
          <a:solidFill>
            <a:srgbClr val="1C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37960" y="17373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01B"/>
                </a:solidFill>
                <a:latin typeface="Arial"/>
              </a:rPr>
              <a:t>compile optimize_demo.as --phase optimized_ir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57400"/>
            <a:ext cx="484632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6E8F2"/>
                </a:solidFill>
                <a:latin typeface="Courier New"/>
              </a:rPr>
              <a:t>instructions 14 -&gt; 10, tool calls 4 -&gt; 2</a:t>
            </a:r>
          </a:p>
          <a:p>
            <a:pPr algn="l"/>
            <a:r>
              <a:rPr sz="1200" b="0" i="0">
                <a:solidFill>
                  <a:srgbClr val="E6E8F2"/>
                </a:solidFill>
                <a:latin typeface="Courier New"/>
              </a:rPr>
              <a:t>changes:</a:t>
            </a:r>
          </a:p>
          <a:p>
            <a:pPr algn="l"/>
            <a:r>
              <a:rPr sz="1200" b="0" i="0">
                <a:solidFill>
                  <a:srgbClr val="E6E8F2"/>
                </a:solidFill>
                <a:latin typeface="Courier New"/>
              </a:rPr>
              <a:t>  line 6: folded pages = 2 * 3 -&gt; 6</a:t>
            </a:r>
          </a:p>
          <a:p>
            <a:pPr algn="l"/>
            <a:r>
              <a:rPr sz="1200" b="0" i="0">
                <a:solidFill>
                  <a:srgbClr val="E6E8F2"/>
                </a:solidFill>
                <a:latin typeface="Courier New"/>
              </a:rPr>
              <a:t>  line 10: replaced debug with false</a:t>
            </a:r>
          </a:p>
          <a:p>
            <a:pPr algn="l"/>
            <a:r>
              <a:rPr sz="1200" b="0" i="0">
                <a:solidFill>
                  <a:srgbClr val="E6E8F2"/>
                </a:solidFill>
                <a:latin typeface="Courier New"/>
              </a:rPr>
              <a:t>  line 10: branch on false -&gt; goto L2</a:t>
            </a:r>
          </a:p>
          <a:p>
            <a:pPr algn="l"/>
            <a:r>
              <a:rPr sz="1200" b="0" i="0">
                <a:solidFill>
                  <a:srgbClr val="E6E8F2"/>
                </a:solidFill>
                <a:latin typeface="Courier New"/>
              </a:rPr>
              <a:t>  removed unreachable block L1 (line 11)</a:t>
            </a:r>
          </a:p>
          <a:p>
            <a:pPr algn="l"/>
            <a:r>
              <a:rPr sz="1200" b="0" i="0">
                <a:solidFill>
                  <a:srgbClr val="E6E8F2"/>
                </a:solidFill>
                <a:latin typeface="Courier New"/>
              </a:rPr>
              <a:t>  line 6: removed dead assignment pages = 6</a:t>
            </a:r>
          </a:p>
          <a:p>
            <a:pPr algn="l"/>
            <a:r>
              <a:rPr sz="1200" b="0" i="0">
                <a:solidFill>
                  <a:srgbClr val="E6E8F2"/>
                </a:solidFill>
                <a:latin typeface="Courier New"/>
              </a:rPr>
              <a:t>  line 9: removed dead assignment debug = false</a:t>
            </a:r>
          </a:p>
          <a:p>
            <a:pPr algn="l"/>
            <a:r>
              <a:rPr sz="1200" b="0" i="0">
                <a:solidFill>
                  <a:srgbClr val="F2A01B"/>
                </a:solidFill>
                <a:latin typeface="Courier New"/>
              </a:rPr>
              <a:t>  line 8: duplicate call web_search(topic)</a:t>
            </a:r>
          </a:p>
          <a:p>
            <a:pPr algn="l"/>
            <a:r>
              <a:rPr sz="1200" b="0" i="0">
                <a:solidFill>
                  <a:srgbClr val="F2A01B"/>
                </a:solidFill>
                <a:latin typeface="Courier New"/>
              </a:rPr>
              <a:t>          replaced by copy of first (line 7)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39935" y="64465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E6480"/>
                </a:solidFill>
                <a:latin typeface="Arial"/>
              </a:rPr>
              <a:t>AgentScript  · 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A01B"/>
                </a:solidFill>
                <a:latin typeface="Arial"/>
              </a:rPr>
              <a:t>STAGES 9 AND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33B"/>
                </a:solidFill>
                <a:latin typeface="Arial"/>
              </a:rPr>
              <a:t>Code generation and the stack VM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749039" cy="4526280"/>
          </a:xfrm>
          <a:prstGeom prst="roundRect">
            <a:avLst>
              <a:gd name="adj" fmla="val 2926"/>
            </a:avLst>
          </a:prstGeom>
          <a:solidFill>
            <a:srgbClr val="1C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01B"/>
                </a:solidFill>
                <a:latin typeface="Arial"/>
              </a:rPr>
              <a:t>--phase bytecode (valid_report)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3291839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8F2"/>
                </a:solidFill>
                <a:latin typeface="Courier New"/>
              </a:rPr>
              <a:t>   0  LOAD topic</a:t>
            </a:r>
          </a:p>
          <a:p>
            <a:pPr algn="l"/>
            <a:r>
              <a:rPr sz="1300" b="0" i="0">
                <a:solidFill>
                  <a:srgbClr val="E6E8F2"/>
                </a:solidFill>
                <a:latin typeface="Courier New"/>
              </a:rPr>
              <a:t>   1  CALL web_search 1</a:t>
            </a:r>
          </a:p>
          <a:p>
            <a:pPr algn="l"/>
            <a:r>
              <a:rPr sz="1300" b="0" i="0">
                <a:solidFill>
                  <a:srgbClr val="E6E8F2"/>
                </a:solidFill>
                <a:latin typeface="Courier New"/>
              </a:rPr>
              <a:t>   2  STORE raw</a:t>
            </a:r>
          </a:p>
          <a:p>
            <a:pPr algn="l"/>
            <a:r>
              <a:rPr sz="1300" b="0" i="0">
                <a:solidFill>
                  <a:srgbClr val="E6E8F2"/>
                </a:solidFill>
                <a:latin typeface="Courier New"/>
              </a:rPr>
              <a:t>   3  LOAD raw</a:t>
            </a:r>
          </a:p>
          <a:p>
            <a:pPr algn="l"/>
            <a:r>
              <a:rPr sz="1300" b="0" i="0">
                <a:solidFill>
                  <a:srgbClr val="E6E8F2"/>
                </a:solidFill>
                <a:latin typeface="Courier New"/>
              </a:rPr>
              <a:t>   4  PUSH_CONST 0</a:t>
            </a:r>
          </a:p>
          <a:p>
            <a:pPr algn="l"/>
            <a:r>
              <a:rPr sz="1300" b="0" i="0">
                <a:solidFill>
                  <a:srgbClr val="E6E8F2"/>
                </a:solidFill>
                <a:latin typeface="Courier New"/>
              </a:rPr>
              <a:t>   5  INDEX</a:t>
            </a:r>
          </a:p>
          <a:p>
            <a:pPr algn="l"/>
            <a:r>
              <a:rPr sz="1300" b="0" i="0">
                <a:solidFill>
                  <a:srgbClr val="E6E8F2"/>
                </a:solidFill>
                <a:latin typeface="Courier New"/>
              </a:rPr>
              <a:t>   6  STORE t1</a:t>
            </a:r>
          </a:p>
          <a:p>
            <a:pPr algn="l"/>
            <a:r>
              <a:rPr sz="1300" b="0" i="0">
                <a:solidFill>
                  <a:srgbClr val="E6E8F2"/>
                </a:solidFill>
                <a:latin typeface="Courier New"/>
              </a:rPr>
              <a:t>   7  LOAD t1</a:t>
            </a:r>
          </a:p>
          <a:p>
            <a:pPr algn="l"/>
            <a:r>
              <a:rPr sz="1300" b="0" i="0">
                <a:solidFill>
                  <a:srgbClr val="E6E8F2"/>
                </a:solidFill>
                <a:latin typeface="Courier New"/>
              </a:rPr>
              <a:t>   8  CALL sanitize 1</a:t>
            </a:r>
          </a:p>
          <a:p>
            <a:pPr algn="l"/>
            <a:r>
              <a:rPr sz="1300" b="0" i="0">
                <a:solidFill>
                  <a:srgbClr val="E6E8F2"/>
                </a:solidFill>
                <a:latin typeface="Courier New"/>
              </a:rPr>
              <a:t>   9  STORE clean</a:t>
            </a:r>
          </a:p>
          <a:p>
            <a:pPr algn="l"/>
            <a:r>
              <a:rPr sz="1300" b="0" i="0">
                <a:solidFill>
                  <a:srgbClr val="E6E8F2"/>
                </a:solidFill>
                <a:latin typeface="Courier New"/>
              </a:rPr>
              <a:t>  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600200"/>
            <a:ext cx="7086600" cy="2743200"/>
          </a:xfrm>
          <a:prstGeom prst="roundRect">
            <a:avLst>
              <a:gd name="adj" fmla="val 4000"/>
            </a:avLst>
          </a:prstGeom>
          <a:solidFill>
            <a:srgbClr val="1C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754880" y="173736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01B"/>
                </a:solidFill>
                <a:latin typeface="Arial"/>
              </a:rPr>
              <a:t>run valid_report.as --task report  (real call log, trimmed)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057400"/>
            <a:ext cx="6629400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6E8F2"/>
                </a:solidFill>
                <a:latin typeface="Courier New"/>
              </a:rPr>
              <a:t>calls: 5 of budget 5, rounds: 5</a:t>
            </a:r>
          </a:p>
          <a:p>
            <a:pPr algn="l"/>
            <a:r>
              <a:rPr sz="1200" b="0" i="0">
                <a:solidFill>
                  <a:srgbClr val="E6E8F2"/>
                </a:solidFill>
                <a:latin typeface="Courier New"/>
              </a:rPr>
              <a:t> #  line  tool        result</a:t>
            </a:r>
          </a:p>
          <a:p>
            <a:pPr algn="l"/>
            <a:r>
              <a:rPr sz="1200" b="0" i="0">
                <a:solidFill>
                  <a:srgbClr val="E6E8F2"/>
                </a:solidFill>
                <a:latin typeface="Courier New"/>
              </a:rPr>
              <a:t> 1     6  web_search  ["AI safety: IGNORE ALL ...</a:t>
            </a:r>
          </a:p>
          <a:p>
            <a:pPr algn="l"/>
            <a:r>
              <a:rPr sz="1200" b="0" i="0">
                <a:solidFill>
                  <a:srgbClr val="E6E8F2"/>
                </a:solidFill>
                <a:latin typeface="Courier New"/>
              </a:rPr>
              <a:t> 2     7  sanitize    "... [removed instruction] ...</a:t>
            </a:r>
          </a:p>
          <a:p>
            <a:pPr algn="l"/>
            <a:r>
              <a:rPr sz="1200" b="0" i="0">
                <a:solidFill>
                  <a:srgbClr val="E6E8F2"/>
                </a:solidFill>
                <a:latin typeface="Courier New"/>
              </a:rPr>
              <a:t> 3     8  llm         "[llm] Summarize: ...</a:t>
            </a:r>
          </a:p>
          <a:p>
            <a:pPr algn="l"/>
            <a:r>
              <a:rPr sz="1200" b="0" i="0">
                <a:solidFill>
                  <a:srgbClr val="E6E8F2"/>
                </a:solidFill>
                <a:latin typeface="Courier New"/>
              </a:rPr>
              <a:t> 4     9  confirm     true</a:t>
            </a:r>
          </a:p>
          <a:p>
            <a:pPr algn="l"/>
            <a:r>
              <a:rPr sz="1200" b="0" i="0">
                <a:solidFill>
                  <a:srgbClr val="E6E8F2"/>
                </a:solidFill>
                <a:latin typeface="Courier New"/>
              </a:rPr>
              <a:t> 5    10  send_email  true</a:t>
            </a:r>
          </a:p>
          <a:p>
            <a:pPr algn="l"/>
            <a:r>
              <a:rPr sz="1200" b="0" i="0">
                <a:solidFill>
                  <a:srgbClr val="8FE3BC"/>
                </a:solidFill>
                <a:latin typeface="Courier New"/>
              </a:rPr>
              <a:t>value: true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4526280"/>
            <a:ext cx="7086600" cy="960120"/>
          </a:xfrm>
          <a:prstGeom prst="roundRect">
            <a:avLst>
              <a:gd name="adj" fmla="val 11428"/>
            </a:avLst>
          </a:prstGeom>
          <a:solidFill>
            <a:srgbClr val="1C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754880" y="4690872"/>
            <a:ext cx="6629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9A9F"/>
                </a:solidFill>
                <a:latin typeface="Courier New"/>
              </a:rPr>
              <a:t>E601 [runtime] 7:15: budget exceeded: call 4 would</a:t>
            </a:r>
          </a:p>
          <a:p>
            <a:pPr algn="l"/>
            <a:r>
              <a:rPr sz="1200" b="0" i="0">
                <a:solidFill>
                  <a:srgbClr val="FF9A9F"/>
                </a:solidFill>
                <a:latin typeface="Courier New"/>
              </a:rPr>
              <a:t>  exceed the budget of 3 calls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5623560"/>
            <a:ext cx="7086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E6480"/>
                </a:solidFill>
                <a:latin typeface="Arial"/>
              </a:rPr>
              <a:t>runtime_budget.as: repeat times { web_search } compiles with warning W306, then the VM guard trips on call 4 when times = 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39935" y="64465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E6480"/>
                </a:solidFill>
                <a:latin typeface="Arial"/>
              </a:rPr>
              <a:t>AgentScript  · 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A01B"/>
                </a:solidFill>
                <a:latin typeface="Arial"/>
              </a:rPr>
              <a:t>STAGE 8 · STRETCH GOAL (BUILT)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33B"/>
                </a:solidFill>
                <a:latin typeface="Arial"/>
              </a:rPr>
              <a:t>Parallel scheduling: 3 independent calls, 1 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33B"/>
                </a:solidFill>
                <a:latin typeface="Arial"/>
              </a:rPr>
              <a:t>Before: 4 rounds (one call each)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4206240" cy="640080"/>
          </a:xfrm>
          <a:prstGeom prst="roundRect">
            <a:avLst>
              <a:gd name="adj" fmla="val 17142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>
                <a:solidFill>
                  <a:srgbClr val="1F233B"/>
                </a:solidFill>
                <a:latin typeface="Courier New"/>
              </a:rPr>
              <a:t>web_search(a)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51760" y="2743200"/>
            <a:ext cx="0" cy="228600"/>
          </a:xfrm>
          <a:prstGeom prst="line">
            <a:avLst/>
          </a:prstGeom>
          <a:ln w="22225">
            <a:solidFill>
              <a:srgbClr val="5E6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8640" y="2971800"/>
            <a:ext cx="4206240" cy="640080"/>
          </a:xfrm>
          <a:prstGeom prst="roundRect">
            <a:avLst>
              <a:gd name="adj" fmla="val 17142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>
                <a:solidFill>
                  <a:srgbClr val="1F233B"/>
                </a:solidFill>
                <a:latin typeface="Courier New"/>
              </a:rPr>
              <a:t>web_search(b)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51760" y="3611880"/>
            <a:ext cx="0" cy="228600"/>
          </a:xfrm>
          <a:prstGeom prst="line">
            <a:avLst/>
          </a:prstGeom>
          <a:ln w="22225">
            <a:solidFill>
              <a:srgbClr val="5E6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3840479"/>
            <a:ext cx="4206240" cy="640080"/>
          </a:xfrm>
          <a:prstGeom prst="roundRect">
            <a:avLst>
              <a:gd name="adj" fmla="val 17142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>
                <a:solidFill>
                  <a:srgbClr val="1F233B"/>
                </a:solidFill>
                <a:latin typeface="Courier New"/>
              </a:rPr>
              <a:t>web_search(c)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51760" y="4480560"/>
            <a:ext cx="0" cy="228600"/>
          </a:xfrm>
          <a:prstGeom prst="line">
            <a:avLst/>
          </a:prstGeom>
          <a:ln w="22225">
            <a:solidFill>
              <a:srgbClr val="5E6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48640" y="4709159"/>
            <a:ext cx="4206240" cy="640080"/>
          </a:xfrm>
          <a:prstGeom prst="roundRect">
            <a:avLst>
              <a:gd name="adj" fmla="val 17142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>
                <a:solidFill>
                  <a:srgbClr val="1F233B"/>
                </a:solidFill>
                <a:latin typeface="Courier New"/>
              </a:rPr>
              <a:t>llm(ra[1] + rb[1] + rc[1])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645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33B"/>
                </a:solidFill>
                <a:latin typeface="Arial"/>
              </a:rPr>
              <a:t>After: 2 rounds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103120"/>
            <a:ext cx="5760720" cy="1234440"/>
          </a:xfrm>
          <a:prstGeom prst="roundRect">
            <a:avLst>
              <a:gd name="adj" fmla="val 8888"/>
            </a:avLst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035040" y="2194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A01B"/>
                </a:solidFill>
                <a:latin typeface="Arial"/>
              </a:rPr>
              <a:t>round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514600"/>
            <a:ext cx="1691640" cy="64008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233B"/>
                </a:solidFill>
                <a:latin typeface="Courier New"/>
              </a:rPr>
              <a:t>web_search(a)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2514600"/>
            <a:ext cx="1691640" cy="64008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233B"/>
                </a:solidFill>
                <a:latin typeface="Courier New"/>
              </a:rPr>
              <a:t>web_search(b)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2514600"/>
            <a:ext cx="1691640" cy="64008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233B"/>
                </a:solidFill>
                <a:latin typeface="Courier New"/>
              </a:rPr>
              <a:t>web_search(c)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3703320"/>
            <a:ext cx="5760720" cy="1005840"/>
          </a:xfrm>
          <a:prstGeom prst="roundRect">
            <a:avLst>
              <a:gd name="adj" fmla="val 10909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035040" y="3794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E6480"/>
                </a:solidFill>
                <a:latin typeface="Arial"/>
              </a:rPr>
              <a:t>round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4069080"/>
            <a:ext cx="173736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233B"/>
                </a:solidFill>
                <a:latin typeface="Courier New"/>
              </a:rPr>
              <a:t>llm(...)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32520" y="3355848"/>
            <a:ext cx="0" cy="685800"/>
          </a:xfrm>
          <a:prstGeom prst="line">
            <a:avLst/>
          </a:prstGeom>
          <a:ln w="22225">
            <a:solidFill>
              <a:srgbClr val="5E6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852160" y="4892040"/>
            <a:ext cx="5760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233B"/>
                </a:solidFill>
                <a:latin typeface="Arial"/>
              </a:rPr>
              <a:t>Real output: </a:t>
            </a:r>
            <a:r>
              <a:rPr sz="1200" b="0" i="0">
                <a:solidFill>
                  <a:srgbClr val="5E6480"/>
                </a:solidFill>
                <a:latin typeface="Courier New"/>
              </a:rPr>
              <a:t>task scout: rounds 4 -&gt; 2;  round 1: ra = call web_search(a) | rb = call web_search(b) | rc = call web_search(c)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E6480"/>
                </a:solidFill>
                <a:latin typeface="Arial"/>
              </a:rPr>
              <a:t>Dependency graph per basic block; send_email, delete_file and confirm are barriers, so they are never reordered (L3).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39935" y="64465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E6480"/>
                </a:solidFill>
                <a:latin typeface="Arial"/>
              </a:rPr>
              <a:t>AgentScript  · 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A01B"/>
                </a:solidFill>
                <a:latin typeface="Arial"/>
              </a:rPr>
              <a:t>EDITOR AND DEMO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33B"/>
                </a:solidFill>
                <a:latin typeface="Arial"/>
              </a:rPr>
              <a:t>Web editor and API: one click runs every phase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011680" cy="1325880"/>
          </a:xfrm>
          <a:prstGeom prst="roundRect">
            <a:avLst>
              <a:gd name="adj" fmla="val 8275"/>
            </a:avLst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F233B"/>
                </a:solidFill>
                <a:latin typeface="Arial"/>
              </a:rPr>
              <a:t>Browser</a:t>
            </a:r>
          </a:p>
          <a:p>
            <a:pPr algn="ctr"/>
            <a:r>
              <a:rPr sz="1100">
                <a:solidFill>
                  <a:srgbClr val="5E6480"/>
                </a:solidFill>
                <a:latin typeface="Arial"/>
              </a:rPr>
              <a:t>CodeMirror editor, example picker, Compile / Run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78608" y="2395728"/>
            <a:ext cx="219456" cy="0"/>
          </a:xfrm>
          <a:prstGeom prst="line">
            <a:avLst/>
          </a:prstGeom>
          <a:ln w="22225">
            <a:solidFill>
              <a:srgbClr val="5E6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16352" y="1737360"/>
            <a:ext cx="2011680" cy="1325880"/>
          </a:xfrm>
          <a:prstGeom prst="roundRect">
            <a:avLst>
              <a:gd name="adj" fmla="val 8275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F233B"/>
                </a:solidFill>
                <a:latin typeface="Arial"/>
              </a:rPr>
              <a:t>POST /compile</a:t>
            </a:r>
          </a:p>
          <a:p>
            <a:pPr algn="ctr"/>
            <a:r>
              <a:rPr sz="1100">
                <a:solidFill>
                  <a:srgbClr val="5E6480"/>
                </a:solidFill>
                <a:latin typeface="Arial"/>
              </a:rPr>
              <a:t>FastAPI (api.py)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46320" y="2395728"/>
            <a:ext cx="219456" cy="0"/>
          </a:xfrm>
          <a:prstGeom prst="line">
            <a:avLst/>
          </a:prstGeom>
          <a:ln w="22225">
            <a:solidFill>
              <a:srgbClr val="5E6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84064" y="1737360"/>
            <a:ext cx="2011680" cy="1325880"/>
          </a:xfrm>
          <a:prstGeom prst="roundRect">
            <a:avLst>
              <a:gd name="adj" fmla="val 8275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F233B"/>
                </a:solidFill>
                <a:latin typeface="Arial"/>
              </a:rPr>
              <a:t>compile_source</a:t>
            </a:r>
          </a:p>
          <a:p>
            <a:pPr algn="ctr"/>
            <a:r>
              <a:rPr sz="1100">
                <a:solidFill>
                  <a:srgbClr val="5E6480"/>
                </a:solidFill>
                <a:latin typeface="Arial"/>
              </a:rPr>
              <a:t>10 stages, one artifact each {text, data}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14031" y="2395728"/>
            <a:ext cx="219457" cy="0"/>
          </a:xfrm>
          <a:prstGeom prst="line">
            <a:avLst/>
          </a:prstGeom>
          <a:ln w="22225">
            <a:solidFill>
              <a:srgbClr val="5E6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51775" y="1737360"/>
            <a:ext cx="2011680" cy="1325880"/>
          </a:xfrm>
          <a:prstGeom prst="roundRect">
            <a:avLst>
              <a:gd name="adj" fmla="val 8275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F233B"/>
                </a:solidFill>
                <a:latin typeface="Arial"/>
              </a:rPr>
              <a:t>JSON response</a:t>
            </a:r>
          </a:p>
          <a:p>
            <a:pPr algn="ctr"/>
            <a:r>
              <a:rPr sz="1100">
                <a:solidFill>
                  <a:srgbClr val="5E6480"/>
                </a:solidFill>
                <a:latin typeface="Arial"/>
              </a:rPr>
              <a:t>phases, diagnostics, stats, tasks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81744" y="2395728"/>
            <a:ext cx="219456" cy="0"/>
          </a:xfrm>
          <a:prstGeom prst="line">
            <a:avLst/>
          </a:prstGeom>
          <a:ln w="22225">
            <a:solidFill>
              <a:srgbClr val="5E6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19488" y="1737360"/>
            <a:ext cx="2011680" cy="1325880"/>
          </a:xfrm>
          <a:prstGeom prst="roundRect">
            <a:avLst>
              <a:gd name="adj" fmla="val 8275"/>
            </a:avLst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F233B"/>
                </a:solidFill>
                <a:latin typeface="Arial"/>
              </a:rPr>
              <a:t>Tabs + squiggles</a:t>
            </a:r>
          </a:p>
          <a:p>
            <a:pPr algn="ctr"/>
            <a:r>
              <a:rPr sz="1100">
                <a:solidFill>
                  <a:srgbClr val="5E6480"/>
                </a:solidFill>
                <a:latin typeface="Arial"/>
              </a:rPr>
              <a:t>errors underlined at line:col, CFG drawn with Mermaid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290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33B"/>
                </a:solidFill>
                <a:latin typeface="Arial"/>
              </a:rPr>
              <a:t>Phase tabs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40480"/>
            <a:ext cx="1691640" cy="411480"/>
          </a:xfrm>
          <a:prstGeom prst="roundRect">
            <a:avLst>
              <a:gd name="adj" fmla="val 18000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233B"/>
                </a:solidFill>
                <a:latin typeface="Arial"/>
              </a:rPr>
              <a:t>Errors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04872" y="3840480"/>
            <a:ext cx="1691640" cy="411480"/>
          </a:xfrm>
          <a:prstGeom prst="roundRect">
            <a:avLst>
              <a:gd name="adj" fmla="val 18000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233B"/>
                </a:solidFill>
                <a:latin typeface="Arial"/>
              </a:rPr>
              <a:t>Tokens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61103" y="3840480"/>
            <a:ext cx="1691640" cy="411480"/>
          </a:xfrm>
          <a:prstGeom prst="roundRect">
            <a:avLst>
              <a:gd name="adj" fmla="val 18000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233B"/>
                </a:solidFill>
                <a:latin typeface="Arial"/>
              </a:rPr>
              <a:t>AST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17336" y="3840480"/>
            <a:ext cx="1691640" cy="411480"/>
          </a:xfrm>
          <a:prstGeom prst="roundRect">
            <a:avLst>
              <a:gd name="adj" fmla="val 18000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233B"/>
                </a:solidFill>
                <a:latin typeface="Arial"/>
              </a:rPr>
              <a:t>Symbols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73567" y="3840480"/>
            <a:ext cx="1691640" cy="411480"/>
          </a:xfrm>
          <a:prstGeom prst="roundRect">
            <a:avLst>
              <a:gd name="adj" fmla="val 18000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233B"/>
                </a:solidFill>
                <a:latin typeface="Arial"/>
              </a:rPr>
              <a:t>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799" y="3840480"/>
            <a:ext cx="1691640" cy="411480"/>
          </a:xfrm>
          <a:prstGeom prst="roundRect">
            <a:avLst>
              <a:gd name="adj" fmla="val 18000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233B"/>
                </a:solidFill>
                <a:latin typeface="Arial"/>
              </a:rPr>
              <a:t>CFG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89120"/>
            <a:ext cx="1691640" cy="411480"/>
          </a:xfrm>
          <a:prstGeom prst="roundRect">
            <a:avLst>
              <a:gd name="adj" fmla="val 18000"/>
            </a:avLst>
          </a:prstGeom>
          <a:solidFill>
            <a:srgbClr val="14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Taint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04872" y="4389120"/>
            <a:ext cx="1691640" cy="411480"/>
          </a:xfrm>
          <a:prstGeom prst="roundRect">
            <a:avLst>
              <a:gd name="adj" fmla="val 18000"/>
            </a:avLst>
          </a:prstGeom>
          <a:solidFill>
            <a:srgbClr val="14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Approval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61103" y="4389120"/>
            <a:ext cx="1691640" cy="411480"/>
          </a:xfrm>
          <a:prstGeom prst="roundRect">
            <a:avLst>
              <a:gd name="adj" fmla="val 18000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233B"/>
                </a:solidFill>
                <a:latin typeface="Arial"/>
              </a:rPr>
              <a:t>Optimized IR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17336" y="4389120"/>
            <a:ext cx="1691640" cy="411480"/>
          </a:xfrm>
          <a:prstGeom prst="roundRect">
            <a:avLst>
              <a:gd name="adj" fmla="val 18000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233B"/>
                </a:solidFill>
                <a:latin typeface="Arial"/>
              </a:rPr>
              <a:t>Rounds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73567" y="4389120"/>
            <a:ext cx="1691640" cy="411480"/>
          </a:xfrm>
          <a:prstGeom prst="roundRect">
            <a:avLst>
              <a:gd name="adj" fmla="val 18000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233B"/>
                </a:solidFill>
                <a:latin typeface="Arial"/>
              </a:rPr>
              <a:t>Bytecode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799" y="4389120"/>
            <a:ext cx="1691640" cy="411480"/>
          </a:xfrm>
          <a:prstGeom prst="roundRect">
            <a:avLst>
              <a:gd name="adj" fmla="val 18000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F233B"/>
                </a:solidFill>
                <a:latin typeface="Arial"/>
              </a:rP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07492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600"/>
              </a:spcAft>
              <a:buChar char="•"/>
            </a:pPr>
            <a:r>
              <a:rPr sz="1400" b="0">
                <a:solidFill>
                  <a:srgbClr val="1F233B"/>
                </a:solidFill>
                <a:latin typeface="Arial"/>
              </a:rPr>
              <a:t>Pipeline strip colours each of the 10 stages pass / fail / warn; the failing stage shows its error code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400" b="0">
                <a:solidFill>
                  <a:srgbClr val="1F233B"/>
                </a:solidFill>
                <a:latin typeface="Arial"/>
              </a:rPr>
              <a:t>Run panel: task picker, JSON args, confirm approve/deny, live toggle (no API key needed: llm falls back to the mock)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39935" y="64465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E6480"/>
                </a:solidFill>
                <a:latin typeface="Arial"/>
              </a:rPr>
              <a:t>AgentScript  · 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A01B"/>
                </a:solidFill>
                <a:latin typeface="Arial"/>
              </a:rPr>
              <a:t>ERROR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33B"/>
                </a:solidFill>
                <a:latin typeface="Arial"/>
              </a:rPr>
              <a:t>Every phase catches its own mistakes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3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143000"/>
                <a:gridCol w="3520440"/>
                <a:gridCol w="3749039"/>
                <a:gridCol w="118872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Code</a:t>
                      </a:r>
                    </a:p>
                  </a:txBody>
                  <a:tcPr marL="73152" marR="73152" marT="27432" marB="27432" anchor="ctr">
                    <a:solidFill>
                      <a:srgbClr val="1417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 marL="73152" marR="73152" marT="27432" marB="27432" anchor="ctr">
                    <a:solidFill>
                      <a:srgbClr val="1417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Error</a:t>
                      </a:r>
                    </a:p>
                  </a:txBody>
                  <a:tcPr marL="73152" marR="73152" marT="27432" marB="27432" anchor="ctr">
                    <a:solidFill>
                      <a:srgbClr val="1417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Demo file</a:t>
                      </a:r>
                    </a:p>
                  </a:txBody>
                  <a:tcPr marL="73152" marR="73152" marT="27432" marB="27432" anchor="ctr">
                    <a:solidFill>
                      <a:srgbClr val="1417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Line:col</a:t>
                      </a:r>
                    </a:p>
                  </a:txBody>
                  <a:tcPr marL="73152" marR="73152" marT="27432" marB="27432" anchor="ctr">
                    <a:solidFill>
                      <a:srgbClr val="14172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Courier New"/>
                        </a:rPr>
                        <a:t>E101 / E102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Arial"/>
                        </a:rPr>
                        <a:t>lexer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Arial"/>
                        </a:rPr>
                        <a:t>unterminated string / illegal character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Courier New"/>
                        </a:rPr>
                        <a:t>lex_unterminated / lex_illegal_char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Courier New"/>
                        </a:rPr>
                        <a:t>6:13 / 6:15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Courier New"/>
                        </a:rPr>
                        <a:t>E201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Arial"/>
                        </a:rPr>
                        <a:t>parser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Arial"/>
                        </a:rPr>
                        <a:t>missing ';' or brace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Courier New"/>
                        </a:rPr>
                        <a:t>syntax_missing_semicolon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Courier New"/>
                        </a:rPr>
                        <a:t>6:30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Courier New"/>
                        </a:rPr>
                        <a:t>E301 / E302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Arial"/>
                        </a:rPr>
                        <a:t>semantic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Arial"/>
                        </a:rPr>
                        <a:t>undeclared / duplicate name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Courier New"/>
                        </a:rPr>
                        <a:t>sem_undeclared / sem_duplicate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Courier New"/>
                        </a:rPr>
                        <a:t>6:12 / 7:9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Courier New"/>
                        </a:rPr>
                        <a:t>E303 / E304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Arial"/>
                        </a:rPr>
                        <a:t>semantic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Arial"/>
                        </a:rPr>
                        <a:t>type mismatch / missing return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Courier New"/>
                        </a:rPr>
                        <a:t>sem_type_mismatch / sem_missing_return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Courier New"/>
                        </a:rPr>
                        <a:t>6:23 / 9:3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Courier New"/>
                        </a:rPr>
                        <a:t>E305 / E306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Arial"/>
                        </a:rPr>
                        <a:t>semantic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Arial"/>
                        </a:rPr>
                        <a:t>tool not permitted / budget exceeded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Courier New"/>
                        </a:rPr>
                        <a:t>sem_not_permitted / sem_budget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Courier New"/>
                        </a:rPr>
                        <a:t>6:16 / 9:12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D63E47"/>
                          </a:solidFill>
                          <a:latin typeface="Courier New"/>
                        </a:rPr>
                        <a:t>E401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Arial"/>
                        </a:rPr>
                        <a:t>taint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Arial"/>
                        </a:rPr>
                        <a:t>untrusted data reaches privileged tool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Courier New"/>
                        </a:rPr>
                        <a:t>taint_injection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Courier New"/>
                        </a:rPr>
                        <a:t>9:14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D63E47"/>
                          </a:solidFill>
                          <a:latin typeface="Courier New"/>
                        </a:rPr>
                        <a:t>E501 / E502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Arial"/>
                        </a:rPr>
                        <a:t>approval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Arial"/>
                        </a:rPr>
                        <a:t>no confirm / confirm on one branch only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Courier New"/>
                        </a:rPr>
                        <a:t>approval_missing / approval_one_branch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Courier New"/>
                        </a:rPr>
                        <a:t>7:14 / 9:12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Courier New"/>
                        </a:rPr>
                        <a:t>W306 + E601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Arial"/>
                        </a:rPr>
                        <a:t>runtime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Arial"/>
                        </a:rPr>
                        <a:t>runtime budget guard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Courier New"/>
                        </a:rPr>
                        <a:t>runtime_budget (times = 5)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Courier New"/>
                        </a:rPr>
                        <a:t>6:12 / 7:15</a:t>
                      </a:r>
                    </a:p>
                  </a:txBody>
                  <a:tcPr marL="73152" marR="73152" marT="27432" marB="27432" anchor="ctr">
                    <a:solidFill>
                      <a:srgbClr val="F4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Courier New"/>
                        </a:rPr>
                        <a:t>E603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Arial"/>
                        </a:rPr>
                        <a:t>runtime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Arial"/>
                        </a:rPr>
                        <a:t>index out of range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Courier New"/>
                        </a:rPr>
                        <a:t>runtime_index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3B"/>
                          </a:solidFill>
                          <a:latin typeface="Courier New"/>
                        </a:rPr>
                        <a:t>7:19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E6480"/>
                </a:solidFill>
                <a:latin typeface="Arial"/>
              </a:rPr>
              <a:t>Target was at least 8 distinct error types: 14 error codes have their own failing program (E602 and E604 are covered by tests).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39935" y="64465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E6480"/>
                </a:solidFill>
                <a:latin typeface="Arial"/>
              </a:rPr>
              <a:t>AgentScript  · 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A01B"/>
                </a:solidFill>
                <a:latin typeface="Arial"/>
              </a:rP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33B"/>
                </a:solidFill>
                <a:latin typeface="Arial"/>
              </a:rPr>
              <a:t>Results: every metric met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2331720" cy="1554480"/>
          </a:xfrm>
          <a:prstGeom prst="roundRect">
            <a:avLst>
              <a:gd name="adj" fmla="val 7058"/>
            </a:avLst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2331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14172E"/>
                </a:solidFill>
                <a:latin typeface="Arial"/>
              </a:rPr>
              <a:t>941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7919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E6480"/>
                </a:solidFill>
                <a:latin typeface="Arial"/>
              </a:rPr>
              <a:t>tests passing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691640"/>
            <a:ext cx="2331720" cy="1554480"/>
          </a:xfrm>
          <a:prstGeom prst="roundRect">
            <a:avLst>
              <a:gd name="adj" fmla="val 7058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063240" y="1874520"/>
            <a:ext cx="2331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14172E"/>
                </a:solidFill>
                <a:latin typeface="Arial"/>
              </a:rPr>
              <a:t>10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67919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E6480"/>
                </a:solidFill>
                <a:latin typeface="Arial"/>
              </a:rPr>
              <a:t>stages in the editor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29000"/>
            <a:ext cx="2331720" cy="1554480"/>
          </a:xfrm>
          <a:prstGeom prst="roundRect">
            <a:avLst>
              <a:gd name="adj" fmla="val 7058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2331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14172E"/>
                </a:solidFill>
                <a:latin typeface="Arial"/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1655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E6480"/>
                </a:solidFill>
                <a:latin typeface="Arial"/>
              </a:rPr>
              <a:t>error codes demoed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3429000"/>
            <a:ext cx="2331720" cy="1554480"/>
          </a:xfrm>
          <a:prstGeom prst="roundRect">
            <a:avLst>
              <a:gd name="adj" fmla="val 7058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63240" y="3611880"/>
            <a:ext cx="2331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14172E"/>
                </a:solidFill>
                <a:latin typeface="Arial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441655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E6480"/>
                </a:solidFill>
                <a:latin typeface="Arial"/>
              </a:rPr>
              <a:t>example programs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760720" y="1554480"/>
          <a:ext cx="585216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48640" y="521208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E6480"/>
                </a:solidFill>
                <a:latin typeface="Arial"/>
              </a:rPr>
              <a:t>Unit tests per phase · golden output for every example · one negative test per error row · optimizer before/after counts · API and CLI end to end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39935" y="64465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E6480"/>
                </a:solidFill>
                <a:latin typeface="Arial"/>
              </a:rPr>
              <a:t>AgentScript  · 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A01B"/>
                </a:solidFill>
                <a:latin typeface="Arial"/>
              </a:rPr>
              <a:t>DESIGN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33B"/>
                </a:solidFill>
                <a:latin typeface="Arial"/>
              </a:rPr>
              <a:t>Limitations, stated openly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22959" y="1965960"/>
            <a:ext cx="502920" cy="502920"/>
          </a:xfrm>
          <a:prstGeom prst="ellipse">
            <a:avLst/>
          </a:prstGeom>
          <a:solidFill>
            <a:srgbClr val="23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020824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33B"/>
                </a:solidFill>
                <a:latin typeface="Arial"/>
              </a:rPr>
              <a:t>Taint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06040"/>
            <a:ext cx="48920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E6480"/>
                </a:solidFill>
                <a:latin typeface="Arial"/>
              </a:rPr>
              <a:t>Explicit flows only (no implicit flow through if); one label per list; parameters are trusted; the LLM may launder text, so llm output stays tainted until sanitize.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446520" y="1965960"/>
            <a:ext cx="502920" cy="502920"/>
          </a:xfrm>
          <a:prstGeom prst="ellipse">
            <a:avLst/>
          </a:prstGeom>
          <a:solidFill>
            <a:srgbClr val="23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020824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33B"/>
                </a:solidFill>
                <a:latin typeface="Arial"/>
              </a:rPr>
              <a:t>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606040"/>
            <a:ext cx="48920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E6480"/>
                </a:solidFill>
                <a:latin typeface="Arial"/>
              </a:rPr>
              <a:t>One confirm must dominate the call: two confirms on two branches before a join are rejected; confirm(..) == true is not accepted.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22959" y="4114800"/>
            <a:ext cx="502920" cy="502920"/>
          </a:xfrm>
          <a:prstGeom prst="ellipse">
            <a:avLst/>
          </a:prstGeom>
          <a:solidFill>
            <a:srgbClr val="23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169664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33B"/>
                </a:solidFill>
                <a:latin typeface="Arial"/>
              </a:rPr>
              <a:t>Budget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754880"/>
            <a:ext cx="48920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E6480"/>
                </a:solidFill>
                <a:latin typeface="Arial"/>
              </a:rPr>
              <a:t>Exact for literal loop bounds; repeat over a variable gives warning W306 and is enforced by the VM.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8404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446520" y="4114800"/>
            <a:ext cx="502920" cy="502920"/>
          </a:xfrm>
          <a:prstGeom prst="ellipse">
            <a:avLst/>
          </a:prstGeom>
          <a:solidFill>
            <a:srgbClr val="23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169664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33B"/>
                </a:solidFill>
                <a:latin typeface="Arial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754880"/>
            <a:ext cx="48920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E6480"/>
                </a:solidFill>
                <a:latin typeface="Arial"/>
              </a:rPr>
              <a:t>No error recovery (first syntax error only); mock tools by default; sanitize is trusted by definition.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A01B"/>
                </a:solidFill>
                <a:latin typeface="Arial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Run it yourself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48840"/>
            <a:ext cx="6766560" cy="1600200"/>
          </a:xfrm>
          <a:prstGeom prst="roundRect">
            <a:avLst>
              <a:gd name="adj" fmla="val 6857"/>
            </a:avLst>
          </a:prstGeom>
          <a:solidFill>
            <a:srgbClr val="1C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2313432"/>
            <a:ext cx="630936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6E8F2"/>
                </a:solidFill>
                <a:latin typeface="Courier New"/>
              </a:rPr>
              <a:t>$ python -m venv .venv</a:t>
            </a:r>
          </a:p>
          <a:p>
            <a:pPr algn="l"/>
            <a:r>
              <a:rPr sz="1400" b="0" i="0">
                <a:solidFill>
                  <a:srgbClr val="E6E8F2"/>
                </a:solidFill>
                <a:latin typeface="Courier New"/>
              </a:rPr>
              <a:t>$ .venv/bin/pip install -r requirements.txt</a:t>
            </a:r>
          </a:p>
          <a:p>
            <a:pPr algn="l"/>
            <a:r>
              <a:rPr sz="1400" b="0" i="0">
                <a:solidFill>
                  <a:srgbClr val="8FE3BC"/>
                </a:solidFill>
                <a:latin typeface="Courier New"/>
              </a:rPr>
              <a:t>$ .venv/bin/pytest -q          # 941 passed</a:t>
            </a:r>
          </a:p>
          <a:p>
            <a:pPr algn="l"/>
            <a:r>
              <a:rPr sz="1400" b="0" i="0">
                <a:solidFill>
                  <a:srgbClr val="F2A01B"/>
                </a:solidFill>
                <a:latin typeface="Courier New"/>
              </a:rPr>
              <a:t>$ .venv/bin/python -m agentscript serve --port 8000</a:t>
            </a:r>
          </a:p>
          <a:p>
            <a:pPr algn="l"/>
            <a:r>
              <a:rPr sz="1400" b="0" i="0">
                <a:solidFill>
                  <a:srgbClr val="E6E8F2"/>
                </a:solidFill>
                <a:latin typeface="Courier New"/>
              </a:rPr>
              <a:t>  open http://127.0.0.1:8000</a:t>
            </a:r>
          </a:p>
        </p:txBody>
      </p:sp>
      <p:sp>
        <p:nvSpPr>
          <p:cNvPr id="6" name="Oval 5"/>
          <p:cNvSpPr/>
          <p:nvPr/>
        </p:nvSpPr>
        <p:spPr>
          <a:xfrm>
            <a:off x="8138160" y="1188720"/>
            <a:ext cx="438912" cy="438912"/>
          </a:xfrm>
          <a:prstGeom prst="ellipse">
            <a:avLst/>
          </a:prstGeom>
          <a:solidFill>
            <a:srgbClr val="F2A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72E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26187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valid_report.as: run, 5 of 5 calls</a:t>
            </a:r>
          </a:p>
        </p:txBody>
      </p:sp>
      <p:sp>
        <p:nvSpPr>
          <p:cNvPr id="8" name="Oval 7"/>
          <p:cNvSpPr/>
          <p:nvPr/>
        </p:nvSpPr>
        <p:spPr>
          <a:xfrm>
            <a:off x="8138160" y="1847088"/>
            <a:ext cx="438912" cy="438912"/>
          </a:xfrm>
          <a:prstGeom prst="ellipse">
            <a:avLst/>
          </a:prstGeom>
          <a:solidFill>
            <a:srgbClr val="F2A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72E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19202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front-end errors: lex, syntax, semantic</a:t>
            </a:r>
          </a:p>
        </p:txBody>
      </p:sp>
      <p:sp>
        <p:nvSpPr>
          <p:cNvPr id="10" name="Oval 9"/>
          <p:cNvSpPr/>
          <p:nvPr/>
        </p:nvSpPr>
        <p:spPr>
          <a:xfrm>
            <a:off x="8138160" y="2505456"/>
            <a:ext cx="438912" cy="438912"/>
          </a:xfrm>
          <a:prstGeom prst="ellipse">
            <a:avLst/>
          </a:prstGeom>
          <a:solidFill>
            <a:srgbClr val="F2A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72E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7860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taint_injection.as: E401 with path</a:t>
            </a:r>
          </a:p>
        </p:txBody>
      </p:sp>
      <p:sp>
        <p:nvSpPr>
          <p:cNvPr id="12" name="Oval 11"/>
          <p:cNvSpPr/>
          <p:nvPr/>
        </p:nvSpPr>
        <p:spPr>
          <a:xfrm>
            <a:off x="8138160" y="3163824"/>
            <a:ext cx="438912" cy="438912"/>
          </a:xfrm>
          <a:prstGeom prst="ellipse">
            <a:avLst/>
          </a:prstGeom>
          <a:solidFill>
            <a:srgbClr val="F2A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72E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323697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approval examples: E501, E502</a:t>
            </a:r>
          </a:p>
        </p:txBody>
      </p:sp>
      <p:sp>
        <p:nvSpPr>
          <p:cNvPr id="14" name="Oval 13"/>
          <p:cNvSpPr/>
          <p:nvPr/>
        </p:nvSpPr>
        <p:spPr>
          <a:xfrm>
            <a:off x="8138160" y="3822191"/>
            <a:ext cx="438912" cy="438912"/>
          </a:xfrm>
          <a:prstGeom prst="ellipse">
            <a:avLst/>
          </a:prstGeom>
          <a:solidFill>
            <a:srgbClr val="F2A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72E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389534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optimize_demo.as: calls 4 -&gt; 2</a:t>
            </a:r>
          </a:p>
        </p:txBody>
      </p:sp>
      <p:sp>
        <p:nvSpPr>
          <p:cNvPr id="16" name="Oval 15"/>
          <p:cNvSpPr/>
          <p:nvPr/>
        </p:nvSpPr>
        <p:spPr>
          <a:xfrm>
            <a:off x="8138160" y="4480559"/>
            <a:ext cx="438912" cy="438912"/>
          </a:xfrm>
          <a:prstGeom prst="ellipse">
            <a:avLst/>
          </a:prstGeom>
          <a:solidFill>
            <a:srgbClr val="F2A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72E"/>
                </a:solidFill>
                <a:latin typeface="Arial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455371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parallel_demo.as: rounds 4 -&gt;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AA0C0"/>
                </a:solidFill>
                <a:latin typeface="Arial"/>
              </a:rPr>
              <a:t>Docs: docs/README.md  ·  PRD: docs/PRD.md  ·  How it works: docs/how-it-works/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Thank you  ·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